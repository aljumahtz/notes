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27" r:id="rId2"/>
    <p:sldId id="328" r:id="rId3"/>
    <p:sldId id="329" r:id="rId4"/>
    <p:sldId id="330" r:id="rId5"/>
    <p:sldId id="331" r:id="rId6"/>
    <p:sldId id="263" r:id="rId7"/>
    <p:sldId id="256" r:id="rId8"/>
    <p:sldId id="264" r:id="rId9"/>
    <p:sldId id="266" r:id="rId10"/>
    <p:sldId id="267" r:id="rId11"/>
    <p:sldId id="268" r:id="rId12"/>
    <p:sldId id="269" r:id="rId13"/>
    <p:sldId id="275" r:id="rId14"/>
    <p:sldId id="277" r:id="rId15"/>
    <p:sldId id="278" r:id="rId16"/>
    <p:sldId id="276" r:id="rId17"/>
    <p:sldId id="257" r:id="rId18"/>
    <p:sldId id="279" r:id="rId19"/>
    <p:sldId id="284" r:id="rId20"/>
    <p:sldId id="282" r:id="rId21"/>
    <p:sldId id="283" r:id="rId22"/>
    <p:sldId id="285" r:id="rId23"/>
    <p:sldId id="286" r:id="rId24"/>
    <p:sldId id="287" r:id="rId25"/>
    <p:sldId id="288" r:id="rId26"/>
    <p:sldId id="280" r:id="rId27"/>
    <p:sldId id="289" r:id="rId28"/>
    <p:sldId id="290" r:id="rId29"/>
    <p:sldId id="291" r:id="rId30"/>
    <p:sldId id="293" r:id="rId31"/>
    <p:sldId id="292" r:id="rId32"/>
    <p:sldId id="294" r:id="rId33"/>
    <p:sldId id="295" r:id="rId34"/>
    <p:sldId id="296" r:id="rId35"/>
    <p:sldId id="297" r:id="rId36"/>
    <p:sldId id="298" r:id="rId37"/>
    <p:sldId id="299" r:id="rId38"/>
    <p:sldId id="300" r:id="rId39"/>
    <p:sldId id="281" r:id="rId40"/>
    <p:sldId id="302" r:id="rId41"/>
    <p:sldId id="301" r:id="rId42"/>
    <p:sldId id="303" r:id="rId43"/>
    <p:sldId id="304" r:id="rId44"/>
    <p:sldId id="270" r:id="rId45"/>
    <p:sldId id="272" r:id="rId46"/>
    <p:sldId id="271" r:id="rId47"/>
    <p:sldId id="273" r:id="rId48"/>
    <p:sldId id="305" r:id="rId49"/>
    <p:sldId id="306" r:id="rId50"/>
    <p:sldId id="307" r:id="rId51"/>
    <p:sldId id="311" r:id="rId52"/>
    <p:sldId id="312" r:id="rId53"/>
    <p:sldId id="313" r:id="rId54"/>
    <p:sldId id="308" r:id="rId55"/>
    <p:sldId id="314" r:id="rId56"/>
    <p:sldId id="309" r:id="rId57"/>
    <p:sldId id="315" r:id="rId58"/>
    <p:sldId id="316" r:id="rId59"/>
    <p:sldId id="317" r:id="rId60"/>
    <p:sldId id="318" r:id="rId61"/>
    <p:sldId id="319" r:id="rId62"/>
    <p:sldId id="320" r:id="rId63"/>
    <p:sldId id="321" r:id="rId64"/>
    <p:sldId id="322" r:id="rId65"/>
    <p:sldId id="323" r:id="rId66"/>
    <p:sldId id="324" r:id="rId67"/>
    <p:sldId id="325" r:id="rId68"/>
    <p:sldId id="326"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ta structure and alogaritms" id="{A02A465E-0703-42A9-ABDC-7C9336BE62B3}">
          <p14:sldIdLst>
            <p14:sldId id="327"/>
            <p14:sldId id="328"/>
            <p14:sldId id="329"/>
            <p14:sldId id="330"/>
            <p14:sldId id="331"/>
            <p14:sldId id="263"/>
            <p14:sldId id="256"/>
            <p14:sldId id="264"/>
            <p14:sldId id="266"/>
            <p14:sldId id="267"/>
            <p14:sldId id="268"/>
            <p14:sldId id="269"/>
            <p14:sldId id="275"/>
            <p14:sldId id="277"/>
            <p14:sldId id="278"/>
            <p14:sldId id="276"/>
            <p14:sldId id="257"/>
            <p14:sldId id="279"/>
            <p14:sldId id="284"/>
            <p14:sldId id="282"/>
            <p14:sldId id="283"/>
            <p14:sldId id="285"/>
            <p14:sldId id="286"/>
            <p14:sldId id="287"/>
            <p14:sldId id="288"/>
            <p14:sldId id="280"/>
            <p14:sldId id="289"/>
            <p14:sldId id="290"/>
            <p14:sldId id="291"/>
            <p14:sldId id="293"/>
            <p14:sldId id="292"/>
            <p14:sldId id="294"/>
            <p14:sldId id="295"/>
            <p14:sldId id="296"/>
            <p14:sldId id="297"/>
            <p14:sldId id="298"/>
            <p14:sldId id="299"/>
            <p14:sldId id="300"/>
            <p14:sldId id="281"/>
            <p14:sldId id="302"/>
            <p14:sldId id="301"/>
            <p14:sldId id="303"/>
            <p14:sldId id="304"/>
            <p14:sldId id="270"/>
            <p14:sldId id="272"/>
            <p14:sldId id="271"/>
            <p14:sldId id="273"/>
            <p14:sldId id="305"/>
            <p14:sldId id="306"/>
            <p14:sldId id="307"/>
            <p14:sldId id="311"/>
            <p14:sldId id="312"/>
            <p14:sldId id="313"/>
            <p14:sldId id="308"/>
            <p14:sldId id="314"/>
            <p14:sldId id="309"/>
            <p14:sldId id="315"/>
            <p14:sldId id="316"/>
            <p14:sldId id="317"/>
            <p14:sldId id="318"/>
            <p14:sldId id="319"/>
            <p14:sldId id="320"/>
            <p14:sldId id="321"/>
            <p14:sldId id="322"/>
            <p14:sldId id="323"/>
            <p14:sldId id="324"/>
            <p14:sldId id="325"/>
            <p14:sldId id="32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55" autoAdjust="0"/>
    <p:restoredTop sz="94660"/>
  </p:normalViewPr>
  <p:slideViewPr>
    <p:cSldViewPr snapToGrid="0">
      <p:cViewPr varScale="1">
        <p:scale>
          <a:sx n="68" d="100"/>
          <a:sy n="68" d="100"/>
        </p:scale>
        <p:origin x="82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3F552-04F2-8136-25A1-CE0991D3B4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32240F6-F29F-EA52-688B-7CEBD179D05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9A3EB8-1C5F-E3D0-898F-C5B42112F041}"/>
              </a:ext>
            </a:extLst>
          </p:cNvPr>
          <p:cNvSpPr>
            <a:spLocks noGrp="1"/>
          </p:cNvSpPr>
          <p:nvPr>
            <p:ph type="dt" sz="half" idx="10"/>
          </p:nvPr>
        </p:nvSpPr>
        <p:spPr/>
        <p:txBody>
          <a:bodyPr/>
          <a:lstStyle/>
          <a:p>
            <a:fld id="{16DB7464-752F-401F-A2FD-373BFBECD593}" type="datetimeFigureOut">
              <a:rPr lang="en-US" smtClean="0"/>
              <a:t>12/16/2025</a:t>
            </a:fld>
            <a:endParaRPr lang="en-US"/>
          </a:p>
        </p:txBody>
      </p:sp>
      <p:sp>
        <p:nvSpPr>
          <p:cNvPr id="5" name="Footer Placeholder 4">
            <a:extLst>
              <a:ext uri="{FF2B5EF4-FFF2-40B4-BE49-F238E27FC236}">
                <a16:creationId xmlns:a16="http://schemas.microsoft.com/office/drawing/2014/main" id="{D45BCD5B-37AF-11D5-C205-78E03B3B38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6DA2B5-6325-D8F7-EEAB-31BE7C39C032}"/>
              </a:ext>
            </a:extLst>
          </p:cNvPr>
          <p:cNvSpPr>
            <a:spLocks noGrp="1"/>
          </p:cNvSpPr>
          <p:nvPr>
            <p:ph type="sldNum" sz="quarter" idx="12"/>
          </p:nvPr>
        </p:nvSpPr>
        <p:spPr/>
        <p:txBody>
          <a:bodyPr/>
          <a:lstStyle/>
          <a:p>
            <a:fld id="{69065CBF-84F7-4B7D-9070-9C04ACA330DE}" type="slidenum">
              <a:rPr lang="en-US" smtClean="0"/>
              <a:t>‹#›</a:t>
            </a:fld>
            <a:endParaRPr lang="en-US"/>
          </a:p>
        </p:txBody>
      </p:sp>
    </p:spTree>
    <p:extLst>
      <p:ext uri="{BB962C8B-B14F-4D97-AF65-F5344CB8AC3E}">
        <p14:creationId xmlns:p14="http://schemas.microsoft.com/office/powerpoint/2010/main" val="1876786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AC908-B57E-9F88-5652-B4AF0D5546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575E9E-473E-E48D-960A-AAE499CBF8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D45935-E7E2-8DAA-53FD-242B42876F5A}"/>
              </a:ext>
            </a:extLst>
          </p:cNvPr>
          <p:cNvSpPr>
            <a:spLocks noGrp="1"/>
          </p:cNvSpPr>
          <p:nvPr>
            <p:ph type="dt" sz="half" idx="10"/>
          </p:nvPr>
        </p:nvSpPr>
        <p:spPr/>
        <p:txBody>
          <a:bodyPr/>
          <a:lstStyle/>
          <a:p>
            <a:fld id="{16DB7464-752F-401F-A2FD-373BFBECD593}" type="datetimeFigureOut">
              <a:rPr lang="en-US" smtClean="0"/>
              <a:t>12/16/2025</a:t>
            </a:fld>
            <a:endParaRPr lang="en-US"/>
          </a:p>
        </p:txBody>
      </p:sp>
      <p:sp>
        <p:nvSpPr>
          <p:cNvPr id="5" name="Footer Placeholder 4">
            <a:extLst>
              <a:ext uri="{FF2B5EF4-FFF2-40B4-BE49-F238E27FC236}">
                <a16:creationId xmlns:a16="http://schemas.microsoft.com/office/drawing/2014/main" id="{2FFAC03C-87C2-DC9D-C317-6E5A129F69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15480B-BE22-958B-BD1A-30D011089970}"/>
              </a:ext>
            </a:extLst>
          </p:cNvPr>
          <p:cNvSpPr>
            <a:spLocks noGrp="1"/>
          </p:cNvSpPr>
          <p:nvPr>
            <p:ph type="sldNum" sz="quarter" idx="12"/>
          </p:nvPr>
        </p:nvSpPr>
        <p:spPr/>
        <p:txBody>
          <a:bodyPr/>
          <a:lstStyle/>
          <a:p>
            <a:fld id="{69065CBF-84F7-4B7D-9070-9C04ACA330DE}" type="slidenum">
              <a:rPr lang="en-US" smtClean="0"/>
              <a:t>‹#›</a:t>
            </a:fld>
            <a:endParaRPr lang="en-US"/>
          </a:p>
        </p:txBody>
      </p:sp>
    </p:spTree>
    <p:extLst>
      <p:ext uri="{BB962C8B-B14F-4D97-AF65-F5344CB8AC3E}">
        <p14:creationId xmlns:p14="http://schemas.microsoft.com/office/powerpoint/2010/main" val="34591744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57E92-D2E5-F49E-7197-F4606337132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5DAA837-6034-A152-9092-BDF471AFAE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C01DE1-6D0F-666B-CFEC-2B6C4BCBD12E}"/>
              </a:ext>
            </a:extLst>
          </p:cNvPr>
          <p:cNvSpPr>
            <a:spLocks noGrp="1"/>
          </p:cNvSpPr>
          <p:nvPr>
            <p:ph type="dt" sz="half" idx="10"/>
          </p:nvPr>
        </p:nvSpPr>
        <p:spPr/>
        <p:txBody>
          <a:bodyPr/>
          <a:lstStyle/>
          <a:p>
            <a:fld id="{16DB7464-752F-401F-A2FD-373BFBECD593}" type="datetimeFigureOut">
              <a:rPr lang="en-US" smtClean="0"/>
              <a:t>12/16/2025</a:t>
            </a:fld>
            <a:endParaRPr lang="en-US"/>
          </a:p>
        </p:txBody>
      </p:sp>
      <p:sp>
        <p:nvSpPr>
          <p:cNvPr id="5" name="Footer Placeholder 4">
            <a:extLst>
              <a:ext uri="{FF2B5EF4-FFF2-40B4-BE49-F238E27FC236}">
                <a16:creationId xmlns:a16="http://schemas.microsoft.com/office/drawing/2014/main" id="{0B1AD99D-B2DC-F642-7C5F-32FB5E3B8C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6C4FBA-C7F7-B9C2-E070-DE0D9E2091FC}"/>
              </a:ext>
            </a:extLst>
          </p:cNvPr>
          <p:cNvSpPr>
            <a:spLocks noGrp="1"/>
          </p:cNvSpPr>
          <p:nvPr>
            <p:ph type="sldNum" sz="quarter" idx="12"/>
          </p:nvPr>
        </p:nvSpPr>
        <p:spPr/>
        <p:txBody>
          <a:bodyPr/>
          <a:lstStyle/>
          <a:p>
            <a:fld id="{69065CBF-84F7-4B7D-9070-9C04ACA330DE}" type="slidenum">
              <a:rPr lang="en-US" smtClean="0"/>
              <a:t>‹#›</a:t>
            </a:fld>
            <a:endParaRPr lang="en-US"/>
          </a:p>
        </p:txBody>
      </p:sp>
    </p:spTree>
    <p:extLst>
      <p:ext uri="{BB962C8B-B14F-4D97-AF65-F5344CB8AC3E}">
        <p14:creationId xmlns:p14="http://schemas.microsoft.com/office/powerpoint/2010/main" val="3598679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64D34-BF62-BC93-D68E-A06E62F9F7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171A433-DF63-858E-FA9D-EDC3183904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4F327E6-DAE4-0980-68C2-547EC2A9538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7A9239-CDA2-118C-8CAC-7CD59A0D6537}"/>
              </a:ext>
            </a:extLst>
          </p:cNvPr>
          <p:cNvSpPr>
            <a:spLocks noGrp="1"/>
          </p:cNvSpPr>
          <p:nvPr>
            <p:ph type="dt" sz="half" idx="10"/>
          </p:nvPr>
        </p:nvSpPr>
        <p:spPr/>
        <p:txBody>
          <a:bodyPr/>
          <a:lstStyle/>
          <a:p>
            <a:fld id="{16DB7464-752F-401F-A2FD-373BFBECD593}" type="datetimeFigureOut">
              <a:rPr lang="en-US" smtClean="0"/>
              <a:t>12/16/2025</a:t>
            </a:fld>
            <a:endParaRPr lang="en-US"/>
          </a:p>
        </p:txBody>
      </p:sp>
      <p:sp>
        <p:nvSpPr>
          <p:cNvPr id="6" name="Footer Placeholder 5">
            <a:extLst>
              <a:ext uri="{FF2B5EF4-FFF2-40B4-BE49-F238E27FC236}">
                <a16:creationId xmlns:a16="http://schemas.microsoft.com/office/drawing/2014/main" id="{CB05C39F-A5CE-07AB-8198-BF32691177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51F2D5-7F2F-9EB5-5590-00E0167401AE}"/>
              </a:ext>
            </a:extLst>
          </p:cNvPr>
          <p:cNvSpPr>
            <a:spLocks noGrp="1"/>
          </p:cNvSpPr>
          <p:nvPr>
            <p:ph type="sldNum" sz="quarter" idx="12"/>
          </p:nvPr>
        </p:nvSpPr>
        <p:spPr/>
        <p:txBody>
          <a:bodyPr/>
          <a:lstStyle/>
          <a:p>
            <a:fld id="{69065CBF-84F7-4B7D-9070-9C04ACA330DE}" type="slidenum">
              <a:rPr lang="en-US" smtClean="0"/>
              <a:t>‹#›</a:t>
            </a:fld>
            <a:endParaRPr lang="en-US"/>
          </a:p>
        </p:txBody>
      </p:sp>
    </p:spTree>
    <p:extLst>
      <p:ext uri="{BB962C8B-B14F-4D97-AF65-F5344CB8AC3E}">
        <p14:creationId xmlns:p14="http://schemas.microsoft.com/office/powerpoint/2010/main" val="20782554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051C1-1B8F-7FA2-8A6D-FB5C9CB6B54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5D03070-32C7-08D6-8E51-802D6CF545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E7CEFC1-49DA-ABE6-233E-516F63A457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4F739D5-7AA4-14B6-17F4-C496F0F8C3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27FBE3-465F-B90C-1449-791331E986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4063336-2B1C-C924-E2E5-191164476640}"/>
              </a:ext>
            </a:extLst>
          </p:cNvPr>
          <p:cNvSpPr>
            <a:spLocks noGrp="1"/>
          </p:cNvSpPr>
          <p:nvPr>
            <p:ph type="dt" sz="half" idx="10"/>
          </p:nvPr>
        </p:nvSpPr>
        <p:spPr/>
        <p:txBody>
          <a:bodyPr/>
          <a:lstStyle/>
          <a:p>
            <a:fld id="{16DB7464-752F-401F-A2FD-373BFBECD593}" type="datetimeFigureOut">
              <a:rPr lang="en-US" smtClean="0"/>
              <a:t>12/16/2025</a:t>
            </a:fld>
            <a:endParaRPr lang="en-US"/>
          </a:p>
        </p:txBody>
      </p:sp>
      <p:sp>
        <p:nvSpPr>
          <p:cNvPr id="8" name="Footer Placeholder 7">
            <a:extLst>
              <a:ext uri="{FF2B5EF4-FFF2-40B4-BE49-F238E27FC236}">
                <a16:creationId xmlns:a16="http://schemas.microsoft.com/office/drawing/2014/main" id="{B3E82AE3-8931-7597-18E7-3E9B74BBE31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1B3921-BDCE-EF1E-3C1B-5BB6162407CB}"/>
              </a:ext>
            </a:extLst>
          </p:cNvPr>
          <p:cNvSpPr>
            <a:spLocks noGrp="1"/>
          </p:cNvSpPr>
          <p:nvPr>
            <p:ph type="sldNum" sz="quarter" idx="12"/>
          </p:nvPr>
        </p:nvSpPr>
        <p:spPr/>
        <p:txBody>
          <a:bodyPr/>
          <a:lstStyle/>
          <a:p>
            <a:fld id="{69065CBF-84F7-4B7D-9070-9C04ACA330DE}" type="slidenum">
              <a:rPr lang="en-US" smtClean="0"/>
              <a:t>‹#›</a:t>
            </a:fld>
            <a:endParaRPr lang="en-US"/>
          </a:p>
        </p:txBody>
      </p:sp>
    </p:spTree>
    <p:extLst>
      <p:ext uri="{BB962C8B-B14F-4D97-AF65-F5344CB8AC3E}">
        <p14:creationId xmlns:p14="http://schemas.microsoft.com/office/powerpoint/2010/main" val="35442647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FFC39-CF48-F08B-4437-611B890E17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503F778-769B-B35D-DA6E-48C9E16A514B}"/>
              </a:ext>
            </a:extLst>
          </p:cNvPr>
          <p:cNvSpPr>
            <a:spLocks noGrp="1"/>
          </p:cNvSpPr>
          <p:nvPr>
            <p:ph type="dt" sz="half" idx="10"/>
          </p:nvPr>
        </p:nvSpPr>
        <p:spPr/>
        <p:txBody>
          <a:bodyPr/>
          <a:lstStyle/>
          <a:p>
            <a:fld id="{16DB7464-752F-401F-A2FD-373BFBECD593}" type="datetimeFigureOut">
              <a:rPr lang="en-US" smtClean="0"/>
              <a:t>12/16/2025</a:t>
            </a:fld>
            <a:endParaRPr lang="en-US"/>
          </a:p>
        </p:txBody>
      </p:sp>
      <p:sp>
        <p:nvSpPr>
          <p:cNvPr id="4" name="Footer Placeholder 3">
            <a:extLst>
              <a:ext uri="{FF2B5EF4-FFF2-40B4-BE49-F238E27FC236}">
                <a16:creationId xmlns:a16="http://schemas.microsoft.com/office/drawing/2014/main" id="{15D7B6F5-F29F-48E1-219B-8CDAD705BD6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0DD829F-1D77-ABD0-5262-5E57018A4B76}"/>
              </a:ext>
            </a:extLst>
          </p:cNvPr>
          <p:cNvSpPr>
            <a:spLocks noGrp="1"/>
          </p:cNvSpPr>
          <p:nvPr>
            <p:ph type="sldNum" sz="quarter" idx="12"/>
          </p:nvPr>
        </p:nvSpPr>
        <p:spPr/>
        <p:txBody>
          <a:bodyPr/>
          <a:lstStyle/>
          <a:p>
            <a:fld id="{69065CBF-84F7-4B7D-9070-9C04ACA330DE}" type="slidenum">
              <a:rPr lang="en-US" smtClean="0"/>
              <a:t>‹#›</a:t>
            </a:fld>
            <a:endParaRPr lang="en-US"/>
          </a:p>
        </p:txBody>
      </p:sp>
    </p:spTree>
    <p:extLst>
      <p:ext uri="{BB962C8B-B14F-4D97-AF65-F5344CB8AC3E}">
        <p14:creationId xmlns:p14="http://schemas.microsoft.com/office/powerpoint/2010/main" val="376020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EF778A-6106-1DCA-EFE4-BF4F3B885400}"/>
              </a:ext>
            </a:extLst>
          </p:cNvPr>
          <p:cNvSpPr>
            <a:spLocks noGrp="1"/>
          </p:cNvSpPr>
          <p:nvPr>
            <p:ph type="dt" sz="half" idx="10"/>
          </p:nvPr>
        </p:nvSpPr>
        <p:spPr/>
        <p:txBody>
          <a:bodyPr/>
          <a:lstStyle/>
          <a:p>
            <a:fld id="{16DB7464-752F-401F-A2FD-373BFBECD593}" type="datetimeFigureOut">
              <a:rPr lang="en-US" smtClean="0"/>
              <a:t>12/16/2025</a:t>
            </a:fld>
            <a:endParaRPr lang="en-US"/>
          </a:p>
        </p:txBody>
      </p:sp>
      <p:sp>
        <p:nvSpPr>
          <p:cNvPr id="3" name="Footer Placeholder 2">
            <a:extLst>
              <a:ext uri="{FF2B5EF4-FFF2-40B4-BE49-F238E27FC236}">
                <a16:creationId xmlns:a16="http://schemas.microsoft.com/office/drawing/2014/main" id="{4F1A7EC6-B8CF-FFD2-B54A-5AE3B31C10C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A70FD0-7BF3-503D-D7F6-8097A92BF39E}"/>
              </a:ext>
            </a:extLst>
          </p:cNvPr>
          <p:cNvSpPr>
            <a:spLocks noGrp="1"/>
          </p:cNvSpPr>
          <p:nvPr>
            <p:ph type="sldNum" sz="quarter" idx="12"/>
          </p:nvPr>
        </p:nvSpPr>
        <p:spPr/>
        <p:txBody>
          <a:bodyPr/>
          <a:lstStyle/>
          <a:p>
            <a:fld id="{69065CBF-84F7-4B7D-9070-9C04ACA330DE}" type="slidenum">
              <a:rPr lang="en-US" smtClean="0"/>
              <a:t>‹#›</a:t>
            </a:fld>
            <a:endParaRPr lang="en-US"/>
          </a:p>
        </p:txBody>
      </p:sp>
    </p:spTree>
    <p:extLst>
      <p:ext uri="{BB962C8B-B14F-4D97-AF65-F5344CB8AC3E}">
        <p14:creationId xmlns:p14="http://schemas.microsoft.com/office/powerpoint/2010/main" val="293276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98FEC-5F57-E7BD-40BE-388A040525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D19BA44-1EC7-9A32-3560-3BC38B1CA64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65FC6B-D49C-7BB9-59C3-43C08027CE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B10E7C-3158-0444-2762-C3DC0F426CF3}"/>
              </a:ext>
            </a:extLst>
          </p:cNvPr>
          <p:cNvSpPr>
            <a:spLocks noGrp="1"/>
          </p:cNvSpPr>
          <p:nvPr>
            <p:ph type="dt" sz="half" idx="10"/>
          </p:nvPr>
        </p:nvSpPr>
        <p:spPr/>
        <p:txBody>
          <a:bodyPr/>
          <a:lstStyle/>
          <a:p>
            <a:fld id="{16DB7464-752F-401F-A2FD-373BFBECD593}" type="datetimeFigureOut">
              <a:rPr lang="en-US" smtClean="0"/>
              <a:t>12/16/2025</a:t>
            </a:fld>
            <a:endParaRPr lang="en-US"/>
          </a:p>
        </p:txBody>
      </p:sp>
      <p:sp>
        <p:nvSpPr>
          <p:cNvPr id="6" name="Footer Placeholder 5">
            <a:extLst>
              <a:ext uri="{FF2B5EF4-FFF2-40B4-BE49-F238E27FC236}">
                <a16:creationId xmlns:a16="http://schemas.microsoft.com/office/drawing/2014/main" id="{A00279F4-1240-5028-61D3-0E943F4676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30DBABB-3BEB-031D-5E45-A3DB6EAB8EE1}"/>
              </a:ext>
            </a:extLst>
          </p:cNvPr>
          <p:cNvSpPr>
            <a:spLocks noGrp="1"/>
          </p:cNvSpPr>
          <p:nvPr>
            <p:ph type="sldNum" sz="quarter" idx="12"/>
          </p:nvPr>
        </p:nvSpPr>
        <p:spPr/>
        <p:txBody>
          <a:bodyPr/>
          <a:lstStyle/>
          <a:p>
            <a:fld id="{69065CBF-84F7-4B7D-9070-9C04ACA330DE}" type="slidenum">
              <a:rPr lang="en-US" smtClean="0"/>
              <a:t>‹#›</a:t>
            </a:fld>
            <a:endParaRPr lang="en-US"/>
          </a:p>
        </p:txBody>
      </p:sp>
    </p:spTree>
    <p:extLst>
      <p:ext uri="{BB962C8B-B14F-4D97-AF65-F5344CB8AC3E}">
        <p14:creationId xmlns:p14="http://schemas.microsoft.com/office/powerpoint/2010/main" val="110157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A17BE-5A8F-8CE5-6FC8-9D175CF415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0E9122-0DCF-301A-C966-250E35F829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341B9C-35D0-5F6C-F718-C42BD33856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F27F9-4503-8DF3-C7D4-5C0459756E5F}"/>
              </a:ext>
            </a:extLst>
          </p:cNvPr>
          <p:cNvSpPr>
            <a:spLocks noGrp="1"/>
          </p:cNvSpPr>
          <p:nvPr>
            <p:ph type="dt" sz="half" idx="10"/>
          </p:nvPr>
        </p:nvSpPr>
        <p:spPr/>
        <p:txBody>
          <a:bodyPr/>
          <a:lstStyle/>
          <a:p>
            <a:fld id="{16DB7464-752F-401F-A2FD-373BFBECD593}" type="datetimeFigureOut">
              <a:rPr lang="en-US" smtClean="0"/>
              <a:t>12/16/2025</a:t>
            </a:fld>
            <a:endParaRPr lang="en-US"/>
          </a:p>
        </p:txBody>
      </p:sp>
      <p:sp>
        <p:nvSpPr>
          <p:cNvPr id="6" name="Footer Placeholder 5">
            <a:extLst>
              <a:ext uri="{FF2B5EF4-FFF2-40B4-BE49-F238E27FC236}">
                <a16:creationId xmlns:a16="http://schemas.microsoft.com/office/drawing/2014/main" id="{49F475E3-87B4-6039-B524-CB197A7DA2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27F0B3-E53E-4B5E-38FF-8BB120F2D2E1}"/>
              </a:ext>
            </a:extLst>
          </p:cNvPr>
          <p:cNvSpPr>
            <a:spLocks noGrp="1"/>
          </p:cNvSpPr>
          <p:nvPr>
            <p:ph type="sldNum" sz="quarter" idx="12"/>
          </p:nvPr>
        </p:nvSpPr>
        <p:spPr/>
        <p:txBody>
          <a:bodyPr/>
          <a:lstStyle/>
          <a:p>
            <a:fld id="{69065CBF-84F7-4B7D-9070-9C04ACA330DE}" type="slidenum">
              <a:rPr lang="en-US" smtClean="0"/>
              <a:t>‹#›</a:t>
            </a:fld>
            <a:endParaRPr lang="en-US"/>
          </a:p>
        </p:txBody>
      </p:sp>
    </p:spTree>
    <p:extLst>
      <p:ext uri="{BB962C8B-B14F-4D97-AF65-F5344CB8AC3E}">
        <p14:creationId xmlns:p14="http://schemas.microsoft.com/office/powerpoint/2010/main" val="2190539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0E4A2-F269-BBCF-8C04-B0E3185559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6BF11E-CDAF-78D0-4914-D1258CCB55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C64750-0062-34C1-A17B-0631380E322A}"/>
              </a:ext>
            </a:extLst>
          </p:cNvPr>
          <p:cNvSpPr>
            <a:spLocks noGrp="1"/>
          </p:cNvSpPr>
          <p:nvPr>
            <p:ph type="dt" sz="half" idx="10"/>
          </p:nvPr>
        </p:nvSpPr>
        <p:spPr/>
        <p:txBody>
          <a:bodyPr/>
          <a:lstStyle/>
          <a:p>
            <a:fld id="{16DB7464-752F-401F-A2FD-373BFBECD593}" type="datetimeFigureOut">
              <a:rPr lang="en-US" smtClean="0"/>
              <a:t>12/16/2025</a:t>
            </a:fld>
            <a:endParaRPr lang="en-US"/>
          </a:p>
        </p:txBody>
      </p:sp>
      <p:sp>
        <p:nvSpPr>
          <p:cNvPr id="5" name="Footer Placeholder 4">
            <a:extLst>
              <a:ext uri="{FF2B5EF4-FFF2-40B4-BE49-F238E27FC236}">
                <a16:creationId xmlns:a16="http://schemas.microsoft.com/office/drawing/2014/main" id="{E4FACA8D-07A8-B188-A94A-D3F434FC52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BEFAAE-CDA1-EB6C-DB81-D24B4EDDA550}"/>
              </a:ext>
            </a:extLst>
          </p:cNvPr>
          <p:cNvSpPr>
            <a:spLocks noGrp="1"/>
          </p:cNvSpPr>
          <p:nvPr>
            <p:ph type="sldNum" sz="quarter" idx="12"/>
          </p:nvPr>
        </p:nvSpPr>
        <p:spPr/>
        <p:txBody>
          <a:bodyPr/>
          <a:lstStyle/>
          <a:p>
            <a:fld id="{69065CBF-84F7-4B7D-9070-9C04ACA330DE}" type="slidenum">
              <a:rPr lang="en-US" smtClean="0"/>
              <a:t>‹#›</a:t>
            </a:fld>
            <a:endParaRPr lang="en-US"/>
          </a:p>
        </p:txBody>
      </p:sp>
    </p:spTree>
    <p:extLst>
      <p:ext uri="{BB962C8B-B14F-4D97-AF65-F5344CB8AC3E}">
        <p14:creationId xmlns:p14="http://schemas.microsoft.com/office/powerpoint/2010/main" val="2823025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E04418-236A-90F9-EF7A-198700E22D4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9A0E18D-2DB6-E643-9A87-0A77DA3510C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B81409-10EC-B573-CC99-31AA0B70DE22}"/>
              </a:ext>
            </a:extLst>
          </p:cNvPr>
          <p:cNvSpPr>
            <a:spLocks noGrp="1"/>
          </p:cNvSpPr>
          <p:nvPr>
            <p:ph type="dt" sz="half" idx="10"/>
          </p:nvPr>
        </p:nvSpPr>
        <p:spPr/>
        <p:txBody>
          <a:bodyPr/>
          <a:lstStyle/>
          <a:p>
            <a:fld id="{16DB7464-752F-401F-A2FD-373BFBECD593}" type="datetimeFigureOut">
              <a:rPr lang="en-US" smtClean="0"/>
              <a:t>12/16/2025</a:t>
            </a:fld>
            <a:endParaRPr lang="en-US"/>
          </a:p>
        </p:txBody>
      </p:sp>
      <p:sp>
        <p:nvSpPr>
          <p:cNvPr id="5" name="Footer Placeholder 4">
            <a:extLst>
              <a:ext uri="{FF2B5EF4-FFF2-40B4-BE49-F238E27FC236}">
                <a16:creationId xmlns:a16="http://schemas.microsoft.com/office/drawing/2014/main" id="{C12319DB-EA37-508B-E635-2ECD2D543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3A8535-55E3-BE4C-8158-803803D0C4BA}"/>
              </a:ext>
            </a:extLst>
          </p:cNvPr>
          <p:cNvSpPr>
            <a:spLocks noGrp="1"/>
          </p:cNvSpPr>
          <p:nvPr>
            <p:ph type="sldNum" sz="quarter" idx="12"/>
          </p:nvPr>
        </p:nvSpPr>
        <p:spPr/>
        <p:txBody>
          <a:bodyPr/>
          <a:lstStyle/>
          <a:p>
            <a:fld id="{69065CBF-84F7-4B7D-9070-9C04ACA330DE}" type="slidenum">
              <a:rPr lang="en-US" smtClean="0"/>
              <a:t>‹#›</a:t>
            </a:fld>
            <a:endParaRPr lang="en-US"/>
          </a:p>
        </p:txBody>
      </p:sp>
    </p:spTree>
    <p:extLst>
      <p:ext uri="{BB962C8B-B14F-4D97-AF65-F5344CB8AC3E}">
        <p14:creationId xmlns:p14="http://schemas.microsoft.com/office/powerpoint/2010/main" val="2181101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397E68-25D1-4702-0259-BADF4B66D9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955A10-0FBF-36E8-39EF-D2F8AAF873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127A29-D768-197A-5CF7-3FDFC47750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6DB7464-752F-401F-A2FD-373BFBECD593}" type="datetimeFigureOut">
              <a:rPr lang="en-US" smtClean="0"/>
              <a:t>12/16/2025</a:t>
            </a:fld>
            <a:endParaRPr lang="en-US"/>
          </a:p>
        </p:txBody>
      </p:sp>
      <p:sp>
        <p:nvSpPr>
          <p:cNvPr id="5" name="Footer Placeholder 4">
            <a:extLst>
              <a:ext uri="{FF2B5EF4-FFF2-40B4-BE49-F238E27FC236}">
                <a16:creationId xmlns:a16="http://schemas.microsoft.com/office/drawing/2014/main" id="{859FAFB0-B4D7-9F70-B27F-B3888DFFCE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5FC1BEF-2C3F-3190-3BED-83810E0AB7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065CBF-84F7-4B7D-9070-9C04ACA330DE}" type="slidenum">
              <a:rPr lang="en-US" smtClean="0"/>
              <a:t>‹#›</a:t>
            </a:fld>
            <a:endParaRPr lang="en-US"/>
          </a:p>
        </p:txBody>
      </p:sp>
    </p:spTree>
    <p:extLst>
      <p:ext uri="{BB962C8B-B14F-4D97-AF65-F5344CB8AC3E}">
        <p14:creationId xmlns:p14="http://schemas.microsoft.com/office/powerpoint/2010/main" val="340870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https://www.w3schools.com/c/c_functions.php" TargetMode="External"/><Relationship Id="rId2" Type="http://schemas.openxmlformats.org/officeDocument/2006/relationships/hyperlink" Target="https://www.w3schools.com/c/c_pointers.ph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B9636-0F0F-4633-BF31-361FFAD6549B}"/>
              </a:ext>
            </a:extLst>
          </p:cNvPr>
          <p:cNvSpPr>
            <a:spLocks noGrp="1"/>
          </p:cNvSpPr>
          <p:nvPr>
            <p:ph type="title"/>
          </p:nvPr>
        </p:nvSpPr>
        <p:spPr>
          <a:xfrm>
            <a:off x="831850" y="2194559"/>
            <a:ext cx="10515600" cy="1375359"/>
          </a:xfrm>
        </p:spPr>
        <p:txBody>
          <a:bodyPr/>
          <a:lstStyle/>
          <a:p>
            <a:pPr algn="ctr"/>
            <a:r>
              <a:rPr lang="en-US" dirty="0">
                <a:latin typeface="Algerian" panose="04020705040A02060702" pitchFamily="82" charset="0"/>
              </a:rPr>
              <a:t>GROUP NUMBER 09</a:t>
            </a:r>
            <a:endParaRPr lang="en-US" dirty="0"/>
          </a:p>
        </p:txBody>
      </p:sp>
    </p:spTree>
    <p:extLst>
      <p:ext uri="{BB962C8B-B14F-4D97-AF65-F5344CB8AC3E}">
        <p14:creationId xmlns:p14="http://schemas.microsoft.com/office/powerpoint/2010/main" val="16499661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78E16-332E-460E-833A-36AE2AABEDB6}"/>
              </a:ext>
            </a:extLst>
          </p:cNvPr>
          <p:cNvSpPr>
            <a:spLocks noGrp="1"/>
          </p:cNvSpPr>
          <p:nvPr>
            <p:ph type="title"/>
          </p:nvPr>
        </p:nvSpPr>
        <p:spPr>
          <a:xfrm>
            <a:off x="128466" y="-145978"/>
            <a:ext cx="10515600" cy="1064713"/>
          </a:xfrm>
        </p:spPr>
        <p:txBody>
          <a:bodyPr>
            <a:normAutofit/>
          </a:bodyPr>
          <a:lstStyle/>
          <a:p>
            <a:r>
              <a:rPr lang="en-US" dirty="0"/>
              <a:t>PARTICIPANTS</a:t>
            </a:r>
            <a:endParaRPr lang="en-US" dirty="0"/>
          </a:p>
        </p:txBody>
      </p:sp>
      <p:graphicFrame>
        <p:nvGraphicFramePr>
          <p:cNvPr id="9" name="Table 8">
            <a:extLst>
              <a:ext uri="{FF2B5EF4-FFF2-40B4-BE49-F238E27FC236}">
                <a16:creationId xmlns:a16="http://schemas.microsoft.com/office/drawing/2014/main" id="{60096C8A-1084-40C3-AE12-7AF4AE480718}"/>
              </a:ext>
            </a:extLst>
          </p:cNvPr>
          <p:cNvGraphicFramePr>
            <a:graphicFrameLocks noGrp="1"/>
          </p:cNvGraphicFramePr>
          <p:nvPr>
            <p:extLst>
              <p:ext uri="{D42A27DB-BD31-4B8C-83A1-F6EECF244321}">
                <p14:modId xmlns:p14="http://schemas.microsoft.com/office/powerpoint/2010/main" val="2083553746"/>
              </p:ext>
            </p:extLst>
          </p:nvPr>
        </p:nvGraphicFramePr>
        <p:xfrm>
          <a:off x="239150" y="1041005"/>
          <a:ext cx="11310426" cy="5150024"/>
        </p:xfrm>
        <a:graphic>
          <a:graphicData uri="http://schemas.openxmlformats.org/drawingml/2006/table">
            <a:tbl>
              <a:tblPr>
                <a:tableStyleId>{5940675A-B579-460E-94D1-54222C63F5DA}</a:tableStyleId>
              </a:tblPr>
              <a:tblGrid>
                <a:gridCol w="5655213">
                  <a:extLst>
                    <a:ext uri="{9D8B030D-6E8A-4147-A177-3AD203B41FA5}">
                      <a16:colId xmlns:a16="http://schemas.microsoft.com/office/drawing/2014/main" val="2688953412"/>
                    </a:ext>
                  </a:extLst>
                </a:gridCol>
                <a:gridCol w="5655213">
                  <a:extLst>
                    <a:ext uri="{9D8B030D-6E8A-4147-A177-3AD203B41FA5}">
                      <a16:colId xmlns:a16="http://schemas.microsoft.com/office/drawing/2014/main" val="1157700054"/>
                    </a:ext>
                  </a:extLst>
                </a:gridCol>
              </a:tblGrid>
              <a:tr h="468184">
                <a:tc>
                  <a:txBody>
                    <a:bodyPr/>
                    <a:lstStyle/>
                    <a:p>
                      <a:pPr marL="0" marR="0">
                        <a:lnSpc>
                          <a:spcPct val="107000"/>
                        </a:lnSpc>
                        <a:spcBef>
                          <a:spcPts val="0"/>
                        </a:spcBef>
                        <a:spcAft>
                          <a:spcPts val="800"/>
                        </a:spcAft>
                      </a:pPr>
                      <a:r>
                        <a:rPr lang="en-US" sz="2800" dirty="0">
                          <a:effectLst/>
                        </a:rPr>
                        <a:t> NAMES</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8675" marB="0"/>
                </a:tc>
                <a:tc>
                  <a:txBody>
                    <a:bodyPr/>
                    <a:lstStyle/>
                    <a:p>
                      <a:pPr marL="0" marR="0">
                        <a:lnSpc>
                          <a:spcPct val="107000"/>
                        </a:lnSpc>
                        <a:spcBef>
                          <a:spcPts val="0"/>
                        </a:spcBef>
                        <a:spcAft>
                          <a:spcPts val="800"/>
                        </a:spcAft>
                      </a:pPr>
                      <a:r>
                        <a:rPr lang="en-US" sz="2800">
                          <a:effectLst/>
                        </a:rPr>
                        <a:t> REGISTRATION NUMBERS</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8675" marB="0"/>
                </a:tc>
                <a:extLst>
                  <a:ext uri="{0D108BD9-81ED-4DB2-BD59-A6C34878D82A}">
                    <a16:rowId xmlns:a16="http://schemas.microsoft.com/office/drawing/2014/main" val="659293859"/>
                  </a:ext>
                </a:extLst>
              </a:tr>
              <a:tr h="468184">
                <a:tc>
                  <a:txBody>
                    <a:bodyPr/>
                    <a:lstStyle/>
                    <a:p>
                      <a:pPr marL="0" marR="0">
                        <a:lnSpc>
                          <a:spcPct val="107000"/>
                        </a:lnSpc>
                        <a:spcBef>
                          <a:spcPts val="0"/>
                        </a:spcBef>
                        <a:spcAft>
                          <a:spcPts val="800"/>
                        </a:spcAft>
                      </a:pPr>
                      <a:r>
                        <a:rPr lang="en-US" sz="2800">
                          <a:effectLst/>
                        </a:rPr>
                        <a:t>NOEL JACKSON HAMIS</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8675" marB="0"/>
                </a:tc>
                <a:tc>
                  <a:txBody>
                    <a:bodyPr/>
                    <a:lstStyle/>
                    <a:p>
                      <a:pPr marL="0" marR="0">
                        <a:lnSpc>
                          <a:spcPct val="107000"/>
                        </a:lnSpc>
                        <a:spcBef>
                          <a:spcPts val="0"/>
                        </a:spcBef>
                        <a:spcAft>
                          <a:spcPts val="800"/>
                        </a:spcAft>
                      </a:pPr>
                      <a:r>
                        <a:rPr lang="en-US" sz="2800" dirty="0">
                          <a:effectLst/>
                        </a:rPr>
                        <a:t>NIT/BIT/2024/2449</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8675" marB="0"/>
                </a:tc>
                <a:extLst>
                  <a:ext uri="{0D108BD9-81ED-4DB2-BD59-A6C34878D82A}">
                    <a16:rowId xmlns:a16="http://schemas.microsoft.com/office/drawing/2014/main" val="1762150087"/>
                  </a:ext>
                </a:extLst>
              </a:tr>
              <a:tr h="468184">
                <a:tc>
                  <a:txBody>
                    <a:bodyPr/>
                    <a:lstStyle/>
                    <a:p>
                      <a:pPr marL="0" marR="0">
                        <a:lnSpc>
                          <a:spcPct val="107000"/>
                        </a:lnSpc>
                        <a:spcBef>
                          <a:spcPts val="0"/>
                        </a:spcBef>
                        <a:spcAft>
                          <a:spcPts val="800"/>
                        </a:spcAft>
                      </a:pPr>
                      <a:r>
                        <a:rPr lang="en-US" sz="2800" dirty="0">
                          <a:effectLst/>
                        </a:rPr>
                        <a:t>ASANTE  RABAN ABEL</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8675" marB="0"/>
                </a:tc>
                <a:tc>
                  <a:txBody>
                    <a:bodyPr/>
                    <a:lstStyle/>
                    <a:p>
                      <a:pPr marL="0" marR="0">
                        <a:lnSpc>
                          <a:spcPct val="107000"/>
                        </a:lnSpc>
                        <a:spcBef>
                          <a:spcPts val="0"/>
                        </a:spcBef>
                        <a:spcAft>
                          <a:spcPts val="800"/>
                        </a:spcAft>
                      </a:pPr>
                      <a:r>
                        <a:rPr lang="en-US" sz="2800" dirty="0">
                          <a:effectLst/>
                        </a:rPr>
                        <a:t>NIT/BIT/2024/2559</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8675" marB="0"/>
                </a:tc>
                <a:extLst>
                  <a:ext uri="{0D108BD9-81ED-4DB2-BD59-A6C34878D82A}">
                    <a16:rowId xmlns:a16="http://schemas.microsoft.com/office/drawing/2014/main" val="2240570659"/>
                  </a:ext>
                </a:extLst>
              </a:tr>
              <a:tr h="468184">
                <a:tc>
                  <a:txBody>
                    <a:bodyPr/>
                    <a:lstStyle/>
                    <a:p>
                      <a:pPr marL="0" marR="0">
                        <a:lnSpc>
                          <a:spcPct val="107000"/>
                        </a:lnSpc>
                        <a:spcBef>
                          <a:spcPts val="0"/>
                        </a:spcBef>
                        <a:spcAft>
                          <a:spcPts val="800"/>
                        </a:spcAft>
                      </a:pPr>
                      <a:r>
                        <a:rPr lang="en-US" sz="2800" dirty="0">
                          <a:effectLst/>
                        </a:rPr>
                        <a:t>ELIBARICK  L. DAUD</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8675" marB="0"/>
                </a:tc>
                <a:tc>
                  <a:txBody>
                    <a:bodyPr/>
                    <a:lstStyle/>
                    <a:p>
                      <a:pPr marL="0" marR="0">
                        <a:lnSpc>
                          <a:spcPct val="107000"/>
                        </a:lnSpc>
                        <a:spcBef>
                          <a:spcPts val="0"/>
                        </a:spcBef>
                        <a:spcAft>
                          <a:spcPts val="800"/>
                        </a:spcAft>
                      </a:pPr>
                      <a:r>
                        <a:rPr lang="en-US" sz="2800">
                          <a:effectLst/>
                        </a:rPr>
                        <a:t>NIT/BIT/2024/2589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8675" marB="0"/>
                </a:tc>
                <a:extLst>
                  <a:ext uri="{0D108BD9-81ED-4DB2-BD59-A6C34878D82A}">
                    <a16:rowId xmlns:a16="http://schemas.microsoft.com/office/drawing/2014/main" val="4131779709"/>
                  </a:ext>
                </a:extLst>
              </a:tr>
              <a:tr h="468184">
                <a:tc>
                  <a:txBody>
                    <a:bodyPr/>
                    <a:lstStyle/>
                    <a:p>
                      <a:pPr marL="0" marR="0">
                        <a:lnSpc>
                          <a:spcPct val="107000"/>
                        </a:lnSpc>
                        <a:spcBef>
                          <a:spcPts val="0"/>
                        </a:spcBef>
                        <a:spcAft>
                          <a:spcPts val="800"/>
                        </a:spcAft>
                      </a:pPr>
                      <a:r>
                        <a:rPr lang="en-US" sz="2800" dirty="0">
                          <a:effectLst/>
                        </a:rPr>
                        <a:t>ALLY  M BENJAMIN</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8675" marB="0"/>
                </a:tc>
                <a:tc>
                  <a:txBody>
                    <a:bodyPr/>
                    <a:lstStyle/>
                    <a:p>
                      <a:pPr marL="0" marR="0">
                        <a:lnSpc>
                          <a:spcPct val="107000"/>
                        </a:lnSpc>
                        <a:spcBef>
                          <a:spcPts val="0"/>
                        </a:spcBef>
                        <a:spcAft>
                          <a:spcPts val="800"/>
                        </a:spcAft>
                      </a:pPr>
                      <a:r>
                        <a:rPr lang="en-US" sz="2800">
                          <a:effectLst/>
                        </a:rPr>
                        <a:t>NIT/BIT/2024/2519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8675" marB="0"/>
                </a:tc>
                <a:extLst>
                  <a:ext uri="{0D108BD9-81ED-4DB2-BD59-A6C34878D82A}">
                    <a16:rowId xmlns:a16="http://schemas.microsoft.com/office/drawing/2014/main" val="1090596123"/>
                  </a:ext>
                </a:extLst>
              </a:tr>
              <a:tr h="468184">
                <a:tc>
                  <a:txBody>
                    <a:bodyPr/>
                    <a:lstStyle/>
                    <a:p>
                      <a:pPr marL="0" marR="0">
                        <a:lnSpc>
                          <a:spcPct val="107000"/>
                        </a:lnSpc>
                        <a:spcBef>
                          <a:spcPts val="0"/>
                        </a:spcBef>
                        <a:spcAft>
                          <a:spcPts val="800"/>
                        </a:spcAft>
                      </a:pPr>
                      <a:r>
                        <a:rPr lang="en-US" sz="2800">
                          <a:effectLst/>
                        </a:rPr>
                        <a:t>SADATI  H KOLILOKO</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8675" marB="0"/>
                </a:tc>
                <a:tc>
                  <a:txBody>
                    <a:bodyPr/>
                    <a:lstStyle/>
                    <a:p>
                      <a:pPr marL="0" marR="0">
                        <a:lnSpc>
                          <a:spcPct val="107000"/>
                        </a:lnSpc>
                        <a:spcBef>
                          <a:spcPts val="0"/>
                        </a:spcBef>
                        <a:spcAft>
                          <a:spcPts val="800"/>
                        </a:spcAft>
                      </a:pPr>
                      <a:r>
                        <a:rPr lang="en-US" sz="2800">
                          <a:effectLst/>
                        </a:rPr>
                        <a:t>NIT/BIT/2024/2459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8675" marB="0"/>
                </a:tc>
                <a:extLst>
                  <a:ext uri="{0D108BD9-81ED-4DB2-BD59-A6C34878D82A}">
                    <a16:rowId xmlns:a16="http://schemas.microsoft.com/office/drawing/2014/main" val="157841463"/>
                  </a:ext>
                </a:extLst>
              </a:tr>
              <a:tr h="468184">
                <a:tc>
                  <a:txBody>
                    <a:bodyPr/>
                    <a:lstStyle/>
                    <a:p>
                      <a:pPr marL="0" marR="0">
                        <a:lnSpc>
                          <a:spcPct val="107000"/>
                        </a:lnSpc>
                        <a:spcBef>
                          <a:spcPts val="0"/>
                        </a:spcBef>
                        <a:spcAft>
                          <a:spcPts val="800"/>
                        </a:spcAft>
                      </a:pPr>
                      <a:r>
                        <a:rPr lang="en-US" sz="2800">
                          <a:effectLst/>
                        </a:rPr>
                        <a:t>JANETH  H MPATILLAH</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8675" marB="0"/>
                </a:tc>
                <a:tc>
                  <a:txBody>
                    <a:bodyPr/>
                    <a:lstStyle/>
                    <a:p>
                      <a:pPr marL="0" marR="0">
                        <a:lnSpc>
                          <a:spcPct val="107000"/>
                        </a:lnSpc>
                        <a:spcBef>
                          <a:spcPts val="0"/>
                        </a:spcBef>
                        <a:spcAft>
                          <a:spcPts val="800"/>
                        </a:spcAft>
                      </a:pPr>
                      <a:r>
                        <a:rPr lang="en-US" sz="2800">
                          <a:effectLst/>
                        </a:rPr>
                        <a:t>NIT/BIT/2024/2399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8675" marB="0"/>
                </a:tc>
                <a:extLst>
                  <a:ext uri="{0D108BD9-81ED-4DB2-BD59-A6C34878D82A}">
                    <a16:rowId xmlns:a16="http://schemas.microsoft.com/office/drawing/2014/main" val="2228531748"/>
                  </a:ext>
                </a:extLst>
              </a:tr>
              <a:tr h="468184">
                <a:tc>
                  <a:txBody>
                    <a:bodyPr/>
                    <a:lstStyle/>
                    <a:p>
                      <a:pPr marL="0" marR="0">
                        <a:lnSpc>
                          <a:spcPct val="107000"/>
                        </a:lnSpc>
                        <a:spcBef>
                          <a:spcPts val="0"/>
                        </a:spcBef>
                        <a:spcAft>
                          <a:spcPts val="800"/>
                        </a:spcAft>
                      </a:pPr>
                      <a:r>
                        <a:rPr lang="en-US" sz="2800">
                          <a:effectLst/>
                        </a:rPr>
                        <a:t>DENIS  MWIRABI NUNGU</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8675" marB="0"/>
                </a:tc>
                <a:tc>
                  <a:txBody>
                    <a:bodyPr/>
                    <a:lstStyle/>
                    <a:p>
                      <a:pPr marL="0" marR="0">
                        <a:lnSpc>
                          <a:spcPct val="107000"/>
                        </a:lnSpc>
                        <a:spcBef>
                          <a:spcPts val="0"/>
                        </a:spcBef>
                        <a:spcAft>
                          <a:spcPts val="800"/>
                        </a:spcAft>
                      </a:pPr>
                      <a:r>
                        <a:rPr lang="en-US" sz="2800">
                          <a:effectLst/>
                        </a:rPr>
                        <a:t>NIT/BIT/2024/2599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8675" marB="0"/>
                </a:tc>
                <a:extLst>
                  <a:ext uri="{0D108BD9-81ED-4DB2-BD59-A6C34878D82A}">
                    <a16:rowId xmlns:a16="http://schemas.microsoft.com/office/drawing/2014/main" val="1329556205"/>
                  </a:ext>
                </a:extLst>
              </a:tr>
              <a:tr h="468184">
                <a:tc>
                  <a:txBody>
                    <a:bodyPr/>
                    <a:lstStyle/>
                    <a:p>
                      <a:pPr marL="0" marR="0">
                        <a:lnSpc>
                          <a:spcPct val="107000"/>
                        </a:lnSpc>
                        <a:spcBef>
                          <a:spcPts val="0"/>
                        </a:spcBef>
                        <a:spcAft>
                          <a:spcPts val="800"/>
                        </a:spcAft>
                      </a:pPr>
                      <a:r>
                        <a:rPr lang="en-US" sz="2800">
                          <a:effectLst/>
                        </a:rPr>
                        <a:t>SHABAN  R KITABU</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8675" marB="0"/>
                </a:tc>
                <a:tc>
                  <a:txBody>
                    <a:bodyPr/>
                    <a:lstStyle/>
                    <a:p>
                      <a:pPr marL="0" marR="0">
                        <a:lnSpc>
                          <a:spcPct val="107000"/>
                        </a:lnSpc>
                        <a:spcBef>
                          <a:spcPts val="0"/>
                        </a:spcBef>
                        <a:spcAft>
                          <a:spcPts val="800"/>
                        </a:spcAft>
                      </a:pPr>
                      <a:r>
                        <a:rPr lang="en-US" sz="2800">
                          <a:effectLst/>
                        </a:rPr>
                        <a:t>NIT/BIT/2024/2479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8675" marB="0"/>
                </a:tc>
                <a:extLst>
                  <a:ext uri="{0D108BD9-81ED-4DB2-BD59-A6C34878D82A}">
                    <a16:rowId xmlns:a16="http://schemas.microsoft.com/office/drawing/2014/main" val="3989023792"/>
                  </a:ext>
                </a:extLst>
              </a:tr>
              <a:tr h="468184">
                <a:tc>
                  <a:txBody>
                    <a:bodyPr/>
                    <a:lstStyle/>
                    <a:p>
                      <a:pPr marL="0" marR="0">
                        <a:lnSpc>
                          <a:spcPct val="107000"/>
                        </a:lnSpc>
                        <a:spcBef>
                          <a:spcPts val="0"/>
                        </a:spcBef>
                        <a:spcAft>
                          <a:spcPts val="800"/>
                        </a:spcAft>
                      </a:pPr>
                      <a:r>
                        <a:rPr lang="en-US" sz="2800">
                          <a:effectLst/>
                        </a:rPr>
                        <a:t>SABRA  H KIRONDA</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8675" marB="0"/>
                </a:tc>
                <a:tc>
                  <a:txBody>
                    <a:bodyPr/>
                    <a:lstStyle/>
                    <a:p>
                      <a:pPr marL="0" marR="0">
                        <a:lnSpc>
                          <a:spcPct val="107000"/>
                        </a:lnSpc>
                        <a:spcBef>
                          <a:spcPts val="0"/>
                        </a:spcBef>
                        <a:spcAft>
                          <a:spcPts val="800"/>
                        </a:spcAft>
                      </a:pPr>
                      <a:r>
                        <a:rPr lang="en-US" sz="2800">
                          <a:effectLst/>
                        </a:rPr>
                        <a:t>NIT/BIT/2024/2539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8675" marB="0"/>
                </a:tc>
                <a:extLst>
                  <a:ext uri="{0D108BD9-81ED-4DB2-BD59-A6C34878D82A}">
                    <a16:rowId xmlns:a16="http://schemas.microsoft.com/office/drawing/2014/main" val="259685884"/>
                  </a:ext>
                </a:extLst>
              </a:tr>
              <a:tr h="468184">
                <a:tc>
                  <a:txBody>
                    <a:bodyPr/>
                    <a:lstStyle/>
                    <a:p>
                      <a:pPr marL="0" marR="0">
                        <a:lnSpc>
                          <a:spcPct val="107000"/>
                        </a:lnSpc>
                        <a:spcBef>
                          <a:spcPts val="0"/>
                        </a:spcBef>
                        <a:spcAft>
                          <a:spcPts val="800"/>
                        </a:spcAft>
                      </a:pPr>
                      <a:r>
                        <a:rPr lang="en-US" sz="2800">
                          <a:effectLst/>
                        </a:rPr>
                        <a:t>YOHANA  C RICHARD</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8675" marB="0"/>
                </a:tc>
                <a:tc>
                  <a:txBody>
                    <a:bodyPr/>
                    <a:lstStyle/>
                    <a:p>
                      <a:pPr marL="0" marR="0">
                        <a:lnSpc>
                          <a:spcPct val="107000"/>
                        </a:lnSpc>
                        <a:spcBef>
                          <a:spcPts val="0"/>
                        </a:spcBef>
                        <a:spcAft>
                          <a:spcPts val="800"/>
                        </a:spcAft>
                      </a:pPr>
                      <a:r>
                        <a:rPr lang="en-US" sz="2800" dirty="0">
                          <a:effectLst/>
                        </a:rPr>
                        <a:t>NIT/BIT/2024/2609</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2459" marR="62459" marT="8675" marB="0"/>
                </a:tc>
                <a:extLst>
                  <a:ext uri="{0D108BD9-81ED-4DB2-BD59-A6C34878D82A}">
                    <a16:rowId xmlns:a16="http://schemas.microsoft.com/office/drawing/2014/main" val="2427966563"/>
                  </a:ext>
                </a:extLst>
              </a:tr>
            </a:tbl>
          </a:graphicData>
        </a:graphic>
      </p:graphicFrame>
    </p:spTree>
    <p:extLst>
      <p:ext uri="{BB962C8B-B14F-4D97-AF65-F5344CB8AC3E}">
        <p14:creationId xmlns:p14="http://schemas.microsoft.com/office/powerpoint/2010/main" val="28796241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FE0C2-99B9-4FCB-A830-B0E4B2AB55FC}"/>
              </a:ext>
            </a:extLst>
          </p:cNvPr>
          <p:cNvSpPr>
            <a:spLocks noGrp="1"/>
          </p:cNvSpPr>
          <p:nvPr>
            <p:ph type="title"/>
          </p:nvPr>
        </p:nvSpPr>
        <p:spPr>
          <a:xfrm>
            <a:off x="353549" y="138677"/>
            <a:ext cx="10515600" cy="920662"/>
          </a:xfrm>
        </p:spPr>
        <p:txBody>
          <a:bodyPr>
            <a:normAutofit/>
          </a:bodyPr>
          <a:lstStyle/>
          <a:p>
            <a:r>
              <a:rPr lang="en-US" dirty="0"/>
              <a:t>PARTICIPANTS</a:t>
            </a:r>
          </a:p>
        </p:txBody>
      </p:sp>
      <p:graphicFrame>
        <p:nvGraphicFramePr>
          <p:cNvPr id="4" name="Table 3">
            <a:extLst>
              <a:ext uri="{FF2B5EF4-FFF2-40B4-BE49-F238E27FC236}">
                <a16:creationId xmlns:a16="http://schemas.microsoft.com/office/drawing/2014/main" id="{09B82DBC-A0D1-444D-8C12-F5AFA5C88844}"/>
              </a:ext>
            </a:extLst>
          </p:cNvPr>
          <p:cNvGraphicFramePr>
            <a:graphicFrameLocks noGrp="1"/>
          </p:cNvGraphicFramePr>
          <p:nvPr>
            <p:extLst>
              <p:ext uri="{D42A27DB-BD31-4B8C-83A1-F6EECF244321}">
                <p14:modId xmlns:p14="http://schemas.microsoft.com/office/powerpoint/2010/main" val="3163933529"/>
              </p:ext>
            </p:extLst>
          </p:nvPr>
        </p:nvGraphicFramePr>
        <p:xfrm>
          <a:off x="548640" y="1059343"/>
          <a:ext cx="11268222" cy="5289965"/>
        </p:xfrm>
        <a:graphic>
          <a:graphicData uri="http://schemas.openxmlformats.org/drawingml/2006/table">
            <a:tbl>
              <a:tblPr firstRow="1" firstCol="1" bandRow="1">
                <a:tableStyleId>{5940675A-B579-460E-94D1-54222C63F5DA}</a:tableStyleId>
              </a:tblPr>
              <a:tblGrid>
                <a:gridCol w="5634111">
                  <a:extLst>
                    <a:ext uri="{9D8B030D-6E8A-4147-A177-3AD203B41FA5}">
                      <a16:colId xmlns:a16="http://schemas.microsoft.com/office/drawing/2014/main" val="3863809236"/>
                    </a:ext>
                  </a:extLst>
                </a:gridCol>
                <a:gridCol w="5634111">
                  <a:extLst>
                    <a:ext uri="{9D8B030D-6E8A-4147-A177-3AD203B41FA5}">
                      <a16:colId xmlns:a16="http://schemas.microsoft.com/office/drawing/2014/main" val="908056708"/>
                    </a:ext>
                  </a:extLst>
                </a:gridCol>
              </a:tblGrid>
              <a:tr h="483177">
                <a:tc>
                  <a:txBody>
                    <a:bodyPr/>
                    <a:lstStyle/>
                    <a:p>
                      <a:pPr marL="0" marR="0">
                        <a:lnSpc>
                          <a:spcPct val="107000"/>
                        </a:lnSpc>
                        <a:spcBef>
                          <a:spcPts val="0"/>
                        </a:spcBef>
                        <a:spcAft>
                          <a:spcPts val="800"/>
                        </a:spcAft>
                      </a:pPr>
                      <a:r>
                        <a:rPr lang="en-US" sz="2800">
                          <a:effectLst/>
                        </a:rPr>
                        <a:t> NAMES</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5225" marR="65225" marT="9059" marB="0"/>
                </a:tc>
                <a:tc>
                  <a:txBody>
                    <a:bodyPr/>
                    <a:lstStyle/>
                    <a:p>
                      <a:pPr marL="0" marR="0">
                        <a:lnSpc>
                          <a:spcPct val="107000"/>
                        </a:lnSpc>
                        <a:spcBef>
                          <a:spcPts val="0"/>
                        </a:spcBef>
                        <a:spcAft>
                          <a:spcPts val="800"/>
                        </a:spcAft>
                      </a:pPr>
                      <a:r>
                        <a:rPr lang="en-US" sz="2800">
                          <a:effectLst/>
                        </a:rPr>
                        <a:t> REGISTRATION NUMBER</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5225" marR="65225" marT="9059" marB="0"/>
                </a:tc>
                <a:extLst>
                  <a:ext uri="{0D108BD9-81ED-4DB2-BD59-A6C34878D82A}">
                    <a16:rowId xmlns:a16="http://schemas.microsoft.com/office/drawing/2014/main" val="992980931"/>
                  </a:ext>
                </a:extLst>
              </a:tr>
              <a:tr h="483177">
                <a:tc>
                  <a:txBody>
                    <a:bodyPr/>
                    <a:lstStyle/>
                    <a:p>
                      <a:pPr marL="0" marR="0">
                        <a:lnSpc>
                          <a:spcPct val="107000"/>
                        </a:lnSpc>
                        <a:spcBef>
                          <a:spcPts val="0"/>
                        </a:spcBef>
                        <a:spcAft>
                          <a:spcPts val="800"/>
                        </a:spcAft>
                      </a:pPr>
                      <a:r>
                        <a:rPr lang="en-US" sz="2800">
                          <a:effectLst/>
                        </a:rPr>
                        <a:t>JONATHAN  S TAWELI</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5225" marR="65225" marT="9059" marB="0"/>
                </a:tc>
                <a:tc>
                  <a:txBody>
                    <a:bodyPr/>
                    <a:lstStyle/>
                    <a:p>
                      <a:pPr marL="0" marR="0">
                        <a:lnSpc>
                          <a:spcPct val="107000"/>
                        </a:lnSpc>
                        <a:spcBef>
                          <a:spcPts val="0"/>
                        </a:spcBef>
                        <a:spcAft>
                          <a:spcPts val="800"/>
                        </a:spcAft>
                      </a:pPr>
                      <a:r>
                        <a:rPr lang="en-US" sz="2800">
                          <a:effectLst/>
                        </a:rPr>
                        <a:t>NIT/BIT/2024/2579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5225" marR="65225" marT="9059" marB="0"/>
                </a:tc>
                <a:extLst>
                  <a:ext uri="{0D108BD9-81ED-4DB2-BD59-A6C34878D82A}">
                    <a16:rowId xmlns:a16="http://schemas.microsoft.com/office/drawing/2014/main" val="3322025100"/>
                  </a:ext>
                </a:extLst>
              </a:tr>
              <a:tr h="483177">
                <a:tc>
                  <a:txBody>
                    <a:bodyPr/>
                    <a:lstStyle/>
                    <a:p>
                      <a:pPr marL="0" marR="0">
                        <a:lnSpc>
                          <a:spcPct val="107000"/>
                        </a:lnSpc>
                        <a:spcBef>
                          <a:spcPts val="0"/>
                        </a:spcBef>
                        <a:spcAft>
                          <a:spcPts val="800"/>
                        </a:spcAft>
                      </a:pPr>
                      <a:r>
                        <a:rPr lang="en-US" sz="2800" dirty="0">
                          <a:effectLst/>
                        </a:rPr>
                        <a:t>FELISTER  M MUSSA</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5225" marR="65225" marT="9059" marB="0"/>
                </a:tc>
                <a:tc>
                  <a:txBody>
                    <a:bodyPr/>
                    <a:lstStyle/>
                    <a:p>
                      <a:pPr marL="0" marR="0">
                        <a:lnSpc>
                          <a:spcPct val="107000"/>
                        </a:lnSpc>
                        <a:spcBef>
                          <a:spcPts val="0"/>
                        </a:spcBef>
                        <a:spcAft>
                          <a:spcPts val="800"/>
                        </a:spcAft>
                      </a:pPr>
                      <a:r>
                        <a:rPr lang="en-US" sz="2800">
                          <a:effectLst/>
                        </a:rPr>
                        <a:t>NIT/BIT/2024/2439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5225" marR="65225" marT="9059" marB="0"/>
                </a:tc>
                <a:extLst>
                  <a:ext uri="{0D108BD9-81ED-4DB2-BD59-A6C34878D82A}">
                    <a16:rowId xmlns:a16="http://schemas.microsoft.com/office/drawing/2014/main" val="409105911"/>
                  </a:ext>
                </a:extLst>
              </a:tr>
              <a:tr h="483177">
                <a:tc>
                  <a:txBody>
                    <a:bodyPr/>
                    <a:lstStyle/>
                    <a:p>
                      <a:pPr marL="0" marR="0">
                        <a:lnSpc>
                          <a:spcPct val="107000"/>
                        </a:lnSpc>
                        <a:spcBef>
                          <a:spcPts val="0"/>
                        </a:spcBef>
                        <a:spcAft>
                          <a:spcPts val="800"/>
                        </a:spcAft>
                      </a:pPr>
                      <a:r>
                        <a:rPr lang="en-US" sz="2800" dirty="0">
                          <a:effectLst/>
                        </a:rPr>
                        <a:t>HELEN  J  JOHN</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5225" marR="65225" marT="9059" marB="0"/>
                </a:tc>
                <a:tc>
                  <a:txBody>
                    <a:bodyPr/>
                    <a:lstStyle/>
                    <a:p>
                      <a:pPr marL="0" marR="0">
                        <a:lnSpc>
                          <a:spcPct val="107000"/>
                        </a:lnSpc>
                        <a:spcBef>
                          <a:spcPts val="0"/>
                        </a:spcBef>
                        <a:spcAft>
                          <a:spcPts val="800"/>
                        </a:spcAft>
                      </a:pPr>
                      <a:r>
                        <a:rPr lang="en-US" sz="2800">
                          <a:effectLst/>
                        </a:rPr>
                        <a:t>NIT/BIT/2024/2499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5225" marR="65225" marT="9059" marB="0"/>
                </a:tc>
                <a:extLst>
                  <a:ext uri="{0D108BD9-81ED-4DB2-BD59-A6C34878D82A}">
                    <a16:rowId xmlns:a16="http://schemas.microsoft.com/office/drawing/2014/main" val="1415524455"/>
                  </a:ext>
                </a:extLst>
              </a:tr>
              <a:tr h="483177">
                <a:tc>
                  <a:txBody>
                    <a:bodyPr/>
                    <a:lstStyle/>
                    <a:p>
                      <a:pPr marL="0" marR="0">
                        <a:lnSpc>
                          <a:spcPct val="107000"/>
                        </a:lnSpc>
                        <a:spcBef>
                          <a:spcPts val="0"/>
                        </a:spcBef>
                        <a:spcAft>
                          <a:spcPts val="800"/>
                        </a:spcAft>
                      </a:pPr>
                      <a:r>
                        <a:rPr lang="en-US" sz="2800" dirty="0">
                          <a:effectLst/>
                        </a:rPr>
                        <a:t>MUSA  Y MNENWA</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5225" marR="65225" marT="9059" marB="0"/>
                </a:tc>
                <a:tc>
                  <a:txBody>
                    <a:bodyPr/>
                    <a:lstStyle/>
                    <a:p>
                      <a:pPr marL="0" marR="0">
                        <a:lnSpc>
                          <a:spcPct val="107000"/>
                        </a:lnSpc>
                        <a:spcBef>
                          <a:spcPts val="0"/>
                        </a:spcBef>
                        <a:spcAft>
                          <a:spcPts val="800"/>
                        </a:spcAft>
                      </a:pPr>
                      <a:r>
                        <a:rPr lang="en-US" sz="2800">
                          <a:effectLst/>
                        </a:rPr>
                        <a:t>NIT/BIT/2024/2469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5225" marR="65225" marT="9059" marB="0"/>
                </a:tc>
                <a:extLst>
                  <a:ext uri="{0D108BD9-81ED-4DB2-BD59-A6C34878D82A}">
                    <a16:rowId xmlns:a16="http://schemas.microsoft.com/office/drawing/2014/main" val="419407489"/>
                  </a:ext>
                </a:extLst>
              </a:tr>
              <a:tr h="0">
                <a:tc>
                  <a:txBody>
                    <a:bodyPr/>
                    <a:lstStyle/>
                    <a:p>
                      <a:pPr marL="0" marR="0">
                        <a:lnSpc>
                          <a:spcPct val="107000"/>
                        </a:lnSpc>
                        <a:spcBef>
                          <a:spcPts val="0"/>
                        </a:spcBef>
                        <a:spcAft>
                          <a:spcPts val="800"/>
                        </a:spcAft>
                      </a:pPr>
                      <a:r>
                        <a:rPr lang="en-US" sz="2800">
                          <a:effectLst/>
                        </a:rPr>
                        <a:t>NEEMA  LINUS  MALYA</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5225" marR="65225" marT="9059" marB="0"/>
                </a:tc>
                <a:tc>
                  <a:txBody>
                    <a:bodyPr/>
                    <a:lstStyle/>
                    <a:p>
                      <a:pPr marL="0" marR="0">
                        <a:lnSpc>
                          <a:spcPct val="107000"/>
                        </a:lnSpc>
                        <a:spcBef>
                          <a:spcPts val="0"/>
                        </a:spcBef>
                        <a:spcAft>
                          <a:spcPts val="800"/>
                        </a:spcAft>
                      </a:pPr>
                      <a:r>
                        <a:rPr lang="en-US" sz="2800">
                          <a:effectLst/>
                        </a:rPr>
                        <a:t>NIT/BIT/2024/2659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5225" marR="65225" marT="9059" marB="0"/>
                </a:tc>
                <a:extLst>
                  <a:ext uri="{0D108BD9-81ED-4DB2-BD59-A6C34878D82A}">
                    <a16:rowId xmlns:a16="http://schemas.microsoft.com/office/drawing/2014/main" val="1485873798"/>
                  </a:ext>
                </a:extLst>
              </a:tr>
              <a:tr h="483177">
                <a:tc>
                  <a:txBody>
                    <a:bodyPr/>
                    <a:lstStyle/>
                    <a:p>
                      <a:pPr marL="0" marR="0">
                        <a:lnSpc>
                          <a:spcPct val="107000"/>
                        </a:lnSpc>
                        <a:spcBef>
                          <a:spcPts val="0"/>
                        </a:spcBef>
                        <a:spcAft>
                          <a:spcPts val="800"/>
                        </a:spcAft>
                      </a:pPr>
                      <a:r>
                        <a:rPr lang="en-US" sz="2800" dirty="0">
                          <a:effectLst/>
                        </a:rPr>
                        <a:t>ANETI  T WILIMOTI</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5225" marR="65225" marT="9059" marB="0"/>
                </a:tc>
                <a:tc>
                  <a:txBody>
                    <a:bodyPr/>
                    <a:lstStyle/>
                    <a:p>
                      <a:pPr marL="0" marR="0">
                        <a:lnSpc>
                          <a:spcPct val="107000"/>
                        </a:lnSpc>
                        <a:spcBef>
                          <a:spcPts val="0"/>
                        </a:spcBef>
                        <a:spcAft>
                          <a:spcPts val="800"/>
                        </a:spcAft>
                      </a:pPr>
                      <a:r>
                        <a:rPr lang="en-US" sz="2800">
                          <a:effectLst/>
                        </a:rPr>
                        <a:t>NIT/BIT/2024/2389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5225" marR="65225" marT="9059" marB="0"/>
                </a:tc>
                <a:extLst>
                  <a:ext uri="{0D108BD9-81ED-4DB2-BD59-A6C34878D82A}">
                    <a16:rowId xmlns:a16="http://schemas.microsoft.com/office/drawing/2014/main" val="3604658032"/>
                  </a:ext>
                </a:extLst>
              </a:tr>
              <a:tr h="483177">
                <a:tc>
                  <a:txBody>
                    <a:bodyPr/>
                    <a:lstStyle/>
                    <a:p>
                      <a:pPr marL="0" marR="0">
                        <a:lnSpc>
                          <a:spcPct val="107000"/>
                        </a:lnSpc>
                        <a:spcBef>
                          <a:spcPts val="0"/>
                        </a:spcBef>
                        <a:spcAft>
                          <a:spcPts val="800"/>
                        </a:spcAft>
                      </a:pPr>
                      <a:r>
                        <a:rPr lang="en-US" sz="2800" dirty="0">
                          <a:effectLst/>
                        </a:rPr>
                        <a:t>VICENT  I  BALITAZALI</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5225" marR="65225" marT="9059" marB="0"/>
                </a:tc>
                <a:tc>
                  <a:txBody>
                    <a:bodyPr/>
                    <a:lstStyle/>
                    <a:p>
                      <a:pPr marL="0" marR="0">
                        <a:lnSpc>
                          <a:spcPct val="107000"/>
                        </a:lnSpc>
                        <a:spcBef>
                          <a:spcPts val="0"/>
                        </a:spcBef>
                        <a:spcAft>
                          <a:spcPts val="800"/>
                        </a:spcAft>
                      </a:pPr>
                      <a:r>
                        <a:rPr lang="en-US" sz="2800">
                          <a:effectLst/>
                        </a:rPr>
                        <a:t>NIT/BIT/2024/2509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5225" marR="65225" marT="9059" marB="0"/>
                </a:tc>
                <a:extLst>
                  <a:ext uri="{0D108BD9-81ED-4DB2-BD59-A6C34878D82A}">
                    <a16:rowId xmlns:a16="http://schemas.microsoft.com/office/drawing/2014/main" val="920235590"/>
                  </a:ext>
                </a:extLst>
              </a:tr>
              <a:tr h="483177">
                <a:tc>
                  <a:txBody>
                    <a:bodyPr/>
                    <a:lstStyle/>
                    <a:p>
                      <a:pPr marL="0" marR="0">
                        <a:lnSpc>
                          <a:spcPct val="107000"/>
                        </a:lnSpc>
                        <a:spcBef>
                          <a:spcPts val="0"/>
                        </a:spcBef>
                        <a:spcAft>
                          <a:spcPts val="800"/>
                        </a:spcAft>
                      </a:pPr>
                      <a:r>
                        <a:rPr lang="en-US" sz="2800">
                          <a:effectLst/>
                        </a:rPr>
                        <a:t>EDSON  ROBERT</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5225" marR="65225" marT="9059" marB="0"/>
                </a:tc>
                <a:tc>
                  <a:txBody>
                    <a:bodyPr/>
                    <a:lstStyle/>
                    <a:p>
                      <a:pPr marL="0" marR="0">
                        <a:lnSpc>
                          <a:spcPct val="107000"/>
                        </a:lnSpc>
                        <a:spcBef>
                          <a:spcPts val="0"/>
                        </a:spcBef>
                        <a:spcAft>
                          <a:spcPts val="800"/>
                        </a:spcAft>
                      </a:pPr>
                      <a:r>
                        <a:rPr lang="en-US" sz="2800">
                          <a:effectLst/>
                        </a:rPr>
                        <a:t>NIT/BIT/2024/2639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5225" marR="65225" marT="9059" marB="0"/>
                </a:tc>
                <a:extLst>
                  <a:ext uri="{0D108BD9-81ED-4DB2-BD59-A6C34878D82A}">
                    <a16:rowId xmlns:a16="http://schemas.microsoft.com/office/drawing/2014/main" val="1853222812"/>
                  </a:ext>
                </a:extLst>
              </a:tr>
              <a:tr h="483177">
                <a:tc>
                  <a:txBody>
                    <a:bodyPr/>
                    <a:lstStyle/>
                    <a:p>
                      <a:pPr marL="0" marR="0">
                        <a:lnSpc>
                          <a:spcPct val="107000"/>
                        </a:lnSpc>
                        <a:spcBef>
                          <a:spcPts val="0"/>
                        </a:spcBef>
                        <a:spcAft>
                          <a:spcPts val="800"/>
                        </a:spcAft>
                      </a:pPr>
                      <a:r>
                        <a:rPr lang="en-US" sz="2800">
                          <a:effectLst/>
                        </a:rPr>
                        <a:t>ZENGO  J  JINEGO</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5225" marR="65225" marT="9059" marB="0"/>
                </a:tc>
                <a:tc>
                  <a:txBody>
                    <a:bodyPr/>
                    <a:lstStyle/>
                    <a:p>
                      <a:pPr marL="0" marR="0">
                        <a:lnSpc>
                          <a:spcPct val="107000"/>
                        </a:lnSpc>
                        <a:spcBef>
                          <a:spcPts val="0"/>
                        </a:spcBef>
                        <a:spcAft>
                          <a:spcPts val="800"/>
                        </a:spcAft>
                      </a:pPr>
                      <a:r>
                        <a:rPr lang="en-US" sz="2800">
                          <a:effectLst/>
                        </a:rPr>
                        <a:t>NIT/BIT/2024/2649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5225" marR="65225" marT="9059" marB="0"/>
                </a:tc>
                <a:extLst>
                  <a:ext uri="{0D108BD9-81ED-4DB2-BD59-A6C34878D82A}">
                    <a16:rowId xmlns:a16="http://schemas.microsoft.com/office/drawing/2014/main" val="3563525309"/>
                  </a:ext>
                </a:extLst>
              </a:tr>
              <a:tr h="483177">
                <a:tc>
                  <a:txBody>
                    <a:bodyPr/>
                    <a:lstStyle/>
                    <a:p>
                      <a:pPr marL="0" marR="0">
                        <a:lnSpc>
                          <a:spcPct val="107000"/>
                        </a:lnSpc>
                        <a:spcBef>
                          <a:spcPts val="0"/>
                        </a:spcBef>
                        <a:spcAft>
                          <a:spcPts val="800"/>
                        </a:spcAft>
                      </a:pPr>
                      <a:r>
                        <a:rPr lang="en-US" sz="2800">
                          <a:effectLst/>
                        </a:rPr>
                        <a:t>HAPPINESS  V  NJAU</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5225" marR="65225" marT="9059" marB="0"/>
                </a:tc>
                <a:tc>
                  <a:txBody>
                    <a:bodyPr/>
                    <a:lstStyle/>
                    <a:p>
                      <a:pPr marL="0" marR="0">
                        <a:lnSpc>
                          <a:spcPct val="107000"/>
                        </a:lnSpc>
                        <a:spcBef>
                          <a:spcPts val="0"/>
                        </a:spcBef>
                        <a:spcAft>
                          <a:spcPts val="800"/>
                        </a:spcAft>
                      </a:pPr>
                      <a:r>
                        <a:rPr lang="en-US" sz="2800" dirty="0">
                          <a:effectLst/>
                        </a:rPr>
                        <a:t>NIT/BIT/2024/2629</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5225" marR="65225" marT="9059" marB="0"/>
                </a:tc>
                <a:extLst>
                  <a:ext uri="{0D108BD9-81ED-4DB2-BD59-A6C34878D82A}">
                    <a16:rowId xmlns:a16="http://schemas.microsoft.com/office/drawing/2014/main" val="1849823476"/>
                  </a:ext>
                </a:extLst>
              </a:tr>
            </a:tbl>
          </a:graphicData>
        </a:graphic>
      </p:graphicFrame>
      <p:sp>
        <p:nvSpPr>
          <p:cNvPr id="5" name="Rectangle 2">
            <a:extLst>
              <a:ext uri="{FF2B5EF4-FFF2-40B4-BE49-F238E27FC236}">
                <a16:creationId xmlns:a16="http://schemas.microsoft.com/office/drawing/2014/main" id="{BF691979-B997-4C78-8093-26AAD53B1AB5}"/>
              </a:ext>
            </a:extLst>
          </p:cNvPr>
          <p:cNvSpPr>
            <a:spLocks noChangeArrowheads="1"/>
          </p:cNvSpPr>
          <p:nvPr/>
        </p:nvSpPr>
        <p:spPr bwMode="auto">
          <a:xfrm>
            <a:off x="2122488" y="18256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6" name="Rectangle 5">
            <a:extLst>
              <a:ext uri="{FF2B5EF4-FFF2-40B4-BE49-F238E27FC236}">
                <a16:creationId xmlns:a16="http://schemas.microsoft.com/office/drawing/2014/main" id="{BDBBD535-7C87-42D6-8A08-A01085FCF2D4}"/>
              </a:ext>
            </a:extLst>
          </p:cNvPr>
          <p:cNvSpPr>
            <a:spLocks noGrp="1" noChangeArrowheads="1"/>
          </p:cNvSpPr>
          <p:nvPr/>
        </p:nvSpPr>
        <p:spPr bwMode="auto">
          <a:xfrm flipV="1">
            <a:off x="3036888" y="7597775"/>
            <a:ext cx="7242175" cy="7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4857570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32F73-B8B6-45D8-A28D-5BB91293C94A}"/>
              </a:ext>
            </a:extLst>
          </p:cNvPr>
          <p:cNvSpPr>
            <a:spLocks noGrp="1"/>
          </p:cNvSpPr>
          <p:nvPr>
            <p:ph type="title"/>
          </p:nvPr>
        </p:nvSpPr>
        <p:spPr>
          <a:xfrm>
            <a:off x="353548" y="0"/>
            <a:ext cx="10515600" cy="914399"/>
          </a:xfrm>
        </p:spPr>
        <p:txBody>
          <a:bodyPr>
            <a:normAutofit fontScale="90000"/>
          </a:bodyPr>
          <a:lstStyle/>
          <a:p>
            <a:r>
              <a:rPr lang="en-US" dirty="0"/>
              <a:t>PARTICIPANTS</a:t>
            </a:r>
          </a:p>
        </p:txBody>
      </p:sp>
      <p:graphicFrame>
        <p:nvGraphicFramePr>
          <p:cNvPr id="4" name="Table 3">
            <a:extLst>
              <a:ext uri="{FF2B5EF4-FFF2-40B4-BE49-F238E27FC236}">
                <a16:creationId xmlns:a16="http://schemas.microsoft.com/office/drawing/2014/main" id="{4848DC35-8B49-4E9E-8B12-40D9858F078A}"/>
              </a:ext>
            </a:extLst>
          </p:cNvPr>
          <p:cNvGraphicFramePr>
            <a:graphicFrameLocks noGrp="1"/>
          </p:cNvGraphicFramePr>
          <p:nvPr>
            <p:extLst>
              <p:ext uri="{D42A27DB-BD31-4B8C-83A1-F6EECF244321}">
                <p14:modId xmlns:p14="http://schemas.microsoft.com/office/powerpoint/2010/main" val="2359723862"/>
              </p:ext>
            </p:extLst>
          </p:nvPr>
        </p:nvGraphicFramePr>
        <p:xfrm>
          <a:off x="353549" y="914397"/>
          <a:ext cx="11392974" cy="5641152"/>
        </p:xfrm>
        <a:graphic>
          <a:graphicData uri="http://schemas.openxmlformats.org/drawingml/2006/table">
            <a:tbl>
              <a:tblPr firstRow="1" firstCol="1" bandRow="1">
                <a:tableStyleId>{5940675A-B579-460E-94D1-54222C63F5DA}</a:tableStyleId>
              </a:tblPr>
              <a:tblGrid>
                <a:gridCol w="5425225">
                  <a:extLst>
                    <a:ext uri="{9D8B030D-6E8A-4147-A177-3AD203B41FA5}">
                      <a16:colId xmlns:a16="http://schemas.microsoft.com/office/drawing/2014/main" val="1213076166"/>
                    </a:ext>
                  </a:extLst>
                </a:gridCol>
                <a:gridCol w="5967749">
                  <a:extLst>
                    <a:ext uri="{9D8B030D-6E8A-4147-A177-3AD203B41FA5}">
                      <a16:colId xmlns:a16="http://schemas.microsoft.com/office/drawing/2014/main" val="1386850469"/>
                    </a:ext>
                  </a:extLst>
                </a:gridCol>
              </a:tblGrid>
              <a:tr h="512832">
                <a:tc>
                  <a:txBody>
                    <a:bodyPr/>
                    <a:lstStyle/>
                    <a:p>
                      <a:pPr marL="0" marR="0">
                        <a:lnSpc>
                          <a:spcPct val="107000"/>
                        </a:lnSpc>
                        <a:spcBef>
                          <a:spcPts val="0"/>
                        </a:spcBef>
                        <a:spcAft>
                          <a:spcPts val="800"/>
                        </a:spcAft>
                      </a:pPr>
                      <a:r>
                        <a:rPr lang="en-US" sz="2800">
                          <a:effectLst/>
                        </a:rPr>
                        <a:t> NAMES</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3386" marR="63386" marT="8804" marB="0"/>
                </a:tc>
                <a:tc>
                  <a:txBody>
                    <a:bodyPr/>
                    <a:lstStyle/>
                    <a:p>
                      <a:pPr marL="0" marR="0">
                        <a:lnSpc>
                          <a:spcPct val="107000"/>
                        </a:lnSpc>
                        <a:spcBef>
                          <a:spcPts val="0"/>
                        </a:spcBef>
                        <a:spcAft>
                          <a:spcPts val="800"/>
                        </a:spcAft>
                      </a:pPr>
                      <a:r>
                        <a:rPr lang="en-US" sz="2800">
                          <a:effectLst/>
                        </a:rPr>
                        <a:t> REGISTRATION NUMBERS</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3386" marR="63386" marT="8804" marB="0"/>
                </a:tc>
                <a:extLst>
                  <a:ext uri="{0D108BD9-81ED-4DB2-BD59-A6C34878D82A}">
                    <a16:rowId xmlns:a16="http://schemas.microsoft.com/office/drawing/2014/main" val="1748983819"/>
                  </a:ext>
                </a:extLst>
              </a:tr>
              <a:tr h="512832">
                <a:tc>
                  <a:txBody>
                    <a:bodyPr/>
                    <a:lstStyle/>
                    <a:p>
                      <a:pPr marL="0" marR="0">
                        <a:lnSpc>
                          <a:spcPct val="107000"/>
                        </a:lnSpc>
                        <a:spcBef>
                          <a:spcPts val="0"/>
                        </a:spcBef>
                        <a:spcAft>
                          <a:spcPts val="800"/>
                        </a:spcAft>
                      </a:pPr>
                      <a:r>
                        <a:rPr lang="en-US" sz="2800">
                          <a:effectLst/>
                        </a:rPr>
                        <a:t>ROBERT  D  ROBERTY</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3386" marR="63386" marT="8804" marB="0"/>
                </a:tc>
                <a:tc>
                  <a:txBody>
                    <a:bodyPr/>
                    <a:lstStyle/>
                    <a:p>
                      <a:pPr marL="0" marR="0">
                        <a:lnSpc>
                          <a:spcPct val="107000"/>
                        </a:lnSpc>
                        <a:spcBef>
                          <a:spcPts val="0"/>
                        </a:spcBef>
                        <a:spcAft>
                          <a:spcPts val="800"/>
                        </a:spcAft>
                      </a:pPr>
                      <a:r>
                        <a:rPr lang="en-US" sz="2800">
                          <a:effectLst/>
                        </a:rPr>
                        <a:t>NIT/BIT/2024/2079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3386" marR="63386" marT="8804" marB="0"/>
                </a:tc>
                <a:extLst>
                  <a:ext uri="{0D108BD9-81ED-4DB2-BD59-A6C34878D82A}">
                    <a16:rowId xmlns:a16="http://schemas.microsoft.com/office/drawing/2014/main" val="902882360"/>
                  </a:ext>
                </a:extLst>
              </a:tr>
              <a:tr h="512832">
                <a:tc>
                  <a:txBody>
                    <a:bodyPr/>
                    <a:lstStyle/>
                    <a:p>
                      <a:pPr marL="0" marR="0">
                        <a:lnSpc>
                          <a:spcPct val="107000"/>
                        </a:lnSpc>
                        <a:spcBef>
                          <a:spcPts val="0"/>
                        </a:spcBef>
                        <a:spcAft>
                          <a:spcPts val="800"/>
                        </a:spcAft>
                      </a:pPr>
                      <a:r>
                        <a:rPr lang="en-US" sz="2800">
                          <a:effectLst/>
                        </a:rPr>
                        <a:t>NOVATUSI  S  AUGUSTINO</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3386" marR="63386" marT="8804" marB="0"/>
                </a:tc>
                <a:tc>
                  <a:txBody>
                    <a:bodyPr/>
                    <a:lstStyle/>
                    <a:p>
                      <a:pPr marL="0" marR="0">
                        <a:lnSpc>
                          <a:spcPct val="107000"/>
                        </a:lnSpc>
                        <a:spcBef>
                          <a:spcPts val="0"/>
                        </a:spcBef>
                        <a:spcAft>
                          <a:spcPts val="800"/>
                        </a:spcAft>
                      </a:pPr>
                      <a:r>
                        <a:rPr lang="en-US" sz="2800">
                          <a:effectLst/>
                        </a:rPr>
                        <a:t>NIT/BIT/2024/2619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3386" marR="63386" marT="8804" marB="0"/>
                </a:tc>
                <a:extLst>
                  <a:ext uri="{0D108BD9-81ED-4DB2-BD59-A6C34878D82A}">
                    <a16:rowId xmlns:a16="http://schemas.microsoft.com/office/drawing/2014/main" val="4007623772"/>
                  </a:ext>
                </a:extLst>
              </a:tr>
              <a:tr h="512832">
                <a:tc>
                  <a:txBody>
                    <a:bodyPr/>
                    <a:lstStyle/>
                    <a:p>
                      <a:pPr marL="0" marR="0">
                        <a:lnSpc>
                          <a:spcPct val="107000"/>
                        </a:lnSpc>
                        <a:spcBef>
                          <a:spcPts val="0"/>
                        </a:spcBef>
                        <a:spcAft>
                          <a:spcPts val="800"/>
                        </a:spcAft>
                      </a:pPr>
                      <a:r>
                        <a:rPr lang="en-US" sz="2800">
                          <a:effectLst/>
                        </a:rPr>
                        <a:t>HAWA  S  AHMADI</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3386" marR="63386" marT="8804" marB="0"/>
                </a:tc>
                <a:tc>
                  <a:txBody>
                    <a:bodyPr/>
                    <a:lstStyle/>
                    <a:p>
                      <a:pPr marL="0" marR="0">
                        <a:lnSpc>
                          <a:spcPct val="107000"/>
                        </a:lnSpc>
                        <a:spcBef>
                          <a:spcPts val="0"/>
                        </a:spcBef>
                        <a:spcAft>
                          <a:spcPts val="800"/>
                        </a:spcAft>
                      </a:pPr>
                      <a:r>
                        <a:rPr lang="en-US" sz="2800" dirty="0">
                          <a:effectLst/>
                        </a:rPr>
                        <a:t>NIT/BIT/2024/2419</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3386" marR="63386" marT="8804" marB="0"/>
                </a:tc>
                <a:extLst>
                  <a:ext uri="{0D108BD9-81ED-4DB2-BD59-A6C34878D82A}">
                    <a16:rowId xmlns:a16="http://schemas.microsoft.com/office/drawing/2014/main" val="475150590"/>
                  </a:ext>
                </a:extLst>
              </a:tr>
              <a:tr h="512832">
                <a:tc>
                  <a:txBody>
                    <a:bodyPr/>
                    <a:lstStyle/>
                    <a:p>
                      <a:pPr marL="0" marR="0">
                        <a:lnSpc>
                          <a:spcPct val="107000"/>
                        </a:lnSpc>
                        <a:spcBef>
                          <a:spcPts val="0"/>
                        </a:spcBef>
                        <a:spcAft>
                          <a:spcPts val="800"/>
                        </a:spcAft>
                      </a:pPr>
                      <a:r>
                        <a:rPr lang="en-US" sz="2800" dirty="0">
                          <a:effectLst/>
                        </a:rPr>
                        <a:t>KALEBO  G  MBEYANJE</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3386" marR="63386" marT="8804" marB="0"/>
                </a:tc>
                <a:tc>
                  <a:txBody>
                    <a:bodyPr/>
                    <a:lstStyle/>
                    <a:p>
                      <a:pPr marL="0" marR="0">
                        <a:lnSpc>
                          <a:spcPct val="107000"/>
                        </a:lnSpc>
                        <a:spcBef>
                          <a:spcPts val="0"/>
                        </a:spcBef>
                        <a:spcAft>
                          <a:spcPts val="800"/>
                        </a:spcAft>
                      </a:pPr>
                      <a:r>
                        <a:rPr lang="en-US" sz="2800">
                          <a:effectLst/>
                        </a:rPr>
                        <a:t>NIT/BIT/2024/2569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3386" marR="63386" marT="8804" marB="0"/>
                </a:tc>
                <a:extLst>
                  <a:ext uri="{0D108BD9-81ED-4DB2-BD59-A6C34878D82A}">
                    <a16:rowId xmlns:a16="http://schemas.microsoft.com/office/drawing/2014/main" val="3067935086"/>
                  </a:ext>
                </a:extLst>
              </a:tr>
              <a:tr h="512832">
                <a:tc>
                  <a:txBody>
                    <a:bodyPr/>
                    <a:lstStyle/>
                    <a:p>
                      <a:pPr marL="0" marR="0">
                        <a:lnSpc>
                          <a:spcPct val="107000"/>
                        </a:lnSpc>
                        <a:spcBef>
                          <a:spcPts val="0"/>
                        </a:spcBef>
                        <a:spcAft>
                          <a:spcPts val="800"/>
                        </a:spcAft>
                      </a:pPr>
                      <a:r>
                        <a:rPr lang="en-US" sz="2800">
                          <a:effectLst/>
                        </a:rPr>
                        <a:t>SIKUDHANI  I  MNDOLWA</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3386" marR="63386" marT="8804" marB="0"/>
                </a:tc>
                <a:tc>
                  <a:txBody>
                    <a:bodyPr/>
                    <a:lstStyle/>
                    <a:p>
                      <a:pPr marL="0" marR="0">
                        <a:lnSpc>
                          <a:spcPct val="107000"/>
                        </a:lnSpc>
                        <a:spcBef>
                          <a:spcPts val="0"/>
                        </a:spcBef>
                        <a:spcAft>
                          <a:spcPts val="800"/>
                        </a:spcAft>
                      </a:pPr>
                      <a:r>
                        <a:rPr lang="en-US" sz="2800">
                          <a:effectLst/>
                        </a:rPr>
                        <a:t>NIT/BIT/2024/2549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3386" marR="63386" marT="8804" marB="0"/>
                </a:tc>
                <a:extLst>
                  <a:ext uri="{0D108BD9-81ED-4DB2-BD59-A6C34878D82A}">
                    <a16:rowId xmlns:a16="http://schemas.microsoft.com/office/drawing/2014/main" val="1299897395"/>
                  </a:ext>
                </a:extLst>
              </a:tr>
              <a:tr h="512832">
                <a:tc>
                  <a:txBody>
                    <a:bodyPr/>
                    <a:lstStyle/>
                    <a:p>
                      <a:pPr marL="0" marR="0">
                        <a:lnSpc>
                          <a:spcPct val="107000"/>
                        </a:lnSpc>
                        <a:spcBef>
                          <a:spcPts val="0"/>
                        </a:spcBef>
                        <a:spcAft>
                          <a:spcPts val="800"/>
                        </a:spcAft>
                      </a:pPr>
                      <a:r>
                        <a:rPr lang="en-US" sz="2800">
                          <a:effectLst/>
                        </a:rPr>
                        <a:t>JAPHET  J  SENGATI</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3386" marR="63386" marT="8804" marB="0"/>
                </a:tc>
                <a:tc>
                  <a:txBody>
                    <a:bodyPr/>
                    <a:lstStyle/>
                    <a:p>
                      <a:pPr marL="0" marR="0">
                        <a:lnSpc>
                          <a:spcPct val="107000"/>
                        </a:lnSpc>
                        <a:spcBef>
                          <a:spcPts val="0"/>
                        </a:spcBef>
                        <a:spcAft>
                          <a:spcPts val="800"/>
                        </a:spcAft>
                      </a:pPr>
                      <a:r>
                        <a:rPr lang="en-US" sz="2800">
                          <a:effectLst/>
                        </a:rPr>
                        <a:t>NIT/BIT/2024/2529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3386" marR="63386" marT="8804" marB="0"/>
                </a:tc>
                <a:extLst>
                  <a:ext uri="{0D108BD9-81ED-4DB2-BD59-A6C34878D82A}">
                    <a16:rowId xmlns:a16="http://schemas.microsoft.com/office/drawing/2014/main" val="2171095755"/>
                  </a:ext>
                </a:extLst>
              </a:tr>
              <a:tr h="512832">
                <a:tc>
                  <a:txBody>
                    <a:bodyPr/>
                    <a:lstStyle/>
                    <a:p>
                      <a:pPr marL="0" marR="0">
                        <a:lnSpc>
                          <a:spcPct val="107000"/>
                        </a:lnSpc>
                        <a:spcBef>
                          <a:spcPts val="0"/>
                        </a:spcBef>
                        <a:spcAft>
                          <a:spcPts val="800"/>
                        </a:spcAft>
                      </a:pPr>
                      <a:r>
                        <a:rPr lang="en-US" sz="2800">
                          <a:effectLst/>
                        </a:rPr>
                        <a:t>ABDUL  F  ABDALLAH</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3386" marR="63386" marT="8804" marB="0"/>
                </a:tc>
                <a:tc>
                  <a:txBody>
                    <a:bodyPr/>
                    <a:lstStyle/>
                    <a:p>
                      <a:pPr marL="0" marR="0">
                        <a:lnSpc>
                          <a:spcPct val="107000"/>
                        </a:lnSpc>
                        <a:spcBef>
                          <a:spcPts val="0"/>
                        </a:spcBef>
                        <a:spcAft>
                          <a:spcPts val="800"/>
                        </a:spcAft>
                      </a:pPr>
                      <a:r>
                        <a:rPr lang="en-US" sz="2800" dirty="0">
                          <a:effectLst/>
                        </a:rPr>
                        <a:t>NIT/BIT/2024/2699</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3386" marR="63386" marT="8804" marB="0"/>
                </a:tc>
                <a:extLst>
                  <a:ext uri="{0D108BD9-81ED-4DB2-BD59-A6C34878D82A}">
                    <a16:rowId xmlns:a16="http://schemas.microsoft.com/office/drawing/2014/main" val="2888353562"/>
                  </a:ext>
                </a:extLst>
              </a:tr>
              <a:tr h="512832">
                <a:tc>
                  <a:txBody>
                    <a:bodyPr/>
                    <a:lstStyle/>
                    <a:p>
                      <a:pPr marL="0" marR="0">
                        <a:lnSpc>
                          <a:spcPct val="107000"/>
                        </a:lnSpc>
                        <a:spcBef>
                          <a:spcPts val="0"/>
                        </a:spcBef>
                        <a:spcAft>
                          <a:spcPts val="800"/>
                        </a:spcAft>
                      </a:pPr>
                      <a:r>
                        <a:rPr lang="en-US" sz="2800">
                          <a:effectLst/>
                        </a:rPr>
                        <a:t>VICENT  P  JOSHUA</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3386" marR="63386" marT="8804" marB="0"/>
                </a:tc>
                <a:tc>
                  <a:txBody>
                    <a:bodyPr/>
                    <a:lstStyle/>
                    <a:p>
                      <a:pPr marL="0" marR="0">
                        <a:lnSpc>
                          <a:spcPct val="107000"/>
                        </a:lnSpc>
                        <a:spcBef>
                          <a:spcPts val="0"/>
                        </a:spcBef>
                        <a:spcAft>
                          <a:spcPts val="800"/>
                        </a:spcAft>
                      </a:pPr>
                      <a:r>
                        <a:rPr lang="en-US" sz="2800">
                          <a:effectLst/>
                        </a:rPr>
                        <a:t>NIT/BIT/2024/2489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3386" marR="63386" marT="8804" marB="0"/>
                </a:tc>
                <a:extLst>
                  <a:ext uri="{0D108BD9-81ED-4DB2-BD59-A6C34878D82A}">
                    <a16:rowId xmlns:a16="http://schemas.microsoft.com/office/drawing/2014/main" val="727687197"/>
                  </a:ext>
                </a:extLst>
              </a:tr>
              <a:tr h="512832">
                <a:tc>
                  <a:txBody>
                    <a:bodyPr/>
                    <a:lstStyle/>
                    <a:p>
                      <a:pPr marL="0" marR="0">
                        <a:lnSpc>
                          <a:spcPct val="107000"/>
                        </a:lnSpc>
                        <a:spcBef>
                          <a:spcPts val="0"/>
                        </a:spcBef>
                        <a:spcAft>
                          <a:spcPts val="800"/>
                        </a:spcAft>
                      </a:pPr>
                      <a:r>
                        <a:rPr lang="en-US" sz="2800">
                          <a:effectLst/>
                        </a:rPr>
                        <a:t>YUSUPH  S SANGA</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3386" marR="63386" marT="8804" marB="0"/>
                </a:tc>
                <a:tc>
                  <a:txBody>
                    <a:bodyPr/>
                    <a:lstStyle/>
                    <a:p>
                      <a:pPr marL="0" marR="0">
                        <a:lnSpc>
                          <a:spcPct val="107000"/>
                        </a:lnSpc>
                        <a:spcBef>
                          <a:spcPts val="0"/>
                        </a:spcBef>
                        <a:spcAft>
                          <a:spcPts val="800"/>
                        </a:spcAft>
                      </a:pPr>
                      <a:r>
                        <a:rPr lang="en-US" sz="2800">
                          <a:effectLst/>
                        </a:rPr>
                        <a:t>NIT/BIT/2024/2409</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3386" marR="63386" marT="8804" marB="0"/>
                </a:tc>
                <a:extLst>
                  <a:ext uri="{0D108BD9-81ED-4DB2-BD59-A6C34878D82A}">
                    <a16:rowId xmlns:a16="http://schemas.microsoft.com/office/drawing/2014/main" val="2035534505"/>
                  </a:ext>
                </a:extLst>
              </a:tr>
              <a:tr h="512832">
                <a:tc>
                  <a:txBody>
                    <a:bodyPr/>
                    <a:lstStyle/>
                    <a:p>
                      <a:pPr marL="0" marR="0">
                        <a:lnSpc>
                          <a:spcPct val="107000"/>
                        </a:lnSpc>
                        <a:spcBef>
                          <a:spcPts val="0"/>
                        </a:spcBef>
                        <a:spcAft>
                          <a:spcPts val="800"/>
                        </a:spcAft>
                      </a:pPr>
                      <a:r>
                        <a:rPr lang="en-US" sz="2800">
                          <a:effectLst/>
                        </a:rPr>
                        <a:t>JOSHUA  A. AKYOO</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63386" marR="63386" marT="8804" marB="0"/>
                </a:tc>
                <a:tc>
                  <a:txBody>
                    <a:bodyPr/>
                    <a:lstStyle/>
                    <a:p>
                      <a:pPr marL="0" marR="0">
                        <a:lnSpc>
                          <a:spcPct val="107000"/>
                        </a:lnSpc>
                        <a:spcBef>
                          <a:spcPts val="0"/>
                        </a:spcBef>
                        <a:spcAft>
                          <a:spcPts val="800"/>
                        </a:spcAft>
                      </a:pPr>
                      <a:r>
                        <a:rPr lang="en-US" sz="2800" dirty="0">
                          <a:effectLst/>
                        </a:rPr>
                        <a:t>NIT/BIT/2024/2429</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63386" marR="63386" marT="8804" marB="0"/>
                </a:tc>
                <a:extLst>
                  <a:ext uri="{0D108BD9-81ED-4DB2-BD59-A6C34878D82A}">
                    <a16:rowId xmlns:a16="http://schemas.microsoft.com/office/drawing/2014/main" val="723888947"/>
                  </a:ext>
                </a:extLst>
              </a:tr>
            </a:tbl>
          </a:graphicData>
        </a:graphic>
      </p:graphicFrame>
    </p:spTree>
    <p:extLst>
      <p:ext uri="{BB962C8B-B14F-4D97-AF65-F5344CB8AC3E}">
        <p14:creationId xmlns:p14="http://schemas.microsoft.com/office/powerpoint/2010/main" val="190645140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B77A1-850C-4CFC-A541-E3D14D98EC6C}"/>
              </a:ext>
            </a:extLst>
          </p:cNvPr>
          <p:cNvSpPr>
            <a:spLocks noGrp="1"/>
          </p:cNvSpPr>
          <p:nvPr>
            <p:ph type="title"/>
          </p:nvPr>
        </p:nvSpPr>
        <p:spPr>
          <a:xfrm>
            <a:off x="817782" y="2222695"/>
            <a:ext cx="10515600" cy="1300973"/>
          </a:xfrm>
        </p:spPr>
        <p:txBody>
          <a:bodyPr/>
          <a:lstStyle/>
          <a:p>
            <a:pPr algn="ctr"/>
            <a:r>
              <a:rPr lang="en-US" b="1" dirty="0"/>
              <a:t>    </a:t>
            </a:r>
            <a:r>
              <a:rPr lang="en-US" b="1" dirty="0" smtClean="0"/>
              <a:t> </a:t>
            </a:r>
            <a:r>
              <a:rPr lang="en-US" b="1" dirty="0"/>
              <a:t>Void and pointer</a:t>
            </a:r>
          </a:p>
        </p:txBody>
      </p:sp>
    </p:spTree>
    <p:extLst>
      <p:ext uri="{BB962C8B-B14F-4D97-AF65-F5344CB8AC3E}">
        <p14:creationId xmlns:p14="http://schemas.microsoft.com/office/powerpoint/2010/main" val="30592318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1983E-34F7-B3D5-A245-9E1BB4FD45B6}"/>
              </a:ext>
            </a:extLst>
          </p:cNvPr>
          <p:cNvSpPr>
            <a:spLocks noGrp="1"/>
          </p:cNvSpPr>
          <p:nvPr>
            <p:ph type="title"/>
          </p:nvPr>
        </p:nvSpPr>
        <p:spPr/>
        <p:txBody>
          <a:bodyPr/>
          <a:lstStyle/>
          <a:p>
            <a:r>
              <a:rPr lang="en-US" dirty="0"/>
              <a:t>C  POINTERS</a:t>
            </a:r>
          </a:p>
        </p:txBody>
      </p:sp>
      <p:sp>
        <p:nvSpPr>
          <p:cNvPr id="3" name="Text Placeholder 2">
            <a:extLst>
              <a:ext uri="{FF2B5EF4-FFF2-40B4-BE49-F238E27FC236}">
                <a16:creationId xmlns:a16="http://schemas.microsoft.com/office/drawing/2014/main" id="{2BEA82E2-0AE3-25B2-CA36-5B3E88A25583}"/>
              </a:ext>
            </a:extLst>
          </p:cNvPr>
          <p:cNvSpPr>
            <a:spLocks noGrp="1"/>
          </p:cNvSpPr>
          <p:nvPr>
            <p:ph type="body" idx="1"/>
          </p:nvPr>
        </p:nvSpPr>
        <p:spPr/>
        <p:txBody>
          <a:bodyPr>
            <a:normAutofit lnSpcReduction="10000"/>
          </a:bodyPr>
          <a:lstStyle/>
          <a:p>
            <a:r>
              <a:rPr lang="en-US" b="1" dirty="0">
                <a:solidFill>
                  <a:schemeClr val="tx1"/>
                </a:solidFill>
              </a:rPr>
              <a:t>A pointer is a variable that stores the memory address of another variable as its value.</a:t>
            </a:r>
          </a:p>
          <a:p>
            <a:r>
              <a:rPr lang="en-US" b="1" dirty="0">
                <a:solidFill>
                  <a:schemeClr val="tx1"/>
                </a:solidFill>
              </a:rPr>
              <a:t>A pointer variable points to a data type (like int) of the same type, and is created with the * operator.</a:t>
            </a:r>
          </a:p>
          <a:p>
            <a:endParaRPr lang="en-US" b="1" dirty="0">
              <a:solidFill>
                <a:schemeClr val="tx1"/>
              </a:solidFill>
            </a:endParaRPr>
          </a:p>
        </p:txBody>
      </p:sp>
    </p:spTree>
    <p:extLst>
      <p:ext uri="{BB962C8B-B14F-4D97-AF65-F5344CB8AC3E}">
        <p14:creationId xmlns:p14="http://schemas.microsoft.com/office/powerpoint/2010/main" val="90740929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10E00C-3DE5-2AB7-9598-9D0A37E971D4}"/>
              </a:ext>
            </a:extLst>
          </p:cNvPr>
          <p:cNvSpPr>
            <a:spLocks noGrp="1"/>
          </p:cNvSpPr>
          <p:nvPr>
            <p:ph type="ctrTitle"/>
          </p:nvPr>
        </p:nvSpPr>
        <p:spPr>
          <a:xfrm>
            <a:off x="1524000" y="427871"/>
            <a:ext cx="9144000" cy="816313"/>
          </a:xfrm>
        </p:spPr>
        <p:txBody>
          <a:bodyPr>
            <a:noAutofit/>
          </a:bodyPr>
          <a:lstStyle/>
          <a:p>
            <a:r>
              <a:rPr lang="en-US" dirty="0"/>
              <a:t> </a:t>
            </a:r>
          </a:p>
        </p:txBody>
      </p:sp>
      <p:sp>
        <p:nvSpPr>
          <p:cNvPr id="3" name="Subtitle 2">
            <a:extLst>
              <a:ext uri="{FF2B5EF4-FFF2-40B4-BE49-F238E27FC236}">
                <a16:creationId xmlns:a16="http://schemas.microsoft.com/office/drawing/2014/main" id="{AA8136F0-445B-0B02-9135-07D7573438AB}"/>
              </a:ext>
            </a:extLst>
          </p:cNvPr>
          <p:cNvSpPr>
            <a:spLocks noGrp="1"/>
          </p:cNvSpPr>
          <p:nvPr>
            <p:ph type="subTitle" idx="1"/>
          </p:nvPr>
        </p:nvSpPr>
        <p:spPr>
          <a:xfrm>
            <a:off x="434715" y="284813"/>
            <a:ext cx="11362543" cy="6145315"/>
          </a:xfrm>
        </p:spPr>
        <p:txBody>
          <a:bodyPr>
            <a:normAutofit/>
          </a:bodyPr>
          <a:lstStyle/>
          <a:p>
            <a:pPr algn="just"/>
            <a:r>
              <a:rPr lang="en-US" sz="3200" b="1" dirty="0"/>
              <a:t>The memory address </a:t>
            </a:r>
            <a:r>
              <a:rPr lang="en-US" sz="3200" dirty="0"/>
              <a:t>is the location of where the variable is stored on the computer.</a:t>
            </a:r>
          </a:p>
          <a:p>
            <a:pPr algn="just"/>
            <a:endParaRPr lang="en-US" sz="3200" dirty="0"/>
          </a:p>
          <a:p>
            <a:pPr algn="just"/>
            <a:r>
              <a:rPr lang="en-US" sz="3200" dirty="0"/>
              <a:t>When we assign a value to the variable, it is stored in the memory address.</a:t>
            </a:r>
          </a:p>
          <a:p>
            <a:pPr algn="just"/>
            <a:endParaRPr lang="en-US" sz="3200" dirty="0"/>
          </a:p>
          <a:p>
            <a:pPr algn="just"/>
            <a:r>
              <a:rPr lang="en-US" sz="3200" dirty="0"/>
              <a:t>To access it, we use the reference operator (&amp;), and the result represents where the variable is stored:</a:t>
            </a:r>
          </a:p>
          <a:p>
            <a:endParaRPr lang="en-US" dirty="0"/>
          </a:p>
        </p:txBody>
      </p:sp>
    </p:spTree>
    <p:extLst>
      <p:ext uri="{BB962C8B-B14F-4D97-AF65-F5344CB8AC3E}">
        <p14:creationId xmlns:p14="http://schemas.microsoft.com/office/powerpoint/2010/main" val="13426399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C457A-2C6B-9073-A2BD-9705E46B64FE}"/>
              </a:ext>
            </a:extLst>
          </p:cNvPr>
          <p:cNvSpPr>
            <a:spLocks noGrp="1"/>
          </p:cNvSpPr>
          <p:nvPr>
            <p:ph type="title"/>
          </p:nvPr>
        </p:nvSpPr>
        <p:spPr>
          <a:xfrm>
            <a:off x="133662" y="-264462"/>
            <a:ext cx="10515600" cy="1325563"/>
          </a:xfrm>
        </p:spPr>
        <p:txBody>
          <a:bodyPr/>
          <a:lstStyle/>
          <a:p>
            <a:r>
              <a:rPr lang="en-US" dirty="0"/>
              <a:t>EXAMPLE 1…</a:t>
            </a:r>
          </a:p>
        </p:txBody>
      </p:sp>
      <p:sp>
        <p:nvSpPr>
          <p:cNvPr id="3" name="Content Placeholder 2">
            <a:extLst>
              <a:ext uri="{FF2B5EF4-FFF2-40B4-BE49-F238E27FC236}">
                <a16:creationId xmlns:a16="http://schemas.microsoft.com/office/drawing/2014/main" id="{3257362A-6E12-CB41-4FF9-D7B4554DB595}"/>
              </a:ext>
            </a:extLst>
          </p:cNvPr>
          <p:cNvSpPr>
            <a:spLocks noGrp="1"/>
          </p:cNvSpPr>
          <p:nvPr>
            <p:ph idx="1"/>
          </p:nvPr>
        </p:nvSpPr>
        <p:spPr>
          <a:xfrm>
            <a:off x="238592" y="746333"/>
            <a:ext cx="11819745" cy="5909300"/>
          </a:xfrm>
        </p:spPr>
        <p:txBody>
          <a:bodyPr>
            <a:noAutofit/>
          </a:bodyPr>
          <a:lstStyle/>
          <a:p>
            <a:pPr marL="0" indent="0">
              <a:buNone/>
            </a:pPr>
            <a:r>
              <a:rPr lang="en-US" sz="3200" b="1" i="1" dirty="0"/>
              <a:t>#include &lt;</a:t>
            </a:r>
            <a:r>
              <a:rPr lang="en-US" sz="3200" b="1" i="1" dirty="0" err="1"/>
              <a:t>stdio.h</a:t>
            </a:r>
            <a:r>
              <a:rPr lang="en-US" sz="3200" b="1" i="1" dirty="0"/>
              <a:t>&gt;</a:t>
            </a:r>
          </a:p>
          <a:p>
            <a:pPr marL="0" indent="0">
              <a:buNone/>
            </a:pPr>
            <a:r>
              <a:rPr lang="en-US" sz="3200" b="1" i="1" dirty="0"/>
              <a:t>int main() {</a:t>
            </a:r>
          </a:p>
          <a:p>
            <a:pPr marL="0" indent="0">
              <a:buNone/>
            </a:pPr>
            <a:r>
              <a:rPr lang="en-US" sz="3200" b="1" i="1" dirty="0"/>
              <a:t>int Age = 20; </a:t>
            </a:r>
          </a:p>
          <a:p>
            <a:pPr marL="0" indent="0">
              <a:buNone/>
            </a:pPr>
            <a:r>
              <a:rPr lang="en-US" sz="3200" b="1" i="1" dirty="0"/>
              <a:t>int* p = &amp;Age; </a:t>
            </a:r>
          </a:p>
          <a:p>
            <a:pPr marL="0" indent="0">
              <a:buNone/>
            </a:pPr>
            <a:r>
              <a:rPr lang="en-US" sz="3200" b="1" i="1" dirty="0" err="1"/>
              <a:t>printf</a:t>
            </a:r>
            <a:r>
              <a:rPr lang="en-US" sz="3200" b="1" i="1" dirty="0"/>
              <a:t>("%d\n", Age);</a:t>
            </a:r>
          </a:p>
          <a:p>
            <a:pPr marL="0" indent="0">
              <a:buNone/>
            </a:pPr>
            <a:r>
              <a:rPr lang="en-US" sz="3200" b="1" i="1" dirty="0" err="1"/>
              <a:t>printf</a:t>
            </a:r>
            <a:r>
              <a:rPr lang="en-US" sz="3200" b="1" i="1" dirty="0"/>
              <a:t>("%p\n", &amp;Age);</a:t>
            </a:r>
          </a:p>
          <a:p>
            <a:pPr marL="0" indent="0">
              <a:buNone/>
            </a:pPr>
            <a:r>
              <a:rPr lang="en-US" sz="3200" b="1" i="1" dirty="0" err="1"/>
              <a:t>printf</a:t>
            </a:r>
            <a:r>
              <a:rPr lang="en-US" sz="3200" b="1" i="1" dirty="0"/>
              <a:t>("%p\n", p);</a:t>
            </a:r>
          </a:p>
          <a:p>
            <a:pPr marL="0" indent="0">
              <a:buNone/>
            </a:pPr>
            <a:r>
              <a:rPr lang="en-US" sz="3200" b="1" i="1" dirty="0"/>
              <a:t>return 0;</a:t>
            </a:r>
          </a:p>
          <a:p>
            <a:pPr marL="0" indent="0">
              <a:buNone/>
            </a:pPr>
            <a:r>
              <a:rPr lang="en-US" sz="3200" b="1" i="1" dirty="0"/>
              <a:t>}</a:t>
            </a:r>
          </a:p>
        </p:txBody>
      </p:sp>
    </p:spTree>
    <p:extLst>
      <p:ext uri="{BB962C8B-B14F-4D97-AF65-F5344CB8AC3E}">
        <p14:creationId xmlns:p14="http://schemas.microsoft.com/office/powerpoint/2010/main" val="254431806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F70E5-92F7-682E-603A-223B78348C75}"/>
              </a:ext>
            </a:extLst>
          </p:cNvPr>
          <p:cNvSpPr>
            <a:spLocks noGrp="1"/>
          </p:cNvSpPr>
          <p:nvPr>
            <p:ph type="title"/>
          </p:nvPr>
        </p:nvSpPr>
        <p:spPr>
          <a:xfrm>
            <a:off x="0" y="0"/>
            <a:ext cx="10515600" cy="1325563"/>
          </a:xfrm>
        </p:spPr>
        <p:txBody>
          <a:bodyPr/>
          <a:lstStyle/>
          <a:p>
            <a:r>
              <a:rPr lang="en-US" dirty="0"/>
              <a:t>Example 1 explained</a:t>
            </a:r>
          </a:p>
        </p:txBody>
      </p:sp>
      <p:sp>
        <p:nvSpPr>
          <p:cNvPr id="3" name="Content Placeholder 2">
            <a:extLst>
              <a:ext uri="{FF2B5EF4-FFF2-40B4-BE49-F238E27FC236}">
                <a16:creationId xmlns:a16="http://schemas.microsoft.com/office/drawing/2014/main" id="{E0A26226-24F6-D7D2-B343-2B2E63D3F681}"/>
              </a:ext>
            </a:extLst>
          </p:cNvPr>
          <p:cNvSpPr>
            <a:spLocks noGrp="1"/>
          </p:cNvSpPr>
          <p:nvPr>
            <p:ph idx="1"/>
          </p:nvPr>
        </p:nvSpPr>
        <p:spPr>
          <a:xfrm>
            <a:off x="179881" y="1034320"/>
            <a:ext cx="11797259" cy="5351489"/>
          </a:xfrm>
        </p:spPr>
        <p:txBody>
          <a:bodyPr>
            <a:normAutofit fontScale="85000" lnSpcReduction="20000"/>
          </a:bodyPr>
          <a:lstStyle/>
          <a:p>
            <a:pPr marL="0" indent="0">
              <a:buNone/>
            </a:pPr>
            <a:r>
              <a:rPr lang="en-US" b="1" i="1" dirty="0"/>
              <a:t>#include &lt;</a:t>
            </a:r>
            <a:r>
              <a:rPr lang="en-US" b="1" i="1" dirty="0" err="1"/>
              <a:t>stdio.h</a:t>
            </a:r>
            <a:r>
              <a:rPr lang="en-US" b="1" i="1" dirty="0"/>
              <a:t>&gt;</a:t>
            </a:r>
          </a:p>
          <a:p>
            <a:pPr marL="0" indent="0">
              <a:buNone/>
            </a:pPr>
            <a:r>
              <a:rPr lang="en-US" dirty="0"/>
              <a:t>is a </a:t>
            </a:r>
            <a:r>
              <a:rPr lang="en-US" b="1" dirty="0"/>
              <a:t>preprocessor directive</a:t>
            </a:r>
            <a:r>
              <a:rPr lang="en-US" dirty="0"/>
              <a:t> in C.</a:t>
            </a:r>
          </a:p>
          <a:p>
            <a:pPr marL="0" indent="0">
              <a:buNone/>
            </a:pPr>
            <a:endParaRPr lang="en-US" dirty="0"/>
          </a:p>
          <a:p>
            <a:pPr marL="0" indent="0">
              <a:buNone/>
            </a:pPr>
            <a:r>
              <a:rPr lang="en-US" dirty="0"/>
              <a:t>#include tells the C preprocessor to include the contents of another file before compilation.</a:t>
            </a:r>
          </a:p>
          <a:p>
            <a:pPr marL="0" indent="0">
              <a:buNone/>
            </a:pPr>
            <a:endParaRPr lang="en-US" dirty="0"/>
          </a:p>
          <a:p>
            <a:pPr marL="0" indent="0">
              <a:buNone/>
            </a:pPr>
            <a:r>
              <a:rPr lang="en-US" b="1" i="1" dirty="0"/>
              <a:t>&lt;</a:t>
            </a:r>
            <a:r>
              <a:rPr lang="en-US" b="1" i="1" dirty="0" err="1"/>
              <a:t>stdio.h</a:t>
            </a:r>
            <a:r>
              <a:rPr lang="en-US" b="1" i="1" dirty="0"/>
              <a:t>&gt; </a:t>
            </a:r>
            <a:r>
              <a:rPr lang="en-US" dirty="0"/>
              <a:t>is a standard header file that stands for Standard Input/Output.</a:t>
            </a:r>
          </a:p>
          <a:p>
            <a:pPr marL="0" indent="0">
              <a:buNone/>
            </a:pPr>
            <a:endParaRPr lang="en-US" dirty="0"/>
          </a:p>
          <a:p>
            <a:pPr marL="0" indent="0">
              <a:buNone/>
            </a:pPr>
            <a:r>
              <a:rPr lang="en-US" dirty="0"/>
              <a:t>It declares functions and definitions used for input and output operations, such as:</a:t>
            </a:r>
          </a:p>
          <a:p>
            <a:r>
              <a:rPr lang="en-US" dirty="0" err="1"/>
              <a:t>printf</a:t>
            </a:r>
            <a:r>
              <a:rPr lang="en-US" dirty="0"/>
              <a:t>() – output to the screen</a:t>
            </a:r>
          </a:p>
          <a:p>
            <a:r>
              <a:rPr lang="en-US" dirty="0" err="1"/>
              <a:t>scanf</a:t>
            </a:r>
            <a:r>
              <a:rPr lang="en-US" dirty="0"/>
              <a:t>() – input from the keyboard</a:t>
            </a:r>
          </a:p>
          <a:p>
            <a:r>
              <a:rPr lang="en-US" dirty="0" err="1"/>
              <a:t>putchar</a:t>
            </a:r>
            <a:r>
              <a:rPr lang="en-US" dirty="0"/>
              <a:t>(), </a:t>
            </a:r>
            <a:r>
              <a:rPr lang="en-US" dirty="0" err="1"/>
              <a:t>getchar</a:t>
            </a:r>
            <a:r>
              <a:rPr lang="en-US" dirty="0"/>
              <a:t>()</a:t>
            </a:r>
          </a:p>
          <a:p>
            <a:r>
              <a:rPr lang="en-US" dirty="0"/>
              <a:t>FILE type for file handling</a:t>
            </a:r>
          </a:p>
          <a:p>
            <a:pPr marL="0" indent="0">
              <a:buNone/>
            </a:pPr>
            <a:endParaRPr lang="en-US" dirty="0"/>
          </a:p>
        </p:txBody>
      </p:sp>
    </p:spTree>
    <p:extLst>
      <p:ext uri="{BB962C8B-B14F-4D97-AF65-F5344CB8AC3E}">
        <p14:creationId xmlns:p14="http://schemas.microsoft.com/office/powerpoint/2010/main" val="32407033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3DA22-67C6-97EE-9481-CF8E8A825669}"/>
              </a:ext>
            </a:extLst>
          </p:cNvPr>
          <p:cNvSpPr>
            <a:spLocks noGrp="1"/>
          </p:cNvSpPr>
          <p:nvPr>
            <p:ph type="title"/>
          </p:nvPr>
        </p:nvSpPr>
        <p:spPr>
          <a:xfrm>
            <a:off x="223603" y="263993"/>
            <a:ext cx="10515600" cy="834088"/>
          </a:xfrm>
        </p:spPr>
        <p:txBody>
          <a:bodyPr/>
          <a:lstStyle/>
          <a:p>
            <a:r>
              <a:rPr lang="en-US" dirty="0"/>
              <a:t>CONT…</a:t>
            </a:r>
          </a:p>
        </p:txBody>
      </p:sp>
      <p:sp>
        <p:nvSpPr>
          <p:cNvPr id="3" name="Content Placeholder 2">
            <a:extLst>
              <a:ext uri="{FF2B5EF4-FFF2-40B4-BE49-F238E27FC236}">
                <a16:creationId xmlns:a16="http://schemas.microsoft.com/office/drawing/2014/main" id="{A18E0BB4-538D-F45E-624D-5E9AA0C36D56}"/>
              </a:ext>
            </a:extLst>
          </p:cNvPr>
          <p:cNvSpPr>
            <a:spLocks noGrp="1"/>
          </p:cNvSpPr>
          <p:nvPr>
            <p:ph idx="1"/>
          </p:nvPr>
        </p:nvSpPr>
        <p:spPr>
          <a:xfrm>
            <a:off x="329783" y="1098081"/>
            <a:ext cx="11452485" cy="5078882"/>
          </a:xfrm>
        </p:spPr>
        <p:txBody>
          <a:bodyPr>
            <a:normAutofit fontScale="92500" lnSpcReduction="20000"/>
          </a:bodyPr>
          <a:lstStyle/>
          <a:p>
            <a:pPr marL="0" indent="0">
              <a:buNone/>
            </a:pPr>
            <a:r>
              <a:rPr lang="en-US" b="1" i="1" dirty="0"/>
              <a:t>int main() {</a:t>
            </a:r>
          </a:p>
          <a:p>
            <a:pPr marL="0" indent="0">
              <a:buNone/>
            </a:pPr>
            <a:r>
              <a:rPr lang="en-US" dirty="0"/>
              <a:t>Program execution starts from the main() function.</a:t>
            </a:r>
          </a:p>
          <a:p>
            <a:pPr marL="0" indent="0">
              <a:buNone/>
            </a:pPr>
            <a:endParaRPr lang="en-US" dirty="0"/>
          </a:p>
          <a:p>
            <a:pPr marL="0" indent="0">
              <a:buNone/>
            </a:pPr>
            <a:r>
              <a:rPr lang="en-US" b="1" i="1" dirty="0"/>
              <a:t>int Age = 20;</a:t>
            </a:r>
          </a:p>
          <a:p>
            <a:pPr marL="0" indent="0">
              <a:buNone/>
            </a:pPr>
            <a:r>
              <a:rPr lang="en-US" dirty="0"/>
              <a:t>Declares an integer variable named Age and initialize  variable Age value equal to 20</a:t>
            </a:r>
          </a:p>
          <a:p>
            <a:pPr marL="0" indent="0">
              <a:buNone/>
            </a:pPr>
            <a:endParaRPr lang="en-US" dirty="0"/>
          </a:p>
          <a:p>
            <a:pPr marL="0" indent="0">
              <a:buNone/>
            </a:pPr>
            <a:r>
              <a:rPr lang="en-US" b="1" i="1" dirty="0"/>
              <a:t>int* p = &amp;Age;</a:t>
            </a:r>
          </a:p>
          <a:p>
            <a:pPr marL="0" indent="0">
              <a:buNone/>
            </a:pPr>
            <a:r>
              <a:rPr lang="en-US" dirty="0"/>
              <a:t>Declares a pointer variable p that can store the address of an integer.</a:t>
            </a:r>
          </a:p>
          <a:p>
            <a:pPr marL="0" indent="0">
              <a:buNone/>
            </a:pPr>
            <a:r>
              <a:rPr lang="en-US" dirty="0"/>
              <a:t>&amp;Age gets the memory address of the variable Age.</a:t>
            </a:r>
          </a:p>
          <a:p>
            <a:pPr marL="0" indent="0">
              <a:buNone/>
            </a:pPr>
            <a:r>
              <a:rPr lang="en-US" dirty="0"/>
              <a:t>That address is stored in p.</a:t>
            </a:r>
          </a:p>
          <a:p>
            <a:pPr marL="0" indent="0">
              <a:buNone/>
            </a:pPr>
            <a:r>
              <a:rPr lang="en-US" dirty="0"/>
              <a:t>Now, p points to Age.</a:t>
            </a:r>
          </a:p>
        </p:txBody>
      </p:sp>
    </p:spTree>
    <p:extLst>
      <p:ext uri="{BB962C8B-B14F-4D97-AF65-F5344CB8AC3E}">
        <p14:creationId xmlns:p14="http://schemas.microsoft.com/office/powerpoint/2010/main" val="401165537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05088-B8C4-0AD4-04BA-F35091EEE7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DDCC16-A151-F405-D826-D091B1D88B11}"/>
              </a:ext>
            </a:extLst>
          </p:cNvPr>
          <p:cNvSpPr>
            <a:spLocks noGrp="1"/>
          </p:cNvSpPr>
          <p:nvPr>
            <p:ph type="title"/>
          </p:nvPr>
        </p:nvSpPr>
        <p:spPr>
          <a:xfrm>
            <a:off x="223603" y="263993"/>
            <a:ext cx="10515600" cy="834088"/>
          </a:xfrm>
        </p:spPr>
        <p:txBody>
          <a:bodyPr/>
          <a:lstStyle/>
          <a:p>
            <a:r>
              <a:rPr lang="en-US" dirty="0"/>
              <a:t>CONT…</a:t>
            </a:r>
          </a:p>
        </p:txBody>
      </p:sp>
      <p:sp>
        <p:nvSpPr>
          <p:cNvPr id="3" name="Content Placeholder 2">
            <a:extLst>
              <a:ext uri="{FF2B5EF4-FFF2-40B4-BE49-F238E27FC236}">
                <a16:creationId xmlns:a16="http://schemas.microsoft.com/office/drawing/2014/main" id="{37281425-7DCA-9B34-56B2-96478967961C}"/>
              </a:ext>
            </a:extLst>
          </p:cNvPr>
          <p:cNvSpPr>
            <a:spLocks noGrp="1"/>
          </p:cNvSpPr>
          <p:nvPr>
            <p:ph idx="1"/>
          </p:nvPr>
        </p:nvSpPr>
        <p:spPr>
          <a:xfrm>
            <a:off x="329783" y="1098081"/>
            <a:ext cx="11452485" cy="5078882"/>
          </a:xfrm>
        </p:spPr>
        <p:txBody>
          <a:bodyPr>
            <a:normAutofit/>
          </a:bodyPr>
          <a:lstStyle/>
          <a:p>
            <a:pPr marL="0" indent="0">
              <a:buNone/>
            </a:pPr>
            <a:r>
              <a:rPr lang="en-US" b="1" i="1" dirty="0" err="1"/>
              <a:t>printf</a:t>
            </a:r>
            <a:r>
              <a:rPr lang="en-US" b="1" i="1" dirty="0"/>
              <a:t>("%d\n", Age);</a:t>
            </a:r>
          </a:p>
          <a:p>
            <a:pPr marL="0" indent="0">
              <a:buNone/>
            </a:pPr>
            <a:r>
              <a:rPr lang="en-US" dirty="0"/>
              <a:t>Prints the value of Age.</a:t>
            </a:r>
          </a:p>
          <a:p>
            <a:pPr marL="0" indent="0">
              <a:buNone/>
            </a:pPr>
            <a:r>
              <a:rPr lang="en-US" dirty="0"/>
              <a:t>Output: 20</a:t>
            </a:r>
          </a:p>
          <a:p>
            <a:pPr marL="0" indent="0">
              <a:buNone/>
            </a:pPr>
            <a:endParaRPr lang="en-US" dirty="0"/>
          </a:p>
          <a:p>
            <a:pPr marL="0" indent="0">
              <a:buNone/>
            </a:pPr>
            <a:r>
              <a:rPr lang="en-US" b="1" i="1" dirty="0" err="1"/>
              <a:t>printf</a:t>
            </a:r>
            <a:r>
              <a:rPr lang="en-US" b="1" i="1" dirty="0"/>
              <a:t>("%p\n", &amp;Age);</a:t>
            </a:r>
          </a:p>
          <a:p>
            <a:pPr marL="0" indent="0">
              <a:buNone/>
            </a:pPr>
            <a:r>
              <a:rPr lang="en-US" dirty="0"/>
              <a:t>Prints the memory address of the variable Age.</a:t>
            </a:r>
          </a:p>
          <a:p>
            <a:pPr marL="0" indent="0">
              <a:buNone/>
            </a:pPr>
            <a:r>
              <a:rPr lang="en-US" dirty="0"/>
              <a:t>%p is the format specifier used to print addresses.</a:t>
            </a:r>
          </a:p>
          <a:p>
            <a:pPr marL="0" indent="0">
              <a:buNone/>
            </a:pPr>
            <a:r>
              <a:rPr lang="en-US" dirty="0"/>
              <a:t>Output: a hexadecimal address (e.g., 0x7ffeabc1234).</a:t>
            </a:r>
          </a:p>
        </p:txBody>
      </p:sp>
    </p:spTree>
    <p:extLst>
      <p:ext uri="{BB962C8B-B14F-4D97-AF65-F5344CB8AC3E}">
        <p14:creationId xmlns:p14="http://schemas.microsoft.com/office/powerpoint/2010/main" val="27607304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85141-37A9-7DE1-AA4D-DF7D65843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2F1F55-0D82-DE9C-6BE1-9EA9CE229EA6}"/>
              </a:ext>
            </a:extLst>
          </p:cNvPr>
          <p:cNvSpPr>
            <a:spLocks noGrp="1"/>
          </p:cNvSpPr>
          <p:nvPr>
            <p:ph type="title"/>
          </p:nvPr>
        </p:nvSpPr>
        <p:spPr>
          <a:xfrm>
            <a:off x="223603" y="263993"/>
            <a:ext cx="10515600" cy="834088"/>
          </a:xfrm>
        </p:spPr>
        <p:txBody>
          <a:bodyPr/>
          <a:lstStyle/>
          <a:p>
            <a:r>
              <a:rPr lang="en-US" dirty="0"/>
              <a:t>CONT…</a:t>
            </a:r>
          </a:p>
        </p:txBody>
      </p:sp>
      <p:sp>
        <p:nvSpPr>
          <p:cNvPr id="3" name="Content Placeholder 2">
            <a:extLst>
              <a:ext uri="{FF2B5EF4-FFF2-40B4-BE49-F238E27FC236}">
                <a16:creationId xmlns:a16="http://schemas.microsoft.com/office/drawing/2014/main" id="{226E4C87-2011-35F2-3218-D7FB1773E63E}"/>
              </a:ext>
            </a:extLst>
          </p:cNvPr>
          <p:cNvSpPr>
            <a:spLocks noGrp="1"/>
          </p:cNvSpPr>
          <p:nvPr>
            <p:ph idx="1"/>
          </p:nvPr>
        </p:nvSpPr>
        <p:spPr>
          <a:xfrm>
            <a:off x="329783" y="1098081"/>
            <a:ext cx="11452485" cy="5078882"/>
          </a:xfrm>
        </p:spPr>
        <p:txBody>
          <a:bodyPr>
            <a:normAutofit lnSpcReduction="10000"/>
          </a:bodyPr>
          <a:lstStyle/>
          <a:p>
            <a:pPr marL="0" indent="0">
              <a:buNone/>
            </a:pPr>
            <a:r>
              <a:rPr lang="en-US" b="1" i="1" dirty="0" err="1"/>
              <a:t>printf</a:t>
            </a:r>
            <a:r>
              <a:rPr lang="en-US" b="1" i="1" dirty="0"/>
              <a:t>("%p\n", p);</a:t>
            </a:r>
          </a:p>
          <a:p>
            <a:pPr marL="0" indent="0">
              <a:buNone/>
            </a:pPr>
            <a:r>
              <a:rPr lang="en-US" dirty="0"/>
              <a:t>Prints the value stored in p.</a:t>
            </a:r>
          </a:p>
          <a:p>
            <a:pPr marL="0" indent="0">
              <a:buNone/>
            </a:pPr>
            <a:r>
              <a:rPr lang="en-US" dirty="0"/>
              <a:t>Since p holds the address of Age, the output will be a hexadecimal address (e.g., 0x7ffeabc1234). </a:t>
            </a:r>
          </a:p>
          <a:p>
            <a:pPr marL="0" indent="0">
              <a:buNone/>
            </a:pPr>
            <a:endParaRPr lang="en-US" dirty="0"/>
          </a:p>
          <a:p>
            <a:pPr marL="0" indent="0">
              <a:buNone/>
            </a:pPr>
            <a:r>
              <a:rPr lang="en-US" b="1" i="1" dirty="0"/>
              <a:t>return 0;</a:t>
            </a:r>
          </a:p>
          <a:p>
            <a:pPr marL="0" indent="0">
              <a:buNone/>
            </a:pPr>
            <a:r>
              <a:rPr lang="en-US" b="1" i="1" dirty="0"/>
              <a:t>}</a:t>
            </a:r>
          </a:p>
          <a:p>
            <a:pPr marL="0" indent="0">
              <a:buNone/>
            </a:pPr>
            <a:r>
              <a:rPr lang="en-US" dirty="0"/>
              <a:t>Ends the execution of the main() function.</a:t>
            </a:r>
          </a:p>
          <a:p>
            <a:pPr marL="0" indent="0">
              <a:buNone/>
            </a:pPr>
            <a:r>
              <a:rPr lang="en-US" dirty="0"/>
              <a:t>Sends the value 0 back to the operating system.</a:t>
            </a:r>
          </a:p>
          <a:p>
            <a:pPr marL="0" indent="0">
              <a:buNone/>
            </a:pPr>
            <a:r>
              <a:rPr lang="en-US" dirty="0"/>
              <a:t>By convention, 0 means the program executed successfully without errors.</a:t>
            </a:r>
          </a:p>
          <a:p>
            <a:pPr marL="0" indent="0">
              <a:buNone/>
            </a:pPr>
            <a:endParaRPr lang="en-US" b="1" dirty="0"/>
          </a:p>
        </p:txBody>
      </p:sp>
    </p:spTree>
    <p:extLst>
      <p:ext uri="{BB962C8B-B14F-4D97-AF65-F5344CB8AC3E}">
        <p14:creationId xmlns:p14="http://schemas.microsoft.com/office/powerpoint/2010/main" val="20144586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96DCD-641C-E5DF-981D-843381576630}"/>
              </a:ext>
            </a:extLst>
          </p:cNvPr>
          <p:cNvSpPr>
            <a:spLocks noGrp="1"/>
          </p:cNvSpPr>
          <p:nvPr>
            <p:ph type="title"/>
          </p:nvPr>
        </p:nvSpPr>
        <p:spPr>
          <a:xfrm>
            <a:off x="0" y="-264462"/>
            <a:ext cx="10515600" cy="1325563"/>
          </a:xfrm>
        </p:spPr>
        <p:txBody>
          <a:bodyPr/>
          <a:lstStyle/>
          <a:p>
            <a:r>
              <a:rPr lang="en-US" dirty="0"/>
              <a:t>Output of example 1</a:t>
            </a:r>
          </a:p>
        </p:txBody>
      </p:sp>
      <p:pic>
        <p:nvPicPr>
          <p:cNvPr id="5" name="Content Placeholder 4" descr="A computer screen shot of a black screen&#10;&#10;AI-generated content may be incorrect.">
            <a:extLst>
              <a:ext uri="{FF2B5EF4-FFF2-40B4-BE49-F238E27FC236}">
                <a16:creationId xmlns:a16="http://schemas.microsoft.com/office/drawing/2014/main" id="{ED0E69A3-95B8-9F82-575C-3280BD6FBBA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4793" y="689548"/>
            <a:ext cx="11302583" cy="5726242"/>
          </a:xfrm>
        </p:spPr>
      </p:pic>
    </p:spTree>
    <p:extLst>
      <p:ext uri="{BB962C8B-B14F-4D97-AF65-F5344CB8AC3E}">
        <p14:creationId xmlns:p14="http://schemas.microsoft.com/office/powerpoint/2010/main" val="410767614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31D0F-2E76-989E-8AF9-C747321C7464}"/>
              </a:ext>
            </a:extLst>
          </p:cNvPr>
          <p:cNvSpPr>
            <a:spLocks noGrp="1"/>
          </p:cNvSpPr>
          <p:nvPr>
            <p:ph type="title"/>
          </p:nvPr>
        </p:nvSpPr>
        <p:spPr>
          <a:xfrm>
            <a:off x="0" y="-279452"/>
            <a:ext cx="10515600" cy="1325563"/>
          </a:xfrm>
        </p:spPr>
        <p:txBody>
          <a:bodyPr/>
          <a:lstStyle/>
          <a:p>
            <a:r>
              <a:rPr lang="en-US" dirty="0"/>
              <a:t>Example 2 </a:t>
            </a:r>
          </a:p>
        </p:txBody>
      </p:sp>
      <p:sp>
        <p:nvSpPr>
          <p:cNvPr id="3" name="Content Placeholder 2">
            <a:extLst>
              <a:ext uri="{FF2B5EF4-FFF2-40B4-BE49-F238E27FC236}">
                <a16:creationId xmlns:a16="http://schemas.microsoft.com/office/drawing/2014/main" id="{BE156765-B007-4645-9B0C-27C217951DA9}"/>
              </a:ext>
            </a:extLst>
          </p:cNvPr>
          <p:cNvSpPr>
            <a:spLocks noGrp="1"/>
          </p:cNvSpPr>
          <p:nvPr>
            <p:ph idx="1"/>
          </p:nvPr>
        </p:nvSpPr>
        <p:spPr>
          <a:xfrm>
            <a:off x="179882" y="719528"/>
            <a:ext cx="11827239" cy="5457435"/>
          </a:xfrm>
        </p:spPr>
        <p:txBody>
          <a:bodyPr/>
          <a:lstStyle/>
          <a:p>
            <a:pPr marL="0" indent="0">
              <a:buNone/>
            </a:pPr>
            <a:r>
              <a:rPr lang="en-US" sz="3200" b="1" i="1" dirty="0"/>
              <a:t>#include &lt;</a:t>
            </a:r>
            <a:r>
              <a:rPr lang="en-US" sz="3200" b="1" i="1" dirty="0" err="1"/>
              <a:t>stdio.h</a:t>
            </a:r>
            <a:r>
              <a:rPr lang="en-US" sz="3200" b="1" i="1" dirty="0"/>
              <a:t>&gt;</a:t>
            </a:r>
          </a:p>
          <a:p>
            <a:pPr marL="0" indent="0">
              <a:buNone/>
            </a:pPr>
            <a:r>
              <a:rPr lang="en-US" sz="3200" b="1" i="1" dirty="0"/>
              <a:t>int main() {</a:t>
            </a:r>
          </a:p>
          <a:p>
            <a:pPr marL="0" indent="0">
              <a:buNone/>
            </a:pPr>
            <a:r>
              <a:rPr lang="en-US" sz="3200" b="1" i="1" dirty="0"/>
              <a:t>  int Age = 18;</a:t>
            </a:r>
          </a:p>
          <a:p>
            <a:pPr marL="0" indent="0">
              <a:buNone/>
            </a:pPr>
            <a:r>
              <a:rPr lang="en-US" sz="3200" b="1" i="1" dirty="0"/>
              <a:t>  </a:t>
            </a:r>
            <a:r>
              <a:rPr lang="en-US" sz="3200" b="1" i="1" dirty="0">
                <a:solidFill>
                  <a:srgbClr val="C00000"/>
                </a:solidFill>
              </a:rPr>
              <a:t>int* p = &amp;Age;</a:t>
            </a:r>
          </a:p>
          <a:p>
            <a:pPr marL="0" indent="0">
              <a:buNone/>
            </a:pPr>
            <a:r>
              <a:rPr lang="en-US" sz="3200" b="1" i="1" dirty="0"/>
              <a:t>  </a:t>
            </a:r>
            <a:r>
              <a:rPr lang="en-US" sz="3200" b="1" i="1" dirty="0" err="1">
                <a:solidFill>
                  <a:srgbClr val="C00000"/>
                </a:solidFill>
              </a:rPr>
              <a:t>printf</a:t>
            </a:r>
            <a:r>
              <a:rPr lang="en-US" sz="3200" b="1" i="1" dirty="0">
                <a:solidFill>
                  <a:srgbClr val="C00000"/>
                </a:solidFill>
              </a:rPr>
              <a:t>("%d\n", *p);</a:t>
            </a:r>
          </a:p>
          <a:p>
            <a:pPr marL="0" indent="0">
              <a:buNone/>
            </a:pPr>
            <a:r>
              <a:rPr lang="en-US" sz="3200" b="1" i="1" dirty="0">
                <a:solidFill>
                  <a:srgbClr val="C00000"/>
                </a:solidFill>
              </a:rPr>
              <a:t>  </a:t>
            </a:r>
            <a:r>
              <a:rPr lang="en-US" sz="3200" b="1" i="1" dirty="0" err="1">
                <a:solidFill>
                  <a:srgbClr val="C00000"/>
                </a:solidFill>
              </a:rPr>
              <a:t>printf</a:t>
            </a:r>
            <a:r>
              <a:rPr lang="en-US" sz="3200" b="1" i="1" dirty="0">
                <a:solidFill>
                  <a:srgbClr val="C00000"/>
                </a:solidFill>
              </a:rPr>
              <a:t>("%p\n", p);</a:t>
            </a:r>
          </a:p>
          <a:p>
            <a:pPr marL="0" indent="0">
              <a:buNone/>
            </a:pPr>
            <a:r>
              <a:rPr lang="en-US" sz="3200" b="1" i="1" dirty="0"/>
              <a:t>  return 0;</a:t>
            </a:r>
          </a:p>
          <a:p>
            <a:pPr marL="0" indent="0">
              <a:buNone/>
            </a:pPr>
            <a:r>
              <a:rPr lang="en-US" sz="3200" b="1" i="1" dirty="0"/>
              <a:t>}</a:t>
            </a:r>
          </a:p>
          <a:p>
            <a:pPr marL="0" indent="0">
              <a:buNone/>
            </a:pPr>
            <a:endParaRPr lang="en-US" dirty="0"/>
          </a:p>
        </p:txBody>
      </p:sp>
    </p:spTree>
    <p:extLst>
      <p:ext uri="{BB962C8B-B14F-4D97-AF65-F5344CB8AC3E}">
        <p14:creationId xmlns:p14="http://schemas.microsoft.com/office/powerpoint/2010/main" val="20120195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5D287-AEA4-C289-4ECB-36C8263A4FE8}"/>
              </a:ext>
            </a:extLst>
          </p:cNvPr>
          <p:cNvSpPr>
            <a:spLocks noGrp="1"/>
          </p:cNvSpPr>
          <p:nvPr>
            <p:ph type="title"/>
          </p:nvPr>
        </p:nvSpPr>
        <p:spPr/>
        <p:txBody>
          <a:bodyPr/>
          <a:lstStyle/>
          <a:p>
            <a:r>
              <a:rPr lang="en-US" dirty="0"/>
              <a:t>Output of Example 2 </a:t>
            </a:r>
          </a:p>
        </p:txBody>
      </p:sp>
      <p:pic>
        <p:nvPicPr>
          <p:cNvPr id="5" name="Content Placeholder 4">
            <a:extLst>
              <a:ext uri="{FF2B5EF4-FFF2-40B4-BE49-F238E27FC236}">
                <a16:creationId xmlns:a16="http://schemas.microsoft.com/office/drawing/2014/main" id="{33DD81D6-691B-DAD2-0340-1D415E4CB8F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4775" y="1319134"/>
            <a:ext cx="11617376" cy="5381469"/>
          </a:xfrm>
        </p:spPr>
      </p:pic>
    </p:spTree>
    <p:extLst>
      <p:ext uri="{BB962C8B-B14F-4D97-AF65-F5344CB8AC3E}">
        <p14:creationId xmlns:p14="http://schemas.microsoft.com/office/powerpoint/2010/main" val="273088837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BEB8F-07DB-1C53-D5CE-515B6B2DB9D8}"/>
              </a:ext>
            </a:extLst>
          </p:cNvPr>
          <p:cNvSpPr>
            <a:spLocks noGrp="1"/>
          </p:cNvSpPr>
          <p:nvPr>
            <p:ph type="title"/>
          </p:nvPr>
        </p:nvSpPr>
        <p:spPr>
          <a:xfrm>
            <a:off x="268573" y="0"/>
            <a:ext cx="10515600" cy="1034321"/>
          </a:xfrm>
        </p:spPr>
        <p:txBody>
          <a:bodyPr/>
          <a:lstStyle/>
          <a:p>
            <a:r>
              <a:rPr lang="en-US" dirty="0"/>
              <a:t>     </a:t>
            </a:r>
          </a:p>
        </p:txBody>
      </p:sp>
      <p:sp>
        <p:nvSpPr>
          <p:cNvPr id="3" name="Content Placeholder 2">
            <a:extLst>
              <a:ext uri="{FF2B5EF4-FFF2-40B4-BE49-F238E27FC236}">
                <a16:creationId xmlns:a16="http://schemas.microsoft.com/office/drawing/2014/main" id="{E49E3191-E7F0-8005-270F-29EB1E218C3B}"/>
              </a:ext>
            </a:extLst>
          </p:cNvPr>
          <p:cNvSpPr>
            <a:spLocks noGrp="1"/>
          </p:cNvSpPr>
          <p:nvPr>
            <p:ph idx="1"/>
          </p:nvPr>
        </p:nvSpPr>
        <p:spPr>
          <a:xfrm>
            <a:off x="268573" y="344774"/>
            <a:ext cx="11723558" cy="6205928"/>
          </a:xfrm>
        </p:spPr>
        <p:txBody>
          <a:bodyPr>
            <a:normAutofit/>
          </a:bodyPr>
          <a:lstStyle/>
          <a:p>
            <a:pPr marL="0" indent="0">
              <a:buNone/>
            </a:pPr>
            <a:r>
              <a:rPr lang="en-US" dirty="0"/>
              <a:t>Note that the * sign can be confusing here, as it does two different things in our code:</a:t>
            </a:r>
          </a:p>
          <a:p>
            <a:pPr marL="0" indent="0">
              <a:buNone/>
            </a:pPr>
            <a:r>
              <a:rPr lang="en-US" dirty="0"/>
              <a:t>When used in declaration (int* p), it creates a </a:t>
            </a:r>
            <a:r>
              <a:rPr lang="en-US" b="1" dirty="0"/>
              <a:t>pointer variable</a:t>
            </a:r>
            <a:r>
              <a:rPr lang="en-US" dirty="0"/>
              <a:t>.</a:t>
            </a:r>
          </a:p>
          <a:p>
            <a:pPr marL="0" indent="0">
              <a:buNone/>
            </a:pPr>
            <a:r>
              <a:rPr lang="en-US" dirty="0"/>
              <a:t>When not used in declaration, it act as a </a:t>
            </a:r>
            <a:r>
              <a:rPr lang="en-US" b="1" dirty="0"/>
              <a:t>dereference operator</a:t>
            </a:r>
            <a:r>
              <a:rPr lang="en-US" dirty="0"/>
              <a:t>.</a:t>
            </a:r>
          </a:p>
          <a:p>
            <a:pPr marL="0" indent="0">
              <a:buNone/>
            </a:pPr>
            <a:r>
              <a:rPr lang="en-US" dirty="0"/>
              <a:t/>
            </a:r>
            <a:br>
              <a:rPr lang="en-US" dirty="0"/>
            </a:br>
            <a:endParaRPr lang="en-US" dirty="0"/>
          </a:p>
          <a:p>
            <a:pPr marL="0" indent="0">
              <a:buNone/>
            </a:pPr>
            <a:r>
              <a:rPr lang="en-US" b="1" dirty="0"/>
              <a:t>Good To Know:</a:t>
            </a:r>
            <a:r>
              <a:rPr lang="en-US" dirty="0"/>
              <a:t> There are two ways to declare pointer variables in C:</a:t>
            </a:r>
          </a:p>
          <a:p>
            <a:pPr marL="571500" indent="-571500">
              <a:buFont typeface="+mj-lt"/>
              <a:buAutoNum type="romanLcPeriod"/>
            </a:pPr>
            <a:r>
              <a:rPr lang="en-US" dirty="0"/>
              <a:t>int*   p;</a:t>
            </a:r>
          </a:p>
          <a:p>
            <a:pPr marL="571500" indent="-571500">
              <a:buFont typeface="+mj-lt"/>
              <a:buAutoNum type="romanLcPeriod"/>
            </a:pPr>
            <a:r>
              <a:rPr lang="en-US" dirty="0"/>
              <a:t>int     *p;</a:t>
            </a:r>
          </a:p>
        </p:txBody>
      </p:sp>
    </p:spTree>
    <p:extLst>
      <p:ext uri="{BB962C8B-B14F-4D97-AF65-F5344CB8AC3E}">
        <p14:creationId xmlns:p14="http://schemas.microsoft.com/office/powerpoint/2010/main" val="290744453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579F2-DA8A-08EE-B7A2-871EDF0D3149}"/>
              </a:ext>
            </a:extLst>
          </p:cNvPr>
          <p:cNvSpPr>
            <a:spLocks noGrp="1"/>
          </p:cNvSpPr>
          <p:nvPr>
            <p:ph type="title"/>
          </p:nvPr>
        </p:nvSpPr>
        <p:spPr>
          <a:xfrm>
            <a:off x="717654" y="18255"/>
            <a:ext cx="10515600" cy="701273"/>
          </a:xfrm>
        </p:spPr>
        <p:txBody>
          <a:bodyPr>
            <a:normAutofit fontScale="90000"/>
          </a:bodyPr>
          <a:lstStyle/>
          <a:p>
            <a:pPr algn="ctr"/>
            <a:r>
              <a:rPr lang="en-US" b="1" dirty="0"/>
              <a:t>Notes on Pointers</a:t>
            </a:r>
            <a:r>
              <a:rPr lang="en-US" sz="6000" dirty="0"/>
              <a:t> </a:t>
            </a:r>
          </a:p>
        </p:txBody>
      </p:sp>
      <p:sp>
        <p:nvSpPr>
          <p:cNvPr id="3" name="Content Placeholder 2">
            <a:extLst>
              <a:ext uri="{FF2B5EF4-FFF2-40B4-BE49-F238E27FC236}">
                <a16:creationId xmlns:a16="http://schemas.microsoft.com/office/drawing/2014/main" id="{9DF3960D-B5A7-102D-6BC7-CC9D96818534}"/>
              </a:ext>
            </a:extLst>
          </p:cNvPr>
          <p:cNvSpPr>
            <a:spLocks noGrp="1"/>
          </p:cNvSpPr>
          <p:nvPr>
            <p:ph idx="1"/>
          </p:nvPr>
        </p:nvSpPr>
        <p:spPr>
          <a:xfrm>
            <a:off x="489679" y="899411"/>
            <a:ext cx="11212642" cy="5652307"/>
          </a:xfrm>
        </p:spPr>
        <p:txBody>
          <a:bodyPr>
            <a:normAutofit fontScale="92500" lnSpcReduction="20000"/>
          </a:bodyPr>
          <a:lstStyle/>
          <a:p>
            <a:pPr marL="0" indent="0" algn="just">
              <a:buNone/>
            </a:pPr>
            <a:r>
              <a:rPr lang="en-US" sz="3200" dirty="0"/>
              <a:t>Pointers are important in C, because they allow us to manipulate the data in the computer's memory - this can reduce the code and improve the performance.</a:t>
            </a:r>
          </a:p>
          <a:p>
            <a:pPr marL="0" indent="0" algn="just">
              <a:buNone/>
            </a:pPr>
            <a:r>
              <a:rPr lang="en-US" sz="3200" dirty="0"/>
              <a:t>Pointers are one of the things that make C stand out from other programming languages, like Python and Java.</a:t>
            </a:r>
          </a:p>
          <a:p>
            <a:pPr marL="0" indent="0">
              <a:buNone/>
            </a:pPr>
            <a:r>
              <a:rPr lang="en-US" sz="3200" dirty="0"/>
              <a:t>If you are familiar with data structures like lists, trees and graphs, you should know that pointers are especially useful for implementing those. And sometimes you even have to use pointers, for example when working with files and memory management.</a:t>
            </a:r>
          </a:p>
          <a:p>
            <a:pPr marL="0" indent="0">
              <a:buNone/>
            </a:pPr>
            <a:r>
              <a:rPr lang="en-US" sz="3200" b="1" dirty="0"/>
              <a:t>But be careful</a:t>
            </a:r>
            <a:r>
              <a:rPr lang="en-US" sz="3200" dirty="0"/>
              <a:t>; pointers must be handled with care, since it is possible to damage data stored in other memory addresses.</a:t>
            </a:r>
          </a:p>
          <a:p>
            <a:pPr marL="0" indent="0" algn="just">
              <a:buNone/>
            </a:pPr>
            <a:endParaRPr lang="en-US" sz="3200" dirty="0"/>
          </a:p>
          <a:p>
            <a:pPr marL="0" indent="0" algn="just">
              <a:buNone/>
            </a:pPr>
            <a:endParaRPr lang="en-US" sz="3200" dirty="0"/>
          </a:p>
          <a:p>
            <a:endParaRPr lang="en-US" dirty="0"/>
          </a:p>
        </p:txBody>
      </p:sp>
    </p:spTree>
    <p:extLst>
      <p:ext uri="{BB962C8B-B14F-4D97-AF65-F5344CB8AC3E}">
        <p14:creationId xmlns:p14="http://schemas.microsoft.com/office/powerpoint/2010/main" val="4778404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01052-5547-90FA-DCF3-44F6911A78AB}"/>
              </a:ext>
            </a:extLst>
          </p:cNvPr>
          <p:cNvSpPr>
            <a:spLocks noGrp="1"/>
          </p:cNvSpPr>
          <p:nvPr>
            <p:ph type="title"/>
          </p:nvPr>
        </p:nvSpPr>
        <p:spPr>
          <a:xfrm>
            <a:off x="119922" y="0"/>
            <a:ext cx="10515600" cy="930509"/>
          </a:xfrm>
        </p:spPr>
        <p:txBody>
          <a:bodyPr/>
          <a:lstStyle/>
          <a:p>
            <a:r>
              <a:rPr lang="en-US" dirty="0"/>
              <a:t>C Pointers and Arrays</a:t>
            </a:r>
          </a:p>
        </p:txBody>
      </p:sp>
      <p:sp>
        <p:nvSpPr>
          <p:cNvPr id="3" name="Content Placeholder 2">
            <a:extLst>
              <a:ext uri="{FF2B5EF4-FFF2-40B4-BE49-F238E27FC236}">
                <a16:creationId xmlns:a16="http://schemas.microsoft.com/office/drawing/2014/main" id="{E2C6176C-4274-5058-CF3F-5008E9EA72F9}"/>
              </a:ext>
            </a:extLst>
          </p:cNvPr>
          <p:cNvSpPr>
            <a:spLocks noGrp="1"/>
          </p:cNvSpPr>
          <p:nvPr>
            <p:ph idx="1"/>
          </p:nvPr>
        </p:nvSpPr>
        <p:spPr>
          <a:xfrm>
            <a:off x="119922" y="824459"/>
            <a:ext cx="11952156" cy="5352504"/>
          </a:xfrm>
        </p:spPr>
        <p:txBody>
          <a:bodyPr>
            <a:normAutofit fontScale="55000" lnSpcReduction="20000"/>
          </a:bodyPr>
          <a:lstStyle/>
          <a:p>
            <a:pPr marL="0" indent="0">
              <a:buNone/>
            </a:pPr>
            <a:r>
              <a:rPr lang="en-US" sz="4100" dirty="0"/>
              <a:t>We can also use pointers to access arrays.</a:t>
            </a:r>
          </a:p>
          <a:p>
            <a:pPr marL="0" indent="0">
              <a:buNone/>
            </a:pPr>
            <a:r>
              <a:rPr lang="en-US" sz="4100" b="1" dirty="0"/>
              <a:t>Example of simple array</a:t>
            </a:r>
          </a:p>
          <a:p>
            <a:pPr marL="0" indent="0">
              <a:buNone/>
            </a:pPr>
            <a:r>
              <a:rPr lang="en-US" sz="4100" b="1" i="1" dirty="0"/>
              <a:t>#include &lt;</a:t>
            </a:r>
            <a:r>
              <a:rPr lang="en-US" sz="4100" b="1" i="1" dirty="0" err="1"/>
              <a:t>stdio.h</a:t>
            </a:r>
            <a:r>
              <a:rPr lang="en-US" sz="4100" b="1" i="1" dirty="0"/>
              <a:t>&gt;</a:t>
            </a:r>
          </a:p>
          <a:p>
            <a:pPr marL="0" indent="0">
              <a:buNone/>
            </a:pPr>
            <a:endParaRPr lang="en-US" sz="4100" b="1" i="1" dirty="0"/>
          </a:p>
          <a:p>
            <a:pPr marL="0" indent="0">
              <a:buNone/>
            </a:pPr>
            <a:r>
              <a:rPr lang="en-US" sz="4100" b="1" i="1" dirty="0"/>
              <a:t>int main() {</a:t>
            </a:r>
          </a:p>
          <a:p>
            <a:pPr marL="0" indent="0">
              <a:buNone/>
            </a:pPr>
            <a:r>
              <a:rPr lang="en-US" sz="4100" b="1" i="1" dirty="0"/>
              <a:t>    int </a:t>
            </a:r>
            <a:r>
              <a:rPr lang="en-US" sz="4100" b="1" i="1" dirty="0" err="1"/>
              <a:t>myNumbers</a:t>
            </a:r>
            <a:r>
              <a:rPr lang="en-US" sz="4100" b="1" i="1" dirty="0"/>
              <a:t>[4] = {25, 50, 75, 100};</a:t>
            </a:r>
          </a:p>
          <a:p>
            <a:pPr marL="0" indent="0">
              <a:buNone/>
            </a:pPr>
            <a:r>
              <a:rPr lang="en-US" sz="4100" b="1" i="1" dirty="0"/>
              <a:t>    int </a:t>
            </a:r>
            <a:r>
              <a:rPr lang="en-US" sz="4100" b="1" i="1" dirty="0" err="1"/>
              <a:t>i</a:t>
            </a:r>
            <a:r>
              <a:rPr lang="en-US" sz="4100" b="1" i="1" dirty="0"/>
              <a:t>;</a:t>
            </a:r>
          </a:p>
          <a:p>
            <a:pPr marL="0" indent="0">
              <a:buNone/>
            </a:pPr>
            <a:endParaRPr lang="en-US" sz="4100" b="1" i="1" dirty="0"/>
          </a:p>
          <a:p>
            <a:pPr marL="0" indent="0">
              <a:buNone/>
            </a:pPr>
            <a:r>
              <a:rPr lang="en-US" sz="4100" b="1" i="1" dirty="0"/>
              <a:t>    for (</a:t>
            </a:r>
            <a:r>
              <a:rPr lang="en-US" sz="4100" b="1" i="1" dirty="0" err="1"/>
              <a:t>i</a:t>
            </a:r>
            <a:r>
              <a:rPr lang="en-US" sz="4100" b="1" i="1" dirty="0"/>
              <a:t> = 0; </a:t>
            </a:r>
            <a:r>
              <a:rPr lang="en-US" sz="4100" b="1" i="1" dirty="0" err="1"/>
              <a:t>i</a:t>
            </a:r>
            <a:r>
              <a:rPr lang="en-US" sz="4100" b="1" i="1" dirty="0"/>
              <a:t> &lt; 4; </a:t>
            </a:r>
            <a:r>
              <a:rPr lang="en-US" sz="4100" b="1" i="1" dirty="0" err="1"/>
              <a:t>i</a:t>
            </a:r>
            <a:r>
              <a:rPr lang="en-US" sz="4100" b="1" i="1" dirty="0"/>
              <a:t>++) {</a:t>
            </a:r>
          </a:p>
          <a:p>
            <a:pPr marL="0" indent="0">
              <a:buNone/>
            </a:pPr>
            <a:r>
              <a:rPr lang="en-US" sz="4100" b="1" i="1" dirty="0"/>
              <a:t>        </a:t>
            </a:r>
            <a:r>
              <a:rPr lang="en-US" sz="4100" b="1" i="1" dirty="0" err="1"/>
              <a:t>printf</a:t>
            </a:r>
            <a:r>
              <a:rPr lang="en-US" sz="4100" b="1" i="1" dirty="0"/>
              <a:t>("%d\n", </a:t>
            </a:r>
            <a:r>
              <a:rPr lang="en-US" sz="4100" b="1" i="1" dirty="0" err="1"/>
              <a:t>myNumbers</a:t>
            </a:r>
            <a:r>
              <a:rPr lang="en-US" sz="4100" b="1" i="1" dirty="0"/>
              <a:t>[</a:t>
            </a:r>
            <a:r>
              <a:rPr lang="en-US" sz="4100" b="1" i="1" dirty="0" err="1"/>
              <a:t>i</a:t>
            </a:r>
            <a:r>
              <a:rPr lang="en-US" sz="4100" b="1" i="1" dirty="0"/>
              <a:t>]);</a:t>
            </a:r>
          </a:p>
          <a:p>
            <a:pPr marL="0" indent="0">
              <a:buNone/>
            </a:pPr>
            <a:r>
              <a:rPr lang="en-US" sz="4100" b="1" i="1" dirty="0"/>
              <a:t>    }</a:t>
            </a:r>
          </a:p>
          <a:p>
            <a:pPr marL="0" indent="0">
              <a:buNone/>
            </a:pPr>
            <a:endParaRPr lang="en-US" sz="4100" b="1" i="1" dirty="0"/>
          </a:p>
          <a:p>
            <a:pPr marL="0" indent="0">
              <a:buNone/>
            </a:pPr>
            <a:r>
              <a:rPr lang="en-US" sz="4100" b="1" i="1" dirty="0"/>
              <a:t>    return 0;</a:t>
            </a:r>
          </a:p>
          <a:p>
            <a:pPr marL="0" indent="0">
              <a:buNone/>
            </a:pPr>
            <a:r>
              <a:rPr lang="en-US" sz="4100" b="1" i="1" dirty="0"/>
              <a:t>}</a:t>
            </a:r>
          </a:p>
          <a:p>
            <a:pPr marL="0" indent="0">
              <a:buNone/>
            </a:pPr>
            <a:endParaRPr lang="en-US" sz="3200" dirty="0"/>
          </a:p>
        </p:txBody>
      </p:sp>
    </p:spTree>
    <p:extLst>
      <p:ext uri="{BB962C8B-B14F-4D97-AF65-F5344CB8AC3E}">
        <p14:creationId xmlns:p14="http://schemas.microsoft.com/office/powerpoint/2010/main" val="18850262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22E3BD-B960-C8C3-14C2-642CD2B22009}"/>
              </a:ext>
            </a:extLst>
          </p:cNvPr>
          <p:cNvSpPr>
            <a:spLocks noGrp="1"/>
          </p:cNvSpPr>
          <p:nvPr>
            <p:ph type="title"/>
          </p:nvPr>
        </p:nvSpPr>
        <p:spPr>
          <a:xfrm>
            <a:off x="0" y="0"/>
            <a:ext cx="10515600" cy="759137"/>
          </a:xfrm>
        </p:spPr>
        <p:txBody>
          <a:bodyPr/>
          <a:lstStyle/>
          <a:p>
            <a:r>
              <a:rPr lang="en-US" b="1" dirty="0"/>
              <a:t>Example of simple array Output</a:t>
            </a:r>
            <a:endParaRPr lang="en-US" dirty="0"/>
          </a:p>
        </p:txBody>
      </p:sp>
      <p:pic>
        <p:nvPicPr>
          <p:cNvPr id="5" name="Content Placeholder 4" descr="A computer screen with a black screen&#10;&#10;AI-generated content may be incorrect.">
            <a:extLst>
              <a:ext uri="{FF2B5EF4-FFF2-40B4-BE49-F238E27FC236}">
                <a16:creationId xmlns:a16="http://schemas.microsoft.com/office/drawing/2014/main" id="{6ACD5428-BE64-A7A9-A730-4292CCE54C5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380" y="759137"/>
            <a:ext cx="11827239" cy="5733738"/>
          </a:xfrm>
        </p:spPr>
      </p:pic>
    </p:spTree>
    <p:extLst>
      <p:ext uri="{BB962C8B-B14F-4D97-AF65-F5344CB8AC3E}">
        <p14:creationId xmlns:p14="http://schemas.microsoft.com/office/powerpoint/2010/main" val="140902635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17C51-7B05-5B87-2CD4-AF8AA29DFCD2}"/>
              </a:ext>
            </a:extLst>
          </p:cNvPr>
          <p:cNvSpPr>
            <a:spLocks noGrp="1"/>
          </p:cNvSpPr>
          <p:nvPr>
            <p:ph type="title"/>
          </p:nvPr>
        </p:nvSpPr>
        <p:spPr>
          <a:xfrm>
            <a:off x="0" y="18256"/>
            <a:ext cx="10515600" cy="806204"/>
          </a:xfrm>
        </p:spPr>
        <p:txBody>
          <a:bodyPr/>
          <a:lstStyle/>
          <a:p>
            <a:r>
              <a:rPr lang="en-US" dirty="0"/>
              <a:t>C Pointers and Arrays</a:t>
            </a:r>
          </a:p>
        </p:txBody>
      </p:sp>
      <p:sp>
        <p:nvSpPr>
          <p:cNvPr id="3" name="Content Placeholder 2">
            <a:extLst>
              <a:ext uri="{FF2B5EF4-FFF2-40B4-BE49-F238E27FC236}">
                <a16:creationId xmlns:a16="http://schemas.microsoft.com/office/drawing/2014/main" id="{632C2439-4D7D-B031-E478-A32D7CC7EF83}"/>
              </a:ext>
            </a:extLst>
          </p:cNvPr>
          <p:cNvSpPr>
            <a:spLocks noGrp="1"/>
          </p:cNvSpPr>
          <p:nvPr>
            <p:ph idx="1"/>
          </p:nvPr>
        </p:nvSpPr>
        <p:spPr>
          <a:xfrm>
            <a:off x="209862" y="824460"/>
            <a:ext cx="11353800" cy="5741232"/>
          </a:xfrm>
        </p:spPr>
        <p:txBody>
          <a:bodyPr>
            <a:noAutofit/>
          </a:bodyPr>
          <a:lstStyle/>
          <a:p>
            <a:pPr marL="0" indent="0">
              <a:buNone/>
            </a:pPr>
            <a:r>
              <a:rPr lang="en-US" sz="3200" b="1" dirty="0"/>
              <a:t>How pointer access arrays example 1</a:t>
            </a:r>
          </a:p>
          <a:p>
            <a:pPr marL="0" indent="0">
              <a:buNone/>
            </a:pPr>
            <a:r>
              <a:rPr lang="en-US" sz="3200" b="1" i="1" dirty="0"/>
              <a:t>#include &lt;</a:t>
            </a:r>
            <a:r>
              <a:rPr lang="en-US" sz="3200" b="1" i="1" dirty="0" err="1"/>
              <a:t>stdio.h</a:t>
            </a:r>
            <a:r>
              <a:rPr lang="en-US" sz="3200" b="1" i="1" dirty="0"/>
              <a:t>&gt;</a:t>
            </a:r>
          </a:p>
          <a:p>
            <a:pPr marL="0" indent="0">
              <a:buNone/>
            </a:pPr>
            <a:r>
              <a:rPr lang="en-US" sz="3200" b="1" i="1" dirty="0"/>
              <a:t>int main() {</a:t>
            </a:r>
          </a:p>
          <a:p>
            <a:pPr marL="0" indent="0">
              <a:buNone/>
            </a:pPr>
            <a:r>
              <a:rPr lang="en-US" sz="3200" b="1" i="1" dirty="0"/>
              <a:t>  int </a:t>
            </a:r>
            <a:r>
              <a:rPr lang="en-US" sz="3200" b="1" i="1" dirty="0" err="1"/>
              <a:t>myNumbers</a:t>
            </a:r>
            <a:r>
              <a:rPr lang="en-US" sz="3200" b="1" i="1" dirty="0"/>
              <a:t>[4] = {25, 50, 75, 100};</a:t>
            </a:r>
          </a:p>
          <a:p>
            <a:pPr marL="0" indent="0">
              <a:buNone/>
            </a:pPr>
            <a:r>
              <a:rPr lang="en-US" sz="3200" b="1" i="1" dirty="0"/>
              <a:t>  int </a:t>
            </a:r>
            <a:r>
              <a:rPr lang="en-US" sz="3200" b="1" i="1" dirty="0" err="1"/>
              <a:t>i</a:t>
            </a:r>
            <a:r>
              <a:rPr lang="en-US" sz="3200" b="1" i="1" dirty="0"/>
              <a:t>;</a:t>
            </a:r>
          </a:p>
          <a:p>
            <a:pPr marL="0" indent="0">
              <a:buNone/>
            </a:pPr>
            <a:r>
              <a:rPr lang="en-US" sz="3200" b="1" i="1" dirty="0"/>
              <a:t>  for (</a:t>
            </a:r>
            <a:r>
              <a:rPr lang="en-US" sz="3200" b="1" i="1" dirty="0" err="1"/>
              <a:t>i</a:t>
            </a:r>
            <a:r>
              <a:rPr lang="en-US" sz="3200" b="1" i="1" dirty="0"/>
              <a:t> = 0; </a:t>
            </a:r>
            <a:r>
              <a:rPr lang="en-US" sz="3200" b="1" i="1" dirty="0" err="1"/>
              <a:t>i</a:t>
            </a:r>
            <a:r>
              <a:rPr lang="en-US" sz="3200" b="1" i="1" dirty="0"/>
              <a:t> &lt; 4; </a:t>
            </a:r>
            <a:r>
              <a:rPr lang="en-US" sz="3200" b="1" i="1" dirty="0" err="1"/>
              <a:t>i</a:t>
            </a:r>
            <a:r>
              <a:rPr lang="en-US" sz="3200" b="1" i="1" dirty="0"/>
              <a:t>++) {</a:t>
            </a:r>
          </a:p>
          <a:p>
            <a:pPr marL="0" indent="0">
              <a:buNone/>
            </a:pPr>
            <a:r>
              <a:rPr lang="en-US" sz="3200" b="1" i="1" dirty="0"/>
              <a:t>    </a:t>
            </a:r>
            <a:r>
              <a:rPr lang="en-US" sz="3200" b="1" i="1" dirty="0" err="1"/>
              <a:t>printf</a:t>
            </a:r>
            <a:r>
              <a:rPr lang="en-US" sz="3200" b="1" i="1" dirty="0"/>
              <a:t>("%p\n", &amp;</a:t>
            </a:r>
            <a:r>
              <a:rPr lang="en-US" sz="3200" b="1" i="1" dirty="0" err="1"/>
              <a:t>myNumbers</a:t>
            </a:r>
            <a:r>
              <a:rPr lang="en-US" sz="3200" b="1" i="1" dirty="0"/>
              <a:t>[</a:t>
            </a:r>
            <a:r>
              <a:rPr lang="en-US" sz="3200" b="1" i="1" dirty="0" err="1"/>
              <a:t>i</a:t>
            </a:r>
            <a:r>
              <a:rPr lang="en-US" sz="3200" b="1" i="1" dirty="0"/>
              <a:t>]);</a:t>
            </a:r>
          </a:p>
          <a:p>
            <a:pPr marL="0" indent="0">
              <a:buNone/>
            </a:pPr>
            <a:r>
              <a:rPr lang="en-US" sz="3200" b="1" i="1" dirty="0"/>
              <a:t>  }</a:t>
            </a:r>
          </a:p>
          <a:p>
            <a:pPr marL="0" indent="0">
              <a:buNone/>
            </a:pPr>
            <a:r>
              <a:rPr lang="en-US" sz="3200" b="1" i="1" dirty="0"/>
              <a:t>  return 0;</a:t>
            </a:r>
          </a:p>
          <a:p>
            <a:pPr marL="0" indent="0">
              <a:buNone/>
            </a:pPr>
            <a:r>
              <a:rPr lang="en-US" sz="3200" b="1" i="1" dirty="0"/>
              <a:t>}</a:t>
            </a:r>
          </a:p>
          <a:p>
            <a:pPr marL="0" indent="0">
              <a:buNone/>
            </a:pPr>
            <a:endParaRPr lang="en-US" sz="3200" dirty="0"/>
          </a:p>
        </p:txBody>
      </p:sp>
    </p:spTree>
    <p:extLst>
      <p:ext uri="{BB962C8B-B14F-4D97-AF65-F5344CB8AC3E}">
        <p14:creationId xmlns:p14="http://schemas.microsoft.com/office/powerpoint/2010/main" val="151699381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A6835-CD53-174D-82E4-D96594287D69}"/>
              </a:ext>
            </a:extLst>
          </p:cNvPr>
          <p:cNvSpPr>
            <a:spLocks noGrp="1"/>
          </p:cNvSpPr>
          <p:nvPr>
            <p:ph type="title"/>
          </p:nvPr>
        </p:nvSpPr>
        <p:spPr>
          <a:xfrm>
            <a:off x="118672" y="125282"/>
            <a:ext cx="10515600" cy="714167"/>
          </a:xfrm>
        </p:spPr>
        <p:txBody>
          <a:bodyPr>
            <a:normAutofit fontScale="90000"/>
          </a:bodyPr>
          <a:lstStyle/>
          <a:p>
            <a:r>
              <a:rPr lang="en-US" b="1" dirty="0"/>
              <a:t>How pointer access arrays example 1 Output</a:t>
            </a:r>
            <a:endParaRPr lang="en-US" dirty="0"/>
          </a:p>
        </p:txBody>
      </p:sp>
      <p:pic>
        <p:nvPicPr>
          <p:cNvPr id="5" name="Content Placeholder 4" descr="A computer screen with a black screen">
            <a:extLst>
              <a:ext uri="{FF2B5EF4-FFF2-40B4-BE49-F238E27FC236}">
                <a16:creationId xmlns:a16="http://schemas.microsoft.com/office/drawing/2014/main" id="{AC6349FA-C04D-DAF5-DB4D-1FE962EDF1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672" y="1026942"/>
            <a:ext cx="11933419" cy="5523760"/>
          </a:xfrm>
        </p:spPr>
      </p:pic>
    </p:spTree>
    <p:extLst>
      <p:ext uri="{BB962C8B-B14F-4D97-AF65-F5344CB8AC3E}">
        <p14:creationId xmlns:p14="http://schemas.microsoft.com/office/powerpoint/2010/main" val="61994060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E13C8-76E8-951E-8180-2F8EF1672AC8}"/>
              </a:ext>
            </a:extLst>
          </p:cNvPr>
          <p:cNvSpPr>
            <a:spLocks noGrp="1"/>
          </p:cNvSpPr>
          <p:nvPr>
            <p:ph type="title"/>
          </p:nvPr>
        </p:nvSpPr>
        <p:spPr>
          <a:xfrm>
            <a:off x="182648" y="105678"/>
            <a:ext cx="12411857" cy="879059"/>
          </a:xfrm>
        </p:spPr>
        <p:txBody>
          <a:bodyPr>
            <a:normAutofit fontScale="90000"/>
          </a:bodyPr>
          <a:lstStyle/>
          <a:p>
            <a:r>
              <a:rPr lang="en-US" b="1" dirty="0"/>
              <a:t>How pointer access arrays example 1 Output Explained</a:t>
            </a:r>
            <a:endParaRPr lang="en-US" dirty="0"/>
          </a:p>
        </p:txBody>
      </p:sp>
      <p:sp>
        <p:nvSpPr>
          <p:cNvPr id="3" name="Content Placeholder 2">
            <a:extLst>
              <a:ext uri="{FF2B5EF4-FFF2-40B4-BE49-F238E27FC236}">
                <a16:creationId xmlns:a16="http://schemas.microsoft.com/office/drawing/2014/main" id="{DE902EFF-F89B-5315-7F2E-3274BC76C1A2}"/>
              </a:ext>
            </a:extLst>
          </p:cNvPr>
          <p:cNvSpPr>
            <a:spLocks noGrp="1"/>
          </p:cNvSpPr>
          <p:nvPr>
            <p:ph idx="1"/>
          </p:nvPr>
        </p:nvSpPr>
        <p:spPr>
          <a:xfrm>
            <a:off x="182648" y="984737"/>
            <a:ext cx="11782269" cy="5630767"/>
          </a:xfrm>
        </p:spPr>
        <p:txBody>
          <a:bodyPr>
            <a:normAutofit fontScale="92500" lnSpcReduction="20000"/>
          </a:bodyPr>
          <a:lstStyle/>
          <a:p>
            <a:pPr marL="0" indent="0" algn="just">
              <a:buNone/>
            </a:pPr>
            <a:r>
              <a:rPr lang="en-US" sz="3200" dirty="0" err="1"/>
              <a:t>myNumbers</a:t>
            </a:r>
            <a:r>
              <a:rPr lang="en-US" sz="3200" dirty="0"/>
              <a:t>[0] → 0000003d861ff720</a:t>
            </a:r>
          </a:p>
          <a:p>
            <a:pPr marL="0" indent="0" algn="just">
              <a:buNone/>
            </a:pPr>
            <a:r>
              <a:rPr lang="en-US" sz="3200" dirty="0" err="1"/>
              <a:t>myNumbers</a:t>
            </a:r>
            <a:r>
              <a:rPr lang="en-US" sz="3200" dirty="0"/>
              <a:t>[1] → 0000003d861ff724</a:t>
            </a:r>
          </a:p>
          <a:p>
            <a:pPr marL="0" indent="0" algn="just">
              <a:buNone/>
            </a:pPr>
            <a:r>
              <a:rPr lang="en-US" sz="3200" dirty="0" err="1"/>
              <a:t>myNumbers</a:t>
            </a:r>
            <a:r>
              <a:rPr lang="en-US" sz="3200" dirty="0"/>
              <a:t>[2] → 0000003d861ff728</a:t>
            </a:r>
          </a:p>
          <a:p>
            <a:pPr marL="0" indent="0" algn="just">
              <a:buNone/>
            </a:pPr>
            <a:r>
              <a:rPr lang="en-US" sz="3200" dirty="0" err="1"/>
              <a:t>myNumbers</a:t>
            </a:r>
            <a:r>
              <a:rPr lang="en-US" sz="3200" dirty="0"/>
              <a:t>[3] → 0000003d861ff72c</a:t>
            </a:r>
          </a:p>
          <a:p>
            <a:pPr marL="0" indent="0" algn="just">
              <a:buNone/>
            </a:pPr>
            <a:r>
              <a:rPr lang="en-US" sz="3200" dirty="0"/>
              <a:t>The output above shows the </a:t>
            </a:r>
            <a:r>
              <a:rPr lang="en-US" sz="3200" b="1" dirty="0"/>
              <a:t>memory addresses</a:t>
            </a:r>
            <a:r>
              <a:rPr lang="en-US" sz="3200" dirty="0"/>
              <a:t> where each element of the integer array is stored.</a:t>
            </a:r>
          </a:p>
          <a:p>
            <a:pPr marL="0" indent="0" algn="just">
              <a:buNone/>
            </a:pPr>
            <a:r>
              <a:rPr lang="en-US" sz="3200" dirty="0"/>
              <a:t>In C, array elements are stored in </a:t>
            </a:r>
            <a:r>
              <a:rPr lang="en-US" sz="3200" b="1" dirty="0"/>
              <a:t>contiguous memory locations</a:t>
            </a:r>
            <a:r>
              <a:rPr lang="en-US" sz="3200" dirty="0"/>
              <a:t>. Since the data type used is int, and an int typically occupies </a:t>
            </a:r>
            <a:r>
              <a:rPr lang="en-US" sz="3200" b="1" dirty="0"/>
              <a:t>4 bytes</a:t>
            </a:r>
            <a:r>
              <a:rPr lang="en-US" sz="3200" dirty="0"/>
              <a:t>, each successive element in the array is placed </a:t>
            </a:r>
            <a:r>
              <a:rPr lang="en-US" sz="3200" b="1" dirty="0"/>
              <a:t>4 bytes after</a:t>
            </a:r>
            <a:r>
              <a:rPr lang="en-US" sz="3200" dirty="0"/>
              <a:t> the previous one in memory.</a:t>
            </a:r>
          </a:p>
          <a:p>
            <a:pPr marL="0" indent="0" algn="just">
              <a:buNone/>
            </a:pPr>
            <a:r>
              <a:rPr lang="en-US" sz="3200" dirty="0"/>
              <a:t>As a result, the memory addresses increase by </a:t>
            </a:r>
            <a:r>
              <a:rPr lang="en-US" sz="3200" b="1" dirty="0"/>
              <a:t>4</a:t>
            </a:r>
            <a:r>
              <a:rPr lang="en-US" sz="3200" dirty="0"/>
              <a:t> each time,</a:t>
            </a:r>
            <a:r>
              <a:rPr lang="en-US" dirty="0"/>
              <a:t> which means that the entire array takes up 16 bytes (4 * 4) of memory storage</a:t>
            </a:r>
            <a:endParaRPr lang="en-US" sz="3200" dirty="0"/>
          </a:p>
          <a:p>
            <a:pPr marL="0" indent="0">
              <a:buNone/>
            </a:pPr>
            <a:endParaRPr lang="en-US" sz="3200" dirty="0"/>
          </a:p>
          <a:p>
            <a:pPr marL="0" indent="0">
              <a:buNone/>
            </a:pPr>
            <a:endParaRPr lang="en-US" dirty="0"/>
          </a:p>
        </p:txBody>
      </p:sp>
    </p:spTree>
    <p:extLst>
      <p:ext uri="{BB962C8B-B14F-4D97-AF65-F5344CB8AC3E}">
        <p14:creationId xmlns:p14="http://schemas.microsoft.com/office/powerpoint/2010/main" val="402308748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03137-5BEF-E8CA-6AE5-23C48DC677CE}"/>
              </a:ext>
            </a:extLst>
          </p:cNvPr>
          <p:cNvSpPr>
            <a:spLocks noGrp="1"/>
          </p:cNvSpPr>
          <p:nvPr>
            <p:ph type="title"/>
          </p:nvPr>
        </p:nvSpPr>
        <p:spPr>
          <a:xfrm>
            <a:off x="0" y="0"/>
            <a:ext cx="10515600" cy="609236"/>
          </a:xfrm>
        </p:spPr>
        <p:txBody>
          <a:bodyPr>
            <a:normAutofit fontScale="90000"/>
          </a:bodyPr>
          <a:lstStyle/>
          <a:p>
            <a:r>
              <a:rPr lang="en-US" b="1" dirty="0"/>
              <a:t>Size of (</a:t>
            </a:r>
            <a:r>
              <a:rPr lang="en-US" b="1" dirty="0" err="1"/>
              <a:t>data_type</a:t>
            </a:r>
            <a:r>
              <a:rPr lang="en-US" b="1" dirty="0"/>
              <a:t>)</a:t>
            </a:r>
          </a:p>
        </p:txBody>
      </p:sp>
      <p:pic>
        <p:nvPicPr>
          <p:cNvPr id="5" name="Content Placeholder 4" descr="A screenshot of a computer&#10;&#10;AI-generated content may be incorrect.">
            <a:extLst>
              <a:ext uri="{FF2B5EF4-FFF2-40B4-BE49-F238E27FC236}">
                <a16:creationId xmlns:a16="http://schemas.microsoft.com/office/drawing/2014/main" id="{3C44501B-E575-24C8-2242-92767FD47E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39253" y="854438"/>
            <a:ext cx="8814216" cy="4661942"/>
          </a:xfrm>
        </p:spPr>
      </p:pic>
    </p:spTree>
    <p:extLst>
      <p:ext uri="{BB962C8B-B14F-4D97-AF65-F5344CB8AC3E}">
        <p14:creationId xmlns:p14="http://schemas.microsoft.com/office/powerpoint/2010/main" val="5860781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0A670-962D-4671-60F5-F7EAF81F6B0F}"/>
              </a:ext>
            </a:extLst>
          </p:cNvPr>
          <p:cNvSpPr>
            <a:spLocks noGrp="1"/>
          </p:cNvSpPr>
          <p:nvPr>
            <p:ph type="title"/>
          </p:nvPr>
        </p:nvSpPr>
        <p:spPr>
          <a:xfrm>
            <a:off x="0" y="459276"/>
            <a:ext cx="11268222" cy="607102"/>
          </a:xfrm>
        </p:spPr>
        <p:txBody>
          <a:bodyPr>
            <a:normAutofit fontScale="90000"/>
          </a:bodyPr>
          <a:lstStyle/>
          <a:p>
            <a:r>
              <a:rPr lang="en-US" b="1" dirty="0"/>
              <a:t>How pointer access arrays Example 2</a:t>
            </a:r>
            <a:br>
              <a:rPr lang="en-US" b="1" dirty="0"/>
            </a:br>
            <a:endParaRPr lang="en-US" dirty="0"/>
          </a:p>
        </p:txBody>
      </p:sp>
      <p:sp>
        <p:nvSpPr>
          <p:cNvPr id="3" name="Content Placeholder 2">
            <a:extLst>
              <a:ext uri="{FF2B5EF4-FFF2-40B4-BE49-F238E27FC236}">
                <a16:creationId xmlns:a16="http://schemas.microsoft.com/office/drawing/2014/main" id="{43357730-625E-F614-7506-6653EEDA739F}"/>
              </a:ext>
            </a:extLst>
          </p:cNvPr>
          <p:cNvSpPr>
            <a:spLocks noGrp="1"/>
          </p:cNvSpPr>
          <p:nvPr>
            <p:ph idx="1"/>
          </p:nvPr>
        </p:nvSpPr>
        <p:spPr>
          <a:xfrm>
            <a:off x="131759" y="869430"/>
            <a:ext cx="11872209" cy="6149714"/>
          </a:xfrm>
        </p:spPr>
        <p:txBody>
          <a:bodyPr>
            <a:noAutofit/>
          </a:bodyPr>
          <a:lstStyle/>
          <a:p>
            <a:pPr marL="0" indent="0">
              <a:buNone/>
            </a:pPr>
            <a:r>
              <a:rPr lang="en-US" sz="2000" b="1" i="1" dirty="0"/>
              <a:t>#include &lt;</a:t>
            </a:r>
            <a:r>
              <a:rPr lang="en-US" sz="2000" b="1" i="1" dirty="0" err="1"/>
              <a:t>stdio.h</a:t>
            </a:r>
            <a:r>
              <a:rPr lang="en-US" sz="2000" b="1" i="1" dirty="0"/>
              <a:t>&gt;</a:t>
            </a:r>
          </a:p>
          <a:p>
            <a:pPr marL="0" indent="0">
              <a:buNone/>
            </a:pPr>
            <a:r>
              <a:rPr lang="en-US" sz="2000" b="1" i="1" dirty="0"/>
              <a:t>int main() {</a:t>
            </a:r>
          </a:p>
          <a:p>
            <a:pPr marL="0" indent="0">
              <a:buNone/>
            </a:pPr>
            <a:r>
              <a:rPr lang="en-US" sz="2000" b="1" i="1" dirty="0"/>
              <a:t>  int </a:t>
            </a:r>
            <a:r>
              <a:rPr lang="en-US" sz="2000" b="1" i="1" dirty="0" err="1"/>
              <a:t>myNumbers</a:t>
            </a:r>
            <a:r>
              <a:rPr lang="en-US" sz="2000" b="1" i="1" dirty="0"/>
              <a:t>[4] = {25, 50, 75, 100};</a:t>
            </a:r>
          </a:p>
          <a:p>
            <a:pPr marL="0" indent="0">
              <a:buNone/>
            </a:pPr>
            <a:r>
              <a:rPr lang="en-US" sz="2000" b="1" i="1" dirty="0"/>
              <a:t>  // Get the memory address of the </a:t>
            </a:r>
            <a:r>
              <a:rPr lang="en-US" sz="2000" b="1" i="1" dirty="0" err="1"/>
              <a:t>myNumbers</a:t>
            </a:r>
            <a:r>
              <a:rPr lang="en-US" sz="2000" b="1" i="1" dirty="0"/>
              <a:t> array</a:t>
            </a:r>
          </a:p>
          <a:p>
            <a:pPr marL="0" indent="0">
              <a:buNone/>
            </a:pPr>
            <a:r>
              <a:rPr lang="en-US" sz="2000" b="1" i="1" dirty="0"/>
              <a:t>  </a:t>
            </a:r>
            <a:r>
              <a:rPr lang="en-US" sz="2000" b="1" i="1" dirty="0" err="1"/>
              <a:t>printf</a:t>
            </a:r>
            <a:r>
              <a:rPr lang="en-US" sz="2000" b="1" i="1" dirty="0"/>
              <a:t>("%p\n", </a:t>
            </a:r>
            <a:r>
              <a:rPr lang="en-US" sz="2000" b="1" i="1" dirty="0" err="1"/>
              <a:t>myNumbers</a:t>
            </a:r>
            <a:r>
              <a:rPr lang="en-US" sz="2000" b="1" i="1" dirty="0"/>
              <a:t>);</a:t>
            </a:r>
          </a:p>
          <a:p>
            <a:pPr marL="0" indent="0">
              <a:buNone/>
            </a:pPr>
            <a:r>
              <a:rPr lang="en-US" sz="2000" b="1" i="1" dirty="0"/>
              <a:t>// Get the value of the first element in </a:t>
            </a:r>
            <a:r>
              <a:rPr lang="en-US" sz="2000" b="1" i="1" dirty="0" err="1"/>
              <a:t>myNumbers</a:t>
            </a:r>
            <a:endParaRPr lang="en-US" sz="2000" b="1" i="1" dirty="0"/>
          </a:p>
          <a:p>
            <a:pPr marL="0" indent="0">
              <a:buNone/>
            </a:pPr>
            <a:r>
              <a:rPr lang="en-US" sz="2000" b="1" i="1" dirty="0" err="1"/>
              <a:t>printf</a:t>
            </a:r>
            <a:r>
              <a:rPr lang="en-US" sz="2000" b="1" i="1" dirty="0"/>
              <a:t>("%d\n", *</a:t>
            </a:r>
            <a:r>
              <a:rPr lang="en-US" sz="2000" b="1" i="1" dirty="0" err="1"/>
              <a:t>myNumbers</a:t>
            </a:r>
            <a:r>
              <a:rPr lang="en-US" sz="2000" b="1" i="1" dirty="0"/>
              <a:t>);</a:t>
            </a:r>
          </a:p>
          <a:p>
            <a:pPr marL="0" indent="0">
              <a:buNone/>
            </a:pPr>
            <a:r>
              <a:rPr lang="en-US" sz="2000" b="1" i="1" dirty="0"/>
              <a:t>  // Get the value of the second element in </a:t>
            </a:r>
            <a:r>
              <a:rPr lang="en-US" sz="2000" b="1" i="1" dirty="0" err="1"/>
              <a:t>myNumbers</a:t>
            </a:r>
            <a:endParaRPr lang="en-US" sz="2000" b="1" i="1" dirty="0"/>
          </a:p>
          <a:p>
            <a:pPr marL="0" indent="0">
              <a:buNone/>
            </a:pPr>
            <a:r>
              <a:rPr lang="en-US" sz="2000" b="1" i="1" dirty="0" err="1"/>
              <a:t>printf</a:t>
            </a:r>
            <a:r>
              <a:rPr lang="en-US" sz="2000" b="1" i="1" dirty="0"/>
              <a:t>("%d\n", *(</a:t>
            </a:r>
            <a:r>
              <a:rPr lang="en-US" sz="2000" b="1" i="1" dirty="0" err="1"/>
              <a:t>myNumbers</a:t>
            </a:r>
            <a:r>
              <a:rPr lang="en-US" sz="2000" b="1" i="1" dirty="0"/>
              <a:t> + 1));</a:t>
            </a:r>
          </a:p>
          <a:p>
            <a:pPr marL="0" indent="0">
              <a:buNone/>
            </a:pPr>
            <a:r>
              <a:rPr lang="en-US" sz="2000" b="1" i="1" dirty="0"/>
              <a:t>// Get the value of the third element in </a:t>
            </a:r>
            <a:r>
              <a:rPr lang="en-US" sz="2000" b="1" i="1" dirty="0" err="1"/>
              <a:t>myNumbers</a:t>
            </a:r>
            <a:endParaRPr lang="en-US" sz="2000" b="1" i="1" dirty="0"/>
          </a:p>
          <a:p>
            <a:pPr marL="0" indent="0">
              <a:buNone/>
            </a:pPr>
            <a:r>
              <a:rPr lang="en-US" sz="2000" b="1" i="1" dirty="0" err="1"/>
              <a:t>printf</a:t>
            </a:r>
            <a:r>
              <a:rPr lang="en-US" sz="2000" b="1" i="1" dirty="0"/>
              <a:t>("%d\n", *(</a:t>
            </a:r>
            <a:r>
              <a:rPr lang="en-US" sz="2000" b="1" i="1" dirty="0" err="1"/>
              <a:t>myNumbers</a:t>
            </a:r>
            <a:r>
              <a:rPr lang="en-US" sz="2000" b="1" i="1" dirty="0"/>
              <a:t> + 2));</a:t>
            </a:r>
          </a:p>
          <a:p>
            <a:pPr marL="0" indent="0">
              <a:buNone/>
            </a:pPr>
            <a:r>
              <a:rPr lang="en-US" sz="2000" b="1" i="1" dirty="0"/>
              <a:t>// Get the value of the </a:t>
            </a:r>
            <a:r>
              <a:rPr lang="en-US" sz="2000" b="1" i="1" dirty="0" err="1"/>
              <a:t>fouth</a:t>
            </a:r>
            <a:r>
              <a:rPr lang="en-US" sz="2000" b="1" i="1" dirty="0"/>
              <a:t> element in </a:t>
            </a:r>
            <a:r>
              <a:rPr lang="en-US" sz="2000" b="1" i="1" dirty="0" err="1"/>
              <a:t>myNumbers</a:t>
            </a:r>
            <a:endParaRPr lang="en-US" sz="2000" b="1" i="1" dirty="0"/>
          </a:p>
          <a:p>
            <a:pPr marL="0" indent="0">
              <a:buNone/>
            </a:pPr>
            <a:r>
              <a:rPr lang="en-US" sz="2000" b="1" i="1" dirty="0" err="1"/>
              <a:t>printf</a:t>
            </a:r>
            <a:r>
              <a:rPr lang="en-US" sz="2000" b="1" i="1" dirty="0"/>
              <a:t>("%d\n", *(</a:t>
            </a:r>
            <a:r>
              <a:rPr lang="en-US" sz="2000" b="1" i="1" dirty="0" err="1"/>
              <a:t>myNumbers</a:t>
            </a:r>
            <a:r>
              <a:rPr lang="en-US" sz="2000" b="1" i="1" dirty="0"/>
              <a:t> + 3));</a:t>
            </a:r>
          </a:p>
          <a:p>
            <a:pPr marL="0" indent="0">
              <a:buNone/>
            </a:pPr>
            <a:r>
              <a:rPr lang="en-US" sz="2000" b="1" i="1" dirty="0"/>
              <a:t>  return 0;</a:t>
            </a:r>
          </a:p>
          <a:p>
            <a:pPr marL="0" indent="0">
              <a:buNone/>
            </a:pPr>
            <a:r>
              <a:rPr lang="en-US" sz="2000" b="1" i="1" dirty="0"/>
              <a:t>}</a:t>
            </a:r>
          </a:p>
          <a:p>
            <a:pPr marL="0" indent="0">
              <a:buNone/>
            </a:pPr>
            <a:endParaRPr lang="en-US" sz="2000" b="1" i="1" dirty="0"/>
          </a:p>
        </p:txBody>
      </p:sp>
    </p:spTree>
    <p:extLst>
      <p:ext uri="{BB962C8B-B14F-4D97-AF65-F5344CB8AC3E}">
        <p14:creationId xmlns:p14="http://schemas.microsoft.com/office/powerpoint/2010/main" val="212244617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B9C3C-4FC2-197D-863F-9642E42F9261}"/>
              </a:ext>
            </a:extLst>
          </p:cNvPr>
          <p:cNvSpPr>
            <a:spLocks noGrp="1"/>
          </p:cNvSpPr>
          <p:nvPr>
            <p:ph type="title"/>
          </p:nvPr>
        </p:nvSpPr>
        <p:spPr>
          <a:xfrm>
            <a:off x="0" y="86792"/>
            <a:ext cx="12471817" cy="681038"/>
          </a:xfrm>
        </p:spPr>
        <p:txBody>
          <a:bodyPr>
            <a:normAutofit fontScale="90000"/>
          </a:bodyPr>
          <a:lstStyle/>
          <a:p>
            <a:r>
              <a:rPr lang="en-US" b="1" dirty="0"/>
              <a:t>How pointer access arrays Example 2 Output</a:t>
            </a:r>
            <a:endParaRPr lang="en-US" dirty="0"/>
          </a:p>
        </p:txBody>
      </p:sp>
      <p:pic>
        <p:nvPicPr>
          <p:cNvPr id="5" name="Content Placeholder 4" descr="A computer screen shot of a black screen&#10;&#10;AI-generated content may be incorrect.">
            <a:extLst>
              <a:ext uri="{FF2B5EF4-FFF2-40B4-BE49-F238E27FC236}">
                <a16:creationId xmlns:a16="http://schemas.microsoft.com/office/drawing/2014/main" id="{3E432E77-2F2A-037F-F373-D8FB38475F8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883" y="1055078"/>
            <a:ext cx="11827238" cy="5831058"/>
          </a:xfrm>
        </p:spPr>
      </p:pic>
    </p:spTree>
    <p:extLst>
      <p:ext uri="{BB962C8B-B14F-4D97-AF65-F5344CB8AC3E}">
        <p14:creationId xmlns:p14="http://schemas.microsoft.com/office/powerpoint/2010/main" val="399360060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B3F6C-0FEA-2EB9-E315-767ABE3B1E3B}"/>
              </a:ext>
            </a:extLst>
          </p:cNvPr>
          <p:cNvSpPr>
            <a:spLocks noGrp="1"/>
          </p:cNvSpPr>
          <p:nvPr>
            <p:ph type="title"/>
          </p:nvPr>
        </p:nvSpPr>
        <p:spPr>
          <a:xfrm>
            <a:off x="0" y="353934"/>
            <a:ext cx="10515600" cy="654206"/>
          </a:xfrm>
        </p:spPr>
        <p:txBody>
          <a:bodyPr>
            <a:normAutofit fontScale="90000"/>
          </a:bodyPr>
          <a:lstStyle/>
          <a:p>
            <a:r>
              <a:rPr lang="en-US" dirty="0"/>
              <a:t>C Pointer Arithmetic</a:t>
            </a:r>
            <a:br>
              <a:rPr lang="en-US" dirty="0"/>
            </a:br>
            <a:endParaRPr lang="en-US" dirty="0"/>
          </a:p>
        </p:txBody>
      </p:sp>
      <p:sp>
        <p:nvSpPr>
          <p:cNvPr id="3" name="Content Placeholder 2">
            <a:extLst>
              <a:ext uri="{FF2B5EF4-FFF2-40B4-BE49-F238E27FC236}">
                <a16:creationId xmlns:a16="http://schemas.microsoft.com/office/drawing/2014/main" id="{3080FD9C-156F-E027-F9FB-50BAE5AB27D9}"/>
              </a:ext>
            </a:extLst>
          </p:cNvPr>
          <p:cNvSpPr>
            <a:spLocks noGrp="1"/>
          </p:cNvSpPr>
          <p:nvPr>
            <p:ph idx="1"/>
          </p:nvPr>
        </p:nvSpPr>
        <p:spPr>
          <a:xfrm>
            <a:off x="224851" y="824459"/>
            <a:ext cx="11782269" cy="5352504"/>
          </a:xfrm>
        </p:spPr>
        <p:txBody>
          <a:bodyPr/>
          <a:lstStyle/>
          <a:p>
            <a:pPr marL="0" indent="0">
              <a:buNone/>
            </a:pPr>
            <a:r>
              <a:rPr lang="en-US" b="1" dirty="0"/>
              <a:t>Pointer arithmetic</a:t>
            </a:r>
            <a:r>
              <a:rPr lang="en-US" dirty="0"/>
              <a:t> means changing the value of a pointer to make it point to a different element in memory.</a:t>
            </a:r>
          </a:p>
          <a:p>
            <a:pPr marL="0" indent="0">
              <a:buNone/>
            </a:pPr>
            <a:endParaRPr lang="en-US" dirty="0"/>
          </a:p>
          <a:p>
            <a:pPr marL="0" indent="0">
              <a:buNone/>
            </a:pPr>
            <a:r>
              <a:rPr lang="en-US" dirty="0"/>
              <a:t>Increment and Decrement</a:t>
            </a:r>
          </a:p>
          <a:p>
            <a:pPr marL="0" indent="0">
              <a:buNone/>
            </a:pPr>
            <a:r>
              <a:rPr lang="en-US" dirty="0"/>
              <a:t>We can move a pointer with ++ and -- (and with += / -=):</a:t>
            </a:r>
          </a:p>
          <a:p>
            <a:pPr marL="0" indent="0">
              <a:buNone/>
            </a:pPr>
            <a:endParaRPr lang="en-US" dirty="0"/>
          </a:p>
        </p:txBody>
      </p:sp>
    </p:spTree>
    <p:extLst>
      <p:ext uri="{BB962C8B-B14F-4D97-AF65-F5344CB8AC3E}">
        <p14:creationId xmlns:p14="http://schemas.microsoft.com/office/powerpoint/2010/main" val="242368142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C2EBC-B3AD-1220-1CD9-5B0191AE7964}"/>
              </a:ext>
            </a:extLst>
          </p:cNvPr>
          <p:cNvSpPr>
            <a:spLocks noGrp="1"/>
          </p:cNvSpPr>
          <p:nvPr>
            <p:ph type="title"/>
          </p:nvPr>
        </p:nvSpPr>
        <p:spPr>
          <a:xfrm>
            <a:off x="118672" y="200233"/>
            <a:ext cx="10515600" cy="594245"/>
          </a:xfrm>
        </p:spPr>
        <p:txBody>
          <a:bodyPr>
            <a:normAutofit fontScale="90000"/>
          </a:bodyPr>
          <a:lstStyle/>
          <a:p>
            <a:r>
              <a:rPr lang="en-US" dirty="0"/>
              <a:t>C Pointer Arithmetic  example</a:t>
            </a:r>
            <a:br>
              <a:rPr lang="en-US" dirty="0"/>
            </a:br>
            <a:endParaRPr lang="en-US" dirty="0"/>
          </a:p>
        </p:txBody>
      </p:sp>
      <p:sp>
        <p:nvSpPr>
          <p:cNvPr id="3" name="Content Placeholder 2">
            <a:extLst>
              <a:ext uri="{FF2B5EF4-FFF2-40B4-BE49-F238E27FC236}">
                <a16:creationId xmlns:a16="http://schemas.microsoft.com/office/drawing/2014/main" id="{766FD0E4-558E-22DA-248C-3DDE957B5C75}"/>
              </a:ext>
            </a:extLst>
          </p:cNvPr>
          <p:cNvSpPr>
            <a:spLocks noGrp="1"/>
          </p:cNvSpPr>
          <p:nvPr>
            <p:ph idx="1"/>
          </p:nvPr>
        </p:nvSpPr>
        <p:spPr>
          <a:xfrm>
            <a:off x="118672" y="479685"/>
            <a:ext cx="11954656" cy="6178082"/>
          </a:xfrm>
        </p:spPr>
        <p:txBody>
          <a:bodyPr>
            <a:normAutofit fontScale="85000" lnSpcReduction="20000"/>
          </a:bodyPr>
          <a:lstStyle/>
          <a:p>
            <a:pPr marL="0" indent="0">
              <a:buNone/>
            </a:pPr>
            <a:r>
              <a:rPr lang="en-US" b="1" i="1" dirty="0"/>
              <a:t>#include &lt;</a:t>
            </a:r>
            <a:r>
              <a:rPr lang="en-US" b="1" i="1" dirty="0" err="1"/>
              <a:t>stdio.h</a:t>
            </a:r>
            <a:r>
              <a:rPr lang="en-US" b="1" i="1" dirty="0"/>
              <a:t>&gt;</a:t>
            </a:r>
          </a:p>
          <a:p>
            <a:pPr marL="0" indent="0">
              <a:buNone/>
            </a:pPr>
            <a:endParaRPr lang="en-US" b="1" i="1" dirty="0"/>
          </a:p>
          <a:p>
            <a:pPr marL="0" indent="0">
              <a:buNone/>
            </a:pPr>
            <a:r>
              <a:rPr lang="en-US" b="1" i="1" dirty="0"/>
              <a:t>int main() {</a:t>
            </a:r>
          </a:p>
          <a:p>
            <a:pPr marL="0" indent="0">
              <a:buNone/>
            </a:pPr>
            <a:r>
              <a:rPr lang="en-US" b="1" i="1" dirty="0"/>
              <a:t>  int </a:t>
            </a:r>
            <a:r>
              <a:rPr lang="en-US" b="1" i="1" dirty="0" err="1"/>
              <a:t>myNumbers</a:t>
            </a:r>
            <a:r>
              <a:rPr lang="en-US" b="1" i="1" dirty="0"/>
              <a:t>[3] = {10, 20, 30};</a:t>
            </a:r>
          </a:p>
          <a:p>
            <a:pPr marL="0" indent="0">
              <a:buNone/>
            </a:pPr>
            <a:r>
              <a:rPr lang="en-US" b="1" i="1" dirty="0"/>
              <a:t>  int *p = </a:t>
            </a:r>
            <a:r>
              <a:rPr lang="en-US" b="1" i="1" dirty="0" err="1"/>
              <a:t>myNumbers</a:t>
            </a:r>
            <a:r>
              <a:rPr lang="en-US" b="1" i="1" dirty="0"/>
              <a:t>;  // </a:t>
            </a:r>
            <a:r>
              <a:rPr lang="en-US" b="1" i="1" dirty="0" err="1"/>
              <a:t>myNumbers</a:t>
            </a:r>
            <a:r>
              <a:rPr lang="en-US" b="1" i="1" dirty="0"/>
              <a:t>[0]</a:t>
            </a:r>
          </a:p>
          <a:p>
            <a:pPr marL="0" indent="0">
              <a:buNone/>
            </a:pPr>
            <a:endParaRPr lang="en-US" b="1" i="1" dirty="0"/>
          </a:p>
          <a:p>
            <a:pPr marL="0" indent="0">
              <a:buNone/>
            </a:pPr>
            <a:r>
              <a:rPr lang="en-US" b="1" i="1" dirty="0"/>
              <a:t>  </a:t>
            </a:r>
            <a:r>
              <a:rPr lang="en-US" b="1" i="1" dirty="0" err="1"/>
              <a:t>printf</a:t>
            </a:r>
            <a:r>
              <a:rPr lang="en-US" b="1" i="1" dirty="0"/>
              <a:t>("%d\n", *p); // 10</a:t>
            </a:r>
          </a:p>
          <a:p>
            <a:pPr marL="0" indent="0">
              <a:buNone/>
            </a:pPr>
            <a:r>
              <a:rPr lang="en-US" b="1" i="1" dirty="0"/>
              <a:t>  p++;           // move to </a:t>
            </a:r>
            <a:r>
              <a:rPr lang="en-US" b="1" i="1" dirty="0" err="1"/>
              <a:t>myNumbers</a:t>
            </a:r>
            <a:r>
              <a:rPr lang="en-US" b="1" i="1" dirty="0"/>
              <a:t>[1]</a:t>
            </a:r>
          </a:p>
          <a:p>
            <a:pPr marL="0" indent="0">
              <a:buNone/>
            </a:pPr>
            <a:r>
              <a:rPr lang="en-US" b="1" i="1" dirty="0"/>
              <a:t>  </a:t>
            </a:r>
            <a:r>
              <a:rPr lang="en-US" b="1" i="1" dirty="0" err="1"/>
              <a:t>printf</a:t>
            </a:r>
            <a:r>
              <a:rPr lang="en-US" b="1" i="1" dirty="0"/>
              <a:t>("%d\n", *p); // 20</a:t>
            </a:r>
          </a:p>
          <a:p>
            <a:pPr marL="0" indent="0">
              <a:buNone/>
            </a:pPr>
            <a:r>
              <a:rPr lang="en-US" b="1" i="1" dirty="0"/>
              <a:t>  p--;           // back to </a:t>
            </a:r>
            <a:r>
              <a:rPr lang="en-US" b="1" i="1" dirty="0" err="1"/>
              <a:t>myNumbers</a:t>
            </a:r>
            <a:r>
              <a:rPr lang="en-US" b="1" i="1" dirty="0"/>
              <a:t>[0]</a:t>
            </a:r>
          </a:p>
          <a:p>
            <a:pPr marL="0" indent="0">
              <a:buNone/>
            </a:pPr>
            <a:r>
              <a:rPr lang="en-US" b="1" i="1" dirty="0"/>
              <a:t>  </a:t>
            </a:r>
            <a:r>
              <a:rPr lang="en-US" b="1" i="1" dirty="0" err="1"/>
              <a:t>printf</a:t>
            </a:r>
            <a:r>
              <a:rPr lang="en-US" b="1" i="1" dirty="0"/>
              <a:t>("%d\n", *p); // 10</a:t>
            </a:r>
          </a:p>
          <a:p>
            <a:pPr marL="0" indent="0">
              <a:buNone/>
            </a:pPr>
            <a:endParaRPr lang="en-US" b="1" i="1" dirty="0"/>
          </a:p>
          <a:p>
            <a:pPr marL="0" indent="0">
              <a:buNone/>
            </a:pPr>
            <a:r>
              <a:rPr lang="en-US" b="1" i="1" dirty="0"/>
              <a:t>  p += 2;        // jump to </a:t>
            </a:r>
            <a:r>
              <a:rPr lang="en-US" b="1" i="1" dirty="0" err="1"/>
              <a:t>myNumbers</a:t>
            </a:r>
            <a:r>
              <a:rPr lang="en-US" b="1" i="1" dirty="0"/>
              <a:t>[2]</a:t>
            </a:r>
          </a:p>
          <a:p>
            <a:pPr marL="0" indent="0">
              <a:buNone/>
            </a:pPr>
            <a:r>
              <a:rPr lang="en-US" b="1" i="1" dirty="0"/>
              <a:t>  </a:t>
            </a:r>
            <a:r>
              <a:rPr lang="en-US" b="1" i="1" dirty="0" err="1"/>
              <a:t>printf</a:t>
            </a:r>
            <a:r>
              <a:rPr lang="en-US" b="1" i="1" dirty="0"/>
              <a:t>("%d\n", *p); // 30</a:t>
            </a:r>
          </a:p>
          <a:p>
            <a:pPr marL="0" indent="0">
              <a:buNone/>
            </a:pPr>
            <a:r>
              <a:rPr lang="en-US" b="1" i="1" dirty="0"/>
              <a:t>  return 0;</a:t>
            </a:r>
          </a:p>
          <a:p>
            <a:pPr marL="0" indent="0">
              <a:buNone/>
            </a:pPr>
            <a:r>
              <a:rPr lang="en-US" b="1" i="1" dirty="0"/>
              <a:t>}</a:t>
            </a:r>
          </a:p>
        </p:txBody>
      </p:sp>
    </p:spTree>
    <p:extLst>
      <p:ext uri="{BB962C8B-B14F-4D97-AF65-F5344CB8AC3E}">
        <p14:creationId xmlns:p14="http://schemas.microsoft.com/office/powerpoint/2010/main" val="349450904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3F6DE-FF81-B923-3910-21C0053275E4}"/>
              </a:ext>
            </a:extLst>
          </p:cNvPr>
          <p:cNvSpPr>
            <a:spLocks noGrp="1"/>
          </p:cNvSpPr>
          <p:nvPr>
            <p:ph type="title"/>
          </p:nvPr>
        </p:nvSpPr>
        <p:spPr>
          <a:xfrm>
            <a:off x="189933" y="227469"/>
            <a:ext cx="11522920" cy="594245"/>
          </a:xfrm>
        </p:spPr>
        <p:txBody>
          <a:bodyPr>
            <a:normAutofit fontScale="90000"/>
          </a:bodyPr>
          <a:lstStyle/>
          <a:p>
            <a:r>
              <a:rPr lang="en-US" dirty="0"/>
              <a:t>C Pointer Arithmetic  example output</a:t>
            </a:r>
          </a:p>
        </p:txBody>
      </p:sp>
      <p:pic>
        <p:nvPicPr>
          <p:cNvPr id="5" name="Content Placeholder 4" descr="A computer screen shot of a black screen&#10;&#10;AI-generated content may be incorrect.">
            <a:extLst>
              <a:ext uri="{FF2B5EF4-FFF2-40B4-BE49-F238E27FC236}">
                <a16:creationId xmlns:a16="http://schemas.microsoft.com/office/drawing/2014/main" id="{344746C5-BD53-4AD5-73BB-D80CF5909AE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0231" y="1097280"/>
            <a:ext cx="11382622" cy="5579108"/>
          </a:xfrm>
        </p:spPr>
      </p:pic>
    </p:spTree>
    <p:extLst>
      <p:ext uri="{BB962C8B-B14F-4D97-AF65-F5344CB8AC3E}">
        <p14:creationId xmlns:p14="http://schemas.microsoft.com/office/powerpoint/2010/main" val="167243387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7426B-D7A9-1064-8A2E-341971F5226B}"/>
              </a:ext>
            </a:extLst>
          </p:cNvPr>
          <p:cNvSpPr>
            <a:spLocks noGrp="1"/>
          </p:cNvSpPr>
          <p:nvPr>
            <p:ph type="title"/>
          </p:nvPr>
        </p:nvSpPr>
        <p:spPr>
          <a:xfrm>
            <a:off x="0" y="18256"/>
            <a:ext cx="10515600" cy="662782"/>
          </a:xfrm>
        </p:spPr>
        <p:txBody>
          <a:bodyPr>
            <a:normAutofit fontScale="90000"/>
          </a:bodyPr>
          <a:lstStyle/>
          <a:p>
            <a:r>
              <a:rPr lang="en-US" dirty="0"/>
              <a:t>C Pointer Arithmetic</a:t>
            </a:r>
          </a:p>
        </p:txBody>
      </p:sp>
      <p:sp>
        <p:nvSpPr>
          <p:cNvPr id="3" name="Content Placeholder 2">
            <a:extLst>
              <a:ext uri="{FF2B5EF4-FFF2-40B4-BE49-F238E27FC236}">
                <a16:creationId xmlns:a16="http://schemas.microsoft.com/office/drawing/2014/main" id="{D4CA67B4-4429-5466-72AA-4E11FC8909C9}"/>
              </a:ext>
            </a:extLst>
          </p:cNvPr>
          <p:cNvSpPr>
            <a:spLocks noGrp="1"/>
          </p:cNvSpPr>
          <p:nvPr>
            <p:ph idx="1"/>
          </p:nvPr>
        </p:nvSpPr>
        <p:spPr>
          <a:xfrm>
            <a:off x="194872" y="681038"/>
            <a:ext cx="11857220" cy="5809703"/>
          </a:xfrm>
        </p:spPr>
        <p:txBody>
          <a:bodyPr>
            <a:normAutofit lnSpcReduction="10000"/>
          </a:bodyPr>
          <a:lstStyle/>
          <a:p>
            <a:pPr marL="0" indent="0">
              <a:buNone/>
            </a:pPr>
            <a:r>
              <a:rPr lang="en-US" b="1" dirty="0"/>
              <a:t>Pointer Subtraction (Distance)</a:t>
            </a:r>
          </a:p>
          <a:p>
            <a:pPr marL="0" indent="0">
              <a:buNone/>
            </a:pPr>
            <a:r>
              <a:rPr lang="en-US" dirty="0"/>
              <a:t>we can subtract two pointers that point to elements in the </a:t>
            </a:r>
            <a:r>
              <a:rPr lang="en-US" b="1" dirty="0"/>
              <a:t>same array</a:t>
            </a:r>
            <a:r>
              <a:rPr lang="en-US" dirty="0"/>
              <a:t> to find out how many elements are between them. Example</a:t>
            </a:r>
          </a:p>
          <a:p>
            <a:pPr marL="0" indent="0">
              <a:buNone/>
            </a:pPr>
            <a:r>
              <a:rPr lang="en-US" b="1" i="1" dirty="0"/>
              <a:t>#include &lt;</a:t>
            </a:r>
            <a:r>
              <a:rPr lang="en-US" b="1" i="1" dirty="0" err="1"/>
              <a:t>stdio.h</a:t>
            </a:r>
            <a:r>
              <a:rPr lang="en-US" b="1" i="1" dirty="0"/>
              <a:t>&gt;</a:t>
            </a:r>
          </a:p>
          <a:p>
            <a:pPr marL="0" indent="0">
              <a:buNone/>
            </a:pPr>
            <a:r>
              <a:rPr lang="en-US" b="1" i="1" dirty="0"/>
              <a:t>int main() {</a:t>
            </a:r>
          </a:p>
          <a:p>
            <a:pPr marL="0" indent="0">
              <a:buNone/>
            </a:pPr>
            <a:r>
              <a:rPr lang="en-US" b="1" i="1" dirty="0"/>
              <a:t>  int </a:t>
            </a:r>
            <a:r>
              <a:rPr lang="en-US" b="1" i="1" dirty="0" err="1"/>
              <a:t>myNumbers</a:t>
            </a:r>
            <a:r>
              <a:rPr lang="en-US" b="1" i="1" dirty="0"/>
              <a:t>[5] = {10, 20, 30, 40, 50};</a:t>
            </a:r>
          </a:p>
          <a:p>
            <a:pPr marL="0" indent="0">
              <a:buNone/>
            </a:pPr>
            <a:r>
              <a:rPr lang="en-US" b="1" i="1" dirty="0"/>
              <a:t>  int *start = &amp;</a:t>
            </a:r>
            <a:r>
              <a:rPr lang="en-US" b="1" i="1" dirty="0" err="1"/>
              <a:t>myNumbers</a:t>
            </a:r>
            <a:r>
              <a:rPr lang="en-US" b="1" i="1" dirty="0"/>
              <a:t>[1]; // points to 20</a:t>
            </a:r>
          </a:p>
          <a:p>
            <a:pPr marL="0" indent="0">
              <a:buNone/>
            </a:pPr>
            <a:r>
              <a:rPr lang="en-US" b="1" i="1" dirty="0"/>
              <a:t>  int *end = &amp;</a:t>
            </a:r>
            <a:r>
              <a:rPr lang="en-US" b="1" i="1" dirty="0" err="1"/>
              <a:t>myNumbers</a:t>
            </a:r>
            <a:r>
              <a:rPr lang="en-US" b="1" i="1" dirty="0"/>
              <a:t>[4];   // points to 50</a:t>
            </a:r>
          </a:p>
          <a:p>
            <a:pPr marL="0" indent="0">
              <a:buNone/>
            </a:pPr>
            <a:r>
              <a:rPr lang="en-US" b="1" i="1" dirty="0"/>
              <a:t>  </a:t>
            </a:r>
            <a:r>
              <a:rPr lang="en-US" b="1" i="1" dirty="0" err="1"/>
              <a:t>printf</a:t>
            </a:r>
            <a:r>
              <a:rPr lang="en-US" b="1" i="1" dirty="0"/>
              <a:t>("%</a:t>
            </a:r>
            <a:r>
              <a:rPr lang="en-US" b="1" i="1" dirty="0" err="1"/>
              <a:t>ld</a:t>
            </a:r>
            <a:r>
              <a:rPr lang="en-US" b="1" i="1" dirty="0"/>
              <a:t>\n", end - start); // 3 elements apart</a:t>
            </a:r>
          </a:p>
          <a:p>
            <a:pPr marL="0" indent="0">
              <a:buNone/>
            </a:pPr>
            <a:r>
              <a:rPr lang="en-US" b="1" i="1" dirty="0"/>
              <a:t>  return 0;</a:t>
            </a:r>
          </a:p>
          <a:p>
            <a:pPr marL="0" indent="0">
              <a:buNone/>
            </a:pPr>
            <a:r>
              <a:rPr lang="en-US" b="1" i="1" dirty="0"/>
              <a:t>}</a:t>
            </a:r>
          </a:p>
          <a:p>
            <a:pPr marL="0" indent="0">
              <a:buNone/>
            </a:pPr>
            <a:endParaRPr lang="en-US" dirty="0"/>
          </a:p>
        </p:txBody>
      </p:sp>
    </p:spTree>
    <p:extLst>
      <p:ext uri="{BB962C8B-B14F-4D97-AF65-F5344CB8AC3E}">
        <p14:creationId xmlns:p14="http://schemas.microsoft.com/office/powerpoint/2010/main" val="144953681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B1DF0-6566-F71C-EE43-AB3D3B83F533}"/>
              </a:ext>
            </a:extLst>
          </p:cNvPr>
          <p:cNvSpPr>
            <a:spLocks noGrp="1"/>
          </p:cNvSpPr>
          <p:nvPr>
            <p:ph type="title"/>
          </p:nvPr>
        </p:nvSpPr>
        <p:spPr>
          <a:xfrm>
            <a:off x="0" y="245204"/>
            <a:ext cx="10515600" cy="579255"/>
          </a:xfrm>
        </p:spPr>
        <p:txBody>
          <a:bodyPr>
            <a:normAutofit fontScale="90000"/>
          </a:bodyPr>
          <a:lstStyle/>
          <a:p>
            <a:r>
              <a:rPr lang="en-US" b="1" dirty="0"/>
              <a:t>Pointer Subtraction (Distance)</a:t>
            </a:r>
            <a:br>
              <a:rPr lang="en-US" b="1" dirty="0"/>
            </a:br>
            <a:endParaRPr lang="en-US" dirty="0"/>
          </a:p>
        </p:txBody>
      </p:sp>
      <p:sp>
        <p:nvSpPr>
          <p:cNvPr id="3" name="Content Placeholder 2">
            <a:extLst>
              <a:ext uri="{FF2B5EF4-FFF2-40B4-BE49-F238E27FC236}">
                <a16:creationId xmlns:a16="http://schemas.microsoft.com/office/drawing/2014/main" id="{9E5746E6-E056-BE1D-253E-1C16811AF5A6}"/>
              </a:ext>
            </a:extLst>
          </p:cNvPr>
          <p:cNvSpPr>
            <a:spLocks noGrp="1"/>
          </p:cNvSpPr>
          <p:nvPr>
            <p:ph idx="1"/>
          </p:nvPr>
        </p:nvSpPr>
        <p:spPr>
          <a:xfrm>
            <a:off x="299803" y="554636"/>
            <a:ext cx="11542427" cy="5891133"/>
          </a:xfrm>
        </p:spPr>
        <p:txBody>
          <a:bodyPr/>
          <a:lstStyle/>
          <a:p>
            <a:pPr marL="0" indent="0">
              <a:buNone/>
            </a:pPr>
            <a:r>
              <a:rPr lang="en-US" dirty="0"/>
              <a:t>Here:</a:t>
            </a:r>
          </a:p>
          <a:p>
            <a:pPr marL="0" indent="0">
              <a:buNone/>
            </a:pPr>
            <a:r>
              <a:rPr lang="en-US" dirty="0"/>
              <a:t>start points to the second element (20).</a:t>
            </a:r>
          </a:p>
          <a:p>
            <a:pPr marL="0" indent="0">
              <a:buNone/>
            </a:pPr>
            <a:r>
              <a:rPr lang="en-US" dirty="0"/>
              <a:t>end points to the fifth element (50).</a:t>
            </a:r>
          </a:p>
          <a:p>
            <a:pPr marL="0" indent="0">
              <a:buNone/>
            </a:pPr>
            <a:r>
              <a:rPr lang="en-US" dirty="0"/>
              <a:t>end - start gives the number of elements between them: </a:t>
            </a:r>
            <a:r>
              <a:rPr lang="en-US" b="1" dirty="0"/>
              <a:t>3</a:t>
            </a:r>
            <a:r>
              <a:rPr lang="en-US" dirty="0"/>
              <a:t>.</a:t>
            </a:r>
          </a:p>
          <a:p>
            <a:pPr marL="0" indent="0">
              <a:buNone/>
            </a:pPr>
            <a:r>
              <a:rPr lang="en-US" dirty="0"/>
              <a:t>Pointer subtraction only works when both pointers point into the </a:t>
            </a:r>
            <a:r>
              <a:rPr lang="en-US" i="1" dirty="0"/>
              <a:t>same array</a:t>
            </a:r>
            <a:r>
              <a:rPr lang="en-US" dirty="0"/>
              <a:t>. The result is measured in </a:t>
            </a:r>
            <a:r>
              <a:rPr lang="en-US" b="1" dirty="0"/>
              <a:t>elements</a:t>
            </a:r>
            <a:r>
              <a:rPr lang="en-US" dirty="0"/>
              <a:t>, not bytes.</a:t>
            </a:r>
          </a:p>
          <a:p>
            <a:pPr marL="0" indent="0">
              <a:buNone/>
            </a:pPr>
            <a:endParaRPr lang="en-US" dirty="0"/>
          </a:p>
        </p:txBody>
      </p:sp>
    </p:spTree>
    <p:extLst>
      <p:ext uri="{BB962C8B-B14F-4D97-AF65-F5344CB8AC3E}">
        <p14:creationId xmlns:p14="http://schemas.microsoft.com/office/powerpoint/2010/main" val="307611547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CF0E8-15B1-C5C7-5F5F-8C0B4C2EB5DC}"/>
              </a:ext>
            </a:extLst>
          </p:cNvPr>
          <p:cNvSpPr>
            <a:spLocks noGrp="1"/>
          </p:cNvSpPr>
          <p:nvPr>
            <p:ph type="title"/>
          </p:nvPr>
        </p:nvSpPr>
        <p:spPr>
          <a:xfrm>
            <a:off x="105632" y="112542"/>
            <a:ext cx="11852607" cy="714167"/>
          </a:xfrm>
        </p:spPr>
        <p:txBody>
          <a:bodyPr>
            <a:normAutofit fontScale="90000"/>
          </a:bodyPr>
          <a:lstStyle/>
          <a:p>
            <a:r>
              <a:rPr lang="en-US" b="1" dirty="0"/>
              <a:t>Pointer Subtraction (Distance) example output</a:t>
            </a:r>
            <a:endParaRPr lang="en-US" dirty="0"/>
          </a:p>
        </p:txBody>
      </p:sp>
      <p:pic>
        <p:nvPicPr>
          <p:cNvPr id="9" name="Content Placeholder 8" descr="A computer screen with a black screen&#10;&#10;AI-generated content may be incorrect.">
            <a:extLst>
              <a:ext uri="{FF2B5EF4-FFF2-40B4-BE49-F238E27FC236}">
                <a16:creationId xmlns:a16="http://schemas.microsoft.com/office/drawing/2014/main" id="{4CB43312-1A6F-01FF-AC5E-5D946547F4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7502" y="1026942"/>
            <a:ext cx="11248869" cy="5831058"/>
          </a:xfrm>
        </p:spPr>
      </p:pic>
    </p:spTree>
    <p:extLst>
      <p:ext uri="{BB962C8B-B14F-4D97-AF65-F5344CB8AC3E}">
        <p14:creationId xmlns:p14="http://schemas.microsoft.com/office/powerpoint/2010/main" val="95766477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2189A-43FD-97F3-CBB7-39EF7371082F}"/>
              </a:ext>
            </a:extLst>
          </p:cNvPr>
          <p:cNvSpPr>
            <a:spLocks noGrp="1"/>
          </p:cNvSpPr>
          <p:nvPr>
            <p:ph type="title"/>
          </p:nvPr>
        </p:nvSpPr>
        <p:spPr>
          <a:xfrm>
            <a:off x="239843" y="500267"/>
            <a:ext cx="11338560" cy="519295"/>
          </a:xfrm>
        </p:spPr>
        <p:txBody>
          <a:bodyPr>
            <a:normAutofit fontScale="90000"/>
          </a:bodyPr>
          <a:lstStyle/>
          <a:p>
            <a:r>
              <a:rPr lang="en-US" b="1" dirty="0"/>
              <a:t>Pointer Arithmetic Depends on Type</a:t>
            </a:r>
            <a:br>
              <a:rPr lang="en-US" b="1" dirty="0"/>
            </a:br>
            <a:endParaRPr lang="en-US" b="1" dirty="0"/>
          </a:p>
        </p:txBody>
      </p:sp>
      <p:sp>
        <p:nvSpPr>
          <p:cNvPr id="3" name="Content Placeholder 2">
            <a:extLst>
              <a:ext uri="{FF2B5EF4-FFF2-40B4-BE49-F238E27FC236}">
                <a16:creationId xmlns:a16="http://schemas.microsoft.com/office/drawing/2014/main" id="{DF0DF333-23B5-BD4C-A1EC-FC836D201A17}"/>
              </a:ext>
            </a:extLst>
          </p:cNvPr>
          <p:cNvSpPr>
            <a:spLocks noGrp="1"/>
          </p:cNvSpPr>
          <p:nvPr>
            <p:ph idx="1"/>
          </p:nvPr>
        </p:nvSpPr>
        <p:spPr>
          <a:xfrm>
            <a:off x="239843" y="1019562"/>
            <a:ext cx="11767278" cy="5651291"/>
          </a:xfrm>
        </p:spPr>
        <p:txBody>
          <a:bodyPr>
            <a:normAutofit fontScale="92500" lnSpcReduction="10000"/>
          </a:bodyPr>
          <a:lstStyle/>
          <a:p>
            <a:pPr marL="0" indent="0">
              <a:buNone/>
            </a:pPr>
            <a:r>
              <a:rPr lang="en-US" sz="3200" dirty="0"/>
              <a:t>Not all pointers move the same way.</a:t>
            </a:r>
          </a:p>
          <a:p>
            <a:pPr marL="0" indent="0">
              <a:buNone/>
            </a:pPr>
            <a:r>
              <a:rPr lang="en-US" sz="3200" dirty="0"/>
              <a:t>When you add 1 to a pointer, it moves forward by the size of the thing it points to - not just by 1 byte.</a:t>
            </a:r>
          </a:p>
          <a:p>
            <a:pPr marL="0" indent="0">
              <a:buNone/>
            </a:pPr>
            <a:r>
              <a:rPr lang="en-US" sz="3200" dirty="0"/>
              <a:t>For example:</a:t>
            </a:r>
          </a:p>
          <a:p>
            <a:pPr marL="0" indent="0">
              <a:buNone/>
            </a:pPr>
            <a:r>
              <a:rPr lang="en-US" sz="3200" dirty="0"/>
              <a:t>An int* pointer moves by the size of an integer (usually 4 bytes).</a:t>
            </a:r>
          </a:p>
          <a:p>
            <a:pPr marL="0" indent="0">
              <a:buNone/>
            </a:pPr>
            <a:r>
              <a:rPr lang="en-US" sz="3200" dirty="0"/>
              <a:t>A char* pointer moves by the size of a character (1 byte).</a:t>
            </a:r>
          </a:p>
          <a:p>
            <a:pPr marL="0" indent="0">
              <a:buNone/>
            </a:pPr>
            <a:r>
              <a:rPr lang="en-US" sz="3200" dirty="0"/>
              <a:t>So if both pointers start at memory address 1000:</a:t>
            </a:r>
          </a:p>
          <a:p>
            <a:pPr marL="0" indent="0">
              <a:buNone/>
            </a:pPr>
            <a:r>
              <a:rPr lang="en-US" sz="3200" dirty="0"/>
              <a:t>int* → p + 1 would move to address 1004</a:t>
            </a:r>
          </a:p>
          <a:p>
            <a:pPr marL="0" indent="0">
              <a:buNone/>
            </a:pPr>
            <a:r>
              <a:rPr lang="en-US" sz="3200" dirty="0"/>
              <a:t>char* → p + 1 would move to address 1001</a:t>
            </a:r>
          </a:p>
          <a:p>
            <a:pPr marL="0" indent="0">
              <a:buNone/>
            </a:pPr>
            <a:endParaRPr lang="en-US" sz="3200" dirty="0"/>
          </a:p>
        </p:txBody>
      </p:sp>
    </p:spTree>
    <p:extLst>
      <p:ext uri="{BB962C8B-B14F-4D97-AF65-F5344CB8AC3E}">
        <p14:creationId xmlns:p14="http://schemas.microsoft.com/office/powerpoint/2010/main" val="155944700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73CA0-1126-66C1-7170-96132D3B39CA}"/>
              </a:ext>
            </a:extLst>
          </p:cNvPr>
          <p:cNvSpPr>
            <a:spLocks noGrp="1"/>
          </p:cNvSpPr>
          <p:nvPr>
            <p:ph type="title"/>
          </p:nvPr>
        </p:nvSpPr>
        <p:spPr>
          <a:xfrm>
            <a:off x="149902" y="154744"/>
            <a:ext cx="12435841" cy="699177"/>
          </a:xfrm>
        </p:spPr>
        <p:txBody>
          <a:bodyPr>
            <a:normAutofit fontScale="90000"/>
          </a:bodyPr>
          <a:lstStyle/>
          <a:p>
            <a:r>
              <a:rPr lang="en-US" b="1" dirty="0"/>
              <a:t>Pointer Arithmetic Depends on Type example</a:t>
            </a:r>
          </a:p>
        </p:txBody>
      </p:sp>
      <p:sp>
        <p:nvSpPr>
          <p:cNvPr id="3" name="Content Placeholder 2">
            <a:extLst>
              <a:ext uri="{FF2B5EF4-FFF2-40B4-BE49-F238E27FC236}">
                <a16:creationId xmlns:a16="http://schemas.microsoft.com/office/drawing/2014/main" id="{0167FB4F-B780-0E62-68BD-CB127F245B03}"/>
              </a:ext>
            </a:extLst>
          </p:cNvPr>
          <p:cNvSpPr>
            <a:spLocks noGrp="1"/>
          </p:cNvSpPr>
          <p:nvPr>
            <p:ph idx="1"/>
          </p:nvPr>
        </p:nvSpPr>
        <p:spPr>
          <a:xfrm>
            <a:off x="149902" y="980530"/>
            <a:ext cx="12042098" cy="6158823"/>
          </a:xfrm>
        </p:spPr>
        <p:txBody>
          <a:bodyPr>
            <a:normAutofit fontScale="92500" lnSpcReduction="10000"/>
          </a:bodyPr>
          <a:lstStyle/>
          <a:p>
            <a:pPr marL="0" indent="0">
              <a:buNone/>
            </a:pPr>
            <a:r>
              <a:rPr lang="en-US" b="1" i="1" dirty="0"/>
              <a:t>#include &lt;</a:t>
            </a:r>
            <a:r>
              <a:rPr lang="en-US" b="1" i="1" dirty="0" err="1"/>
              <a:t>stdio.h</a:t>
            </a:r>
            <a:r>
              <a:rPr lang="en-US" b="1" i="1" dirty="0"/>
              <a:t>&gt;</a:t>
            </a:r>
          </a:p>
          <a:p>
            <a:pPr marL="0" indent="0">
              <a:buNone/>
            </a:pPr>
            <a:r>
              <a:rPr lang="en-US" b="1" i="1" dirty="0"/>
              <a:t>int main() {</a:t>
            </a:r>
          </a:p>
          <a:p>
            <a:pPr marL="0" indent="0">
              <a:buNone/>
            </a:pPr>
            <a:r>
              <a:rPr lang="en-US" b="1" i="1" dirty="0"/>
              <a:t>  int </a:t>
            </a:r>
            <a:r>
              <a:rPr lang="en-US" b="1" i="1" dirty="0" err="1"/>
              <a:t>myNumbers</a:t>
            </a:r>
            <a:r>
              <a:rPr lang="en-US" b="1" i="1" dirty="0"/>
              <a:t>[2] = {1, 2};</a:t>
            </a:r>
          </a:p>
          <a:p>
            <a:pPr marL="0" indent="0">
              <a:buNone/>
            </a:pPr>
            <a:r>
              <a:rPr lang="en-US" b="1" i="1" dirty="0"/>
              <a:t>  char letters[] = "Hi"; // 'H', '</a:t>
            </a:r>
            <a:r>
              <a:rPr lang="en-US" b="1" i="1" dirty="0" err="1"/>
              <a:t>i</a:t>
            </a:r>
            <a:r>
              <a:rPr lang="en-US" b="1" i="1" dirty="0"/>
              <a:t>', '\0'</a:t>
            </a:r>
          </a:p>
          <a:p>
            <a:pPr marL="0" indent="0">
              <a:buNone/>
            </a:pPr>
            <a:r>
              <a:rPr lang="en-US" b="1" i="1" dirty="0"/>
              <a:t>  int *pi = </a:t>
            </a:r>
            <a:r>
              <a:rPr lang="en-US" b="1" i="1" dirty="0" err="1"/>
              <a:t>myNumbers</a:t>
            </a:r>
            <a:r>
              <a:rPr lang="en-US" b="1" i="1" dirty="0"/>
              <a:t>;   // int pointer</a:t>
            </a:r>
          </a:p>
          <a:p>
            <a:pPr marL="0" indent="0">
              <a:buNone/>
            </a:pPr>
            <a:r>
              <a:rPr lang="en-US" b="1" i="1" dirty="0"/>
              <a:t>  char *pc = letters;    // char pointer</a:t>
            </a:r>
          </a:p>
          <a:p>
            <a:pPr marL="0" indent="0">
              <a:buNone/>
            </a:pPr>
            <a:r>
              <a:rPr lang="en-US" b="1" i="1" dirty="0"/>
              <a:t>  </a:t>
            </a:r>
            <a:r>
              <a:rPr lang="en-US" b="1" i="1" dirty="0" err="1"/>
              <a:t>printf</a:t>
            </a:r>
            <a:r>
              <a:rPr lang="en-US" b="1" i="1" dirty="0"/>
              <a:t>("%p\n", (void*)pi);</a:t>
            </a:r>
          </a:p>
          <a:p>
            <a:pPr marL="0" indent="0">
              <a:buNone/>
            </a:pPr>
            <a:r>
              <a:rPr lang="en-US" b="1" i="1" dirty="0"/>
              <a:t>  </a:t>
            </a:r>
            <a:r>
              <a:rPr lang="en-US" b="1" i="1" dirty="0" err="1"/>
              <a:t>printf</a:t>
            </a:r>
            <a:r>
              <a:rPr lang="en-US" b="1" i="1" dirty="0"/>
              <a:t>("%p\n", (void*)(pi + 1)); // moves by </a:t>
            </a:r>
            <a:r>
              <a:rPr lang="en-US" b="1" i="1" dirty="0" err="1"/>
              <a:t>sizeof</a:t>
            </a:r>
            <a:r>
              <a:rPr lang="en-US" b="1" i="1" dirty="0"/>
              <a:t>(int)</a:t>
            </a:r>
          </a:p>
          <a:p>
            <a:pPr marL="0" indent="0">
              <a:buNone/>
            </a:pPr>
            <a:r>
              <a:rPr lang="en-US" b="1" i="1" dirty="0"/>
              <a:t>  </a:t>
            </a:r>
            <a:r>
              <a:rPr lang="en-US" b="1" i="1" dirty="0" err="1"/>
              <a:t>printf</a:t>
            </a:r>
            <a:r>
              <a:rPr lang="en-US" b="1" i="1" dirty="0"/>
              <a:t>("%p\n", (void*)(pi + 2)); // moves by </a:t>
            </a:r>
            <a:r>
              <a:rPr lang="en-US" b="1" i="1" dirty="0" err="1"/>
              <a:t>sizeof</a:t>
            </a:r>
            <a:r>
              <a:rPr lang="en-US" b="1" i="1" dirty="0"/>
              <a:t>(int)</a:t>
            </a:r>
          </a:p>
          <a:p>
            <a:pPr marL="0" indent="0">
              <a:buNone/>
            </a:pPr>
            <a:r>
              <a:rPr lang="en-US" b="1" i="1" dirty="0"/>
              <a:t>  </a:t>
            </a:r>
            <a:r>
              <a:rPr lang="en-US" b="1" i="1" dirty="0" err="1"/>
              <a:t>printf</a:t>
            </a:r>
            <a:r>
              <a:rPr lang="en-US" b="1" i="1" dirty="0"/>
              <a:t>("%p\n", (void*)pc);</a:t>
            </a:r>
          </a:p>
          <a:p>
            <a:pPr marL="0" indent="0">
              <a:buNone/>
            </a:pPr>
            <a:r>
              <a:rPr lang="en-US" b="1" i="1" dirty="0"/>
              <a:t>  </a:t>
            </a:r>
            <a:r>
              <a:rPr lang="en-US" b="1" i="1" dirty="0" err="1"/>
              <a:t>printf</a:t>
            </a:r>
            <a:r>
              <a:rPr lang="en-US" b="1" i="1" dirty="0"/>
              <a:t>("%p\n", (void*)(pc + 1)); // moves by 1 byte</a:t>
            </a:r>
          </a:p>
          <a:p>
            <a:pPr marL="0" indent="0">
              <a:buNone/>
            </a:pPr>
            <a:r>
              <a:rPr lang="en-US" b="1" i="1" dirty="0"/>
              <a:t>  return 0;</a:t>
            </a:r>
          </a:p>
          <a:p>
            <a:pPr marL="0" indent="0">
              <a:buNone/>
            </a:pPr>
            <a:r>
              <a:rPr lang="en-US" b="1" i="1" dirty="0"/>
              <a:t>}</a:t>
            </a:r>
          </a:p>
        </p:txBody>
      </p:sp>
    </p:spTree>
    <p:extLst>
      <p:ext uri="{BB962C8B-B14F-4D97-AF65-F5344CB8AC3E}">
        <p14:creationId xmlns:p14="http://schemas.microsoft.com/office/powerpoint/2010/main" val="31083284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06EC4-8961-82CB-EA8A-0FDFF1B35D1D}"/>
              </a:ext>
            </a:extLst>
          </p:cNvPr>
          <p:cNvSpPr>
            <a:spLocks noGrp="1"/>
          </p:cNvSpPr>
          <p:nvPr>
            <p:ph type="title"/>
          </p:nvPr>
        </p:nvSpPr>
        <p:spPr>
          <a:xfrm>
            <a:off x="159894" y="211016"/>
            <a:ext cx="11872210" cy="564265"/>
          </a:xfrm>
        </p:spPr>
        <p:txBody>
          <a:bodyPr>
            <a:normAutofit fontScale="90000"/>
          </a:bodyPr>
          <a:lstStyle/>
          <a:p>
            <a:r>
              <a:rPr lang="en-US" b="1" dirty="0" smtClean="0"/>
              <a:t>Pointer Arithmetic Depends on Type example output</a:t>
            </a:r>
            <a:endParaRPr lang="en-US" b="1" dirty="0"/>
          </a:p>
        </p:txBody>
      </p:sp>
      <p:pic>
        <p:nvPicPr>
          <p:cNvPr id="5" name="Content Placeholder 4" descr="A computer screen shot of a computer screen&#10;&#10;AI-generated content may be incorrect.">
            <a:extLst>
              <a:ext uri="{FF2B5EF4-FFF2-40B4-BE49-F238E27FC236}">
                <a16:creationId xmlns:a16="http://schemas.microsoft.com/office/drawing/2014/main" id="{4E928275-4C0C-0C52-558B-9AA5EE158DB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4832" y="1002518"/>
            <a:ext cx="11682335" cy="5726113"/>
          </a:xfrm>
        </p:spPr>
      </p:pic>
    </p:spTree>
    <p:extLst>
      <p:ext uri="{BB962C8B-B14F-4D97-AF65-F5344CB8AC3E}">
        <p14:creationId xmlns:p14="http://schemas.microsoft.com/office/powerpoint/2010/main" val="146805080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66C07-46CD-4DCF-0B7E-58B0F190A33D}"/>
              </a:ext>
            </a:extLst>
          </p:cNvPr>
          <p:cNvSpPr>
            <a:spLocks noGrp="1"/>
          </p:cNvSpPr>
          <p:nvPr>
            <p:ph type="title"/>
          </p:nvPr>
        </p:nvSpPr>
        <p:spPr>
          <a:xfrm>
            <a:off x="0" y="0"/>
            <a:ext cx="10515600" cy="459334"/>
          </a:xfrm>
        </p:spPr>
        <p:txBody>
          <a:bodyPr>
            <a:normAutofit fontScale="90000"/>
          </a:bodyPr>
          <a:lstStyle/>
          <a:p>
            <a:r>
              <a:rPr lang="en-US" dirty="0"/>
              <a:t>Pointer Arithmetic</a:t>
            </a:r>
          </a:p>
        </p:txBody>
      </p:sp>
      <p:sp>
        <p:nvSpPr>
          <p:cNvPr id="3" name="Content Placeholder 2">
            <a:extLst>
              <a:ext uri="{FF2B5EF4-FFF2-40B4-BE49-F238E27FC236}">
                <a16:creationId xmlns:a16="http://schemas.microsoft.com/office/drawing/2014/main" id="{4F933766-153D-C98F-1EE8-E4701597BA70}"/>
              </a:ext>
            </a:extLst>
          </p:cNvPr>
          <p:cNvSpPr>
            <a:spLocks noGrp="1"/>
          </p:cNvSpPr>
          <p:nvPr>
            <p:ph idx="1"/>
          </p:nvPr>
        </p:nvSpPr>
        <p:spPr>
          <a:xfrm>
            <a:off x="189875" y="459335"/>
            <a:ext cx="11812249" cy="6091366"/>
          </a:xfrm>
        </p:spPr>
        <p:txBody>
          <a:bodyPr>
            <a:normAutofit fontScale="92500" lnSpcReduction="10000"/>
          </a:bodyPr>
          <a:lstStyle/>
          <a:p>
            <a:pPr marL="0" indent="0">
              <a:buNone/>
            </a:pPr>
            <a:r>
              <a:rPr lang="en-US" b="1" dirty="0"/>
              <a:t>Looping with Pointers</a:t>
            </a:r>
          </a:p>
          <a:p>
            <a:pPr marL="0" indent="0">
              <a:buNone/>
            </a:pPr>
            <a:r>
              <a:rPr lang="en-US" dirty="0"/>
              <a:t>moving the pointer itself inside the loop. Each time the pointer is increased (p++), it moves to the next element in memory. Example</a:t>
            </a:r>
          </a:p>
          <a:p>
            <a:pPr marL="0" indent="0">
              <a:buNone/>
            </a:pPr>
            <a:r>
              <a:rPr lang="en-US" b="1" i="1" dirty="0"/>
              <a:t>#include &lt;</a:t>
            </a:r>
            <a:r>
              <a:rPr lang="en-US" b="1" i="1" dirty="0" err="1"/>
              <a:t>stdio.h</a:t>
            </a:r>
            <a:r>
              <a:rPr lang="en-US" b="1" i="1" dirty="0"/>
              <a:t>&gt;</a:t>
            </a:r>
          </a:p>
          <a:p>
            <a:pPr marL="0" indent="0">
              <a:buNone/>
            </a:pPr>
            <a:r>
              <a:rPr lang="en-US" b="1" i="1" dirty="0"/>
              <a:t>int main() {</a:t>
            </a:r>
          </a:p>
          <a:p>
            <a:pPr marL="0" indent="0">
              <a:buNone/>
            </a:pPr>
            <a:r>
              <a:rPr lang="en-US" b="1" i="1" dirty="0"/>
              <a:t>  int </a:t>
            </a:r>
            <a:r>
              <a:rPr lang="en-US" b="1" i="1" dirty="0" err="1"/>
              <a:t>myNumbers</a:t>
            </a:r>
            <a:r>
              <a:rPr lang="en-US" b="1" i="1" dirty="0"/>
              <a:t>[4] = {25, 50, 75, 100};</a:t>
            </a:r>
          </a:p>
          <a:p>
            <a:pPr marL="0" indent="0">
              <a:buNone/>
            </a:pPr>
            <a:r>
              <a:rPr lang="en-US" b="1" i="1" dirty="0"/>
              <a:t>  int *p = </a:t>
            </a:r>
            <a:r>
              <a:rPr lang="en-US" b="1" i="1" dirty="0" err="1"/>
              <a:t>myNumbers</a:t>
            </a:r>
            <a:r>
              <a:rPr lang="en-US" b="1" i="1" dirty="0"/>
              <a:t>;  // start of array</a:t>
            </a:r>
          </a:p>
          <a:p>
            <a:pPr marL="0" indent="0">
              <a:buNone/>
            </a:pPr>
            <a:r>
              <a:rPr lang="en-US" b="1" i="1" dirty="0"/>
              <a:t>  for (int </a:t>
            </a:r>
            <a:r>
              <a:rPr lang="en-US" b="1" i="1" dirty="0" err="1"/>
              <a:t>i</a:t>
            </a:r>
            <a:r>
              <a:rPr lang="en-US" b="1" i="1" dirty="0"/>
              <a:t> = 0; </a:t>
            </a:r>
            <a:r>
              <a:rPr lang="en-US" b="1" i="1" dirty="0" err="1"/>
              <a:t>i</a:t>
            </a:r>
            <a:r>
              <a:rPr lang="en-US" b="1" i="1" dirty="0"/>
              <a:t> &lt; 4; </a:t>
            </a:r>
            <a:r>
              <a:rPr lang="en-US" b="1" i="1" dirty="0" err="1"/>
              <a:t>i</a:t>
            </a:r>
            <a:r>
              <a:rPr lang="en-US" b="1" i="1" dirty="0"/>
              <a:t>++) {</a:t>
            </a:r>
          </a:p>
          <a:p>
            <a:pPr marL="0" indent="0">
              <a:buNone/>
            </a:pPr>
            <a:r>
              <a:rPr lang="en-US" b="1" i="1" dirty="0"/>
              <a:t>    </a:t>
            </a:r>
            <a:r>
              <a:rPr lang="en-US" b="1" i="1" dirty="0" err="1"/>
              <a:t>printf</a:t>
            </a:r>
            <a:r>
              <a:rPr lang="en-US" b="1" i="1" dirty="0"/>
              <a:t>("%d\n", *p);</a:t>
            </a:r>
          </a:p>
          <a:p>
            <a:pPr marL="0" indent="0">
              <a:buNone/>
            </a:pPr>
            <a:r>
              <a:rPr lang="en-US" b="1" i="1" dirty="0"/>
              <a:t>    p++; // move to next element</a:t>
            </a:r>
          </a:p>
          <a:p>
            <a:pPr marL="0" indent="0">
              <a:buNone/>
            </a:pPr>
            <a:r>
              <a:rPr lang="en-US" b="1" i="1" dirty="0"/>
              <a:t>  }</a:t>
            </a:r>
          </a:p>
          <a:p>
            <a:pPr marL="0" indent="0">
              <a:buNone/>
            </a:pPr>
            <a:r>
              <a:rPr lang="en-US" b="1" i="1" dirty="0"/>
              <a:t>  return 0;</a:t>
            </a:r>
          </a:p>
          <a:p>
            <a:pPr marL="0" indent="0">
              <a:buNone/>
            </a:pPr>
            <a:r>
              <a:rPr lang="en-US" b="1" i="1" dirty="0"/>
              <a:t>}</a:t>
            </a:r>
          </a:p>
        </p:txBody>
      </p:sp>
    </p:spTree>
    <p:extLst>
      <p:ext uri="{BB962C8B-B14F-4D97-AF65-F5344CB8AC3E}">
        <p14:creationId xmlns:p14="http://schemas.microsoft.com/office/powerpoint/2010/main" val="176903962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4CC78-4000-CBDB-CC90-33E1963A05F8}"/>
              </a:ext>
            </a:extLst>
          </p:cNvPr>
          <p:cNvSpPr>
            <a:spLocks noGrp="1"/>
          </p:cNvSpPr>
          <p:nvPr>
            <p:ph type="title"/>
          </p:nvPr>
        </p:nvSpPr>
        <p:spPr>
          <a:xfrm>
            <a:off x="0" y="458865"/>
            <a:ext cx="10515600" cy="444344"/>
          </a:xfrm>
        </p:spPr>
        <p:txBody>
          <a:bodyPr>
            <a:normAutofit fontScale="90000"/>
          </a:bodyPr>
          <a:lstStyle/>
          <a:p>
            <a:r>
              <a:rPr lang="en-US" b="1" dirty="0"/>
              <a:t>Looping with Pointers</a:t>
            </a:r>
            <a:br>
              <a:rPr lang="en-US" b="1" dirty="0"/>
            </a:br>
            <a:endParaRPr lang="en-US" dirty="0"/>
          </a:p>
        </p:txBody>
      </p:sp>
      <p:sp>
        <p:nvSpPr>
          <p:cNvPr id="3" name="Content Placeholder 2">
            <a:extLst>
              <a:ext uri="{FF2B5EF4-FFF2-40B4-BE49-F238E27FC236}">
                <a16:creationId xmlns:a16="http://schemas.microsoft.com/office/drawing/2014/main" id="{B3883BE8-B38A-ACAC-6240-63DA8CD155A1}"/>
              </a:ext>
            </a:extLst>
          </p:cNvPr>
          <p:cNvSpPr>
            <a:spLocks noGrp="1"/>
          </p:cNvSpPr>
          <p:nvPr>
            <p:ph idx="1"/>
          </p:nvPr>
        </p:nvSpPr>
        <p:spPr>
          <a:xfrm>
            <a:off x="194872" y="779489"/>
            <a:ext cx="11707318" cy="5619646"/>
          </a:xfrm>
        </p:spPr>
        <p:txBody>
          <a:bodyPr/>
          <a:lstStyle/>
          <a:p>
            <a:pPr marL="0" indent="0">
              <a:buNone/>
            </a:pPr>
            <a:r>
              <a:rPr lang="en-US" sz="3200" dirty="0"/>
              <a:t>Here's what happens in each loop:</a:t>
            </a:r>
          </a:p>
          <a:p>
            <a:pPr marL="0" indent="0">
              <a:buNone/>
            </a:pPr>
            <a:r>
              <a:rPr lang="en-US" sz="3200" dirty="0"/>
              <a:t>*p gives the current element value.</a:t>
            </a:r>
          </a:p>
          <a:p>
            <a:pPr marL="0" indent="0">
              <a:buNone/>
            </a:pPr>
            <a:r>
              <a:rPr lang="en-US" sz="3200" dirty="0"/>
              <a:t>p++ moves the pointer to the next element in the array.</a:t>
            </a:r>
          </a:p>
          <a:p>
            <a:pPr marL="0" indent="0">
              <a:buNone/>
            </a:pPr>
            <a:r>
              <a:rPr lang="en-US" sz="3200" dirty="0"/>
              <a:t>No array index (</a:t>
            </a:r>
            <a:r>
              <a:rPr lang="en-US" sz="3200" dirty="0" err="1"/>
              <a:t>i</a:t>
            </a:r>
            <a:r>
              <a:rPr lang="en-US" sz="3200" dirty="0"/>
              <a:t>) is needed - the pointer keeps track of the position.</a:t>
            </a:r>
          </a:p>
          <a:p>
            <a:pPr marL="0" indent="0">
              <a:buNone/>
            </a:pPr>
            <a:endParaRPr lang="en-US" dirty="0"/>
          </a:p>
        </p:txBody>
      </p:sp>
    </p:spTree>
    <p:extLst>
      <p:ext uri="{BB962C8B-B14F-4D97-AF65-F5344CB8AC3E}">
        <p14:creationId xmlns:p14="http://schemas.microsoft.com/office/powerpoint/2010/main" val="113281713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B8ED3-522D-8ECB-E1A4-ADC01BD5075C}"/>
              </a:ext>
            </a:extLst>
          </p:cNvPr>
          <p:cNvSpPr>
            <a:spLocks noGrp="1"/>
          </p:cNvSpPr>
          <p:nvPr>
            <p:ph type="title"/>
          </p:nvPr>
        </p:nvSpPr>
        <p:spPr>
          <a:xfrm>
            <a:off x="243763" y="253219"/>
            <a:ext cx="11619914" cy="471176"/>
          </a:xfrm>
        </p:spPr>
        <p:txBody>
          <a:bodyPr>
            <a:normAutofit fontScale="90000"/>
          </a:bodyPr>
          <a:lstStyle/>
          <a:p>
            <a:r>
              <a:rPr lang="en-US" b="1" dirty="0"/>
              <a:t>Looping with Pointers example output</a:t>
            </a:r>
            <a:endParaRPr lang="en-US" dirty="0"/>
          </a:p>
        </p:txBody>
      </p:sp>
      <p:pic>
        <p:nvPicPr>
          <p:cNvPr id="5" name="Content Placeholder 4" descr="A computer screen shot of a black screen&#10;&#10;AI-generated content may be incorrect.">
            <a:extLst>
              <a:ext uri="{FF2B5EF4-FFF2-40B4-BE49-F238E27FC236}">
                <a16:creationId xmlns:a16="http://schemas.microsoft.com/office/drawing/2014/main" id="{73C130DC-BD72-A449-2CC1-CAF9FFEE17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6281" y="1056807"/>
            <a:ext cx="11587396" cy="5801193"/>
          </a:xfrm>
        </p:spPr>
      </p:pic>
    </p:spTree>
    <p:extLst>
      <p:ext uri="{BB962C8B-B14F-4D97-AF65-F5344CB8AC3E}">
        <p14:creationId xmlns:p14="http://schemas.microsoft.com/office/powerpoint/2010/main" val="275581600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173E2-2BA4-20C2-6C08-67265ABC23C7}"/>
              </a:ext>
            </a:extLst>
          </p:cNvPr>
          <p:cNvSpPr>
            <a:spLocks noGrp="1"/>
          </p:cNvSpPr>
          <p:nvPr>
            <p:ph type="title"/>
          </p:nvPr>
        </p:nvSpPr>
        <p:spPr>
          <a:xfrm>
            <a:off x="0" y="391409"/>
            <a:ext cx="10515600" cy="579255"/>
          </a:xfrm>
        </p:spPr>
        <p:txBody>
          <a:bodyPr>
            <a:normAutofit fontScale="90000"/>
          </a:bodyPr>
          <a:lstStyle/>
          <a:p>
            <a:r>
              <a:rPr lang="en-US" b="1" dirty="0"/>
              <a:t>Common Mistakes to Avoid</a:t>
            </a:r>
            <a:br>
              <a:rPr lang="en-US" b="1" dirty="0"/>
            </a:br>
            <a:endParaRPr lang="en-US" b="1" dirty="0"/>
          </a:p>
        </p:txBody>
      </p:sp>
      <p:sp>
        <p:nvSpPr>
          <p:cNvPr id="3" name="Content Placeholder 2">
            <a:extLst>
              <a:ext uri="{FF2B5EF4-FFF2-40B4-BE49-F238E27FC236}">
                <a16:creationId xmlns:a16="http://schemas.microsoft.com/office/drawing/2014/main" id="{E7B7E98A-0154-04D4-F4B7-2C0A1AB89E02}"/>
              </a:ext>
            </a:extLst>
          </p:cNvPr>
          <p:cNvSpPr>
            <a:spLocks noGrp="1"/>
          </p:cNvSpPr>
          <p:nvPr>
            <p:ph idx="1"/>
          </p:nvPr>
        </p:nvSpPr>
        <p:spPr>
          <a:xfrm>
            <a:off x="239843" y="644577"/>
            <a:ext cx="11347554" cy="5532386"/>
          </a:xfrm>
        </p:spPr>
        <p:txBody>
          <a:bodyPr>
            <a:normAutofit fontScale="92500" lnSpcReduction="10000"/>
          </a:bodyPr>
          <a:lstStyle/>
          <a:p>
            <a:r>
              <a:rPr lang="en-US" b="1" dirty="0"/>
              <a:t>Using the wrong type:</a:t>
            </a:r>
            <a:r>
              <a:rPr lang="en-US" dirty="0"/>
              <a:t> Remember that pointer movement depends on its type. An int* moves in 4-byte steps, but a char* moves 1 byte at a time. Mixing them up will point to the wrong memory locations.</a:t>
            </a:r>
          </a:p>
          <a:p>
            <a:r>
              <a:rPr lang="en-US" b="1" dirty="0"/>
              <a:t>Uninitialized pointers:</a:t>
            </a:r>
            <a:r>
              <a:rPr lang="en-US" dirty="0"/>
              <a:t> Always make sure a pointer is pointing to something real before you use it. Using a pointer that doesn't point anywhere can crash our program.</a:t>
            </a:r>
          </a:p>
          <a:p>
            <a:r>
              <a:rPr lang="en-US" b="1" dirty="0"/>
              <a:t>Going out of bounds:</a:t>
            </a:r>
            <a:r>
              <a:rPr lang="en-US" dirty="0"/>
              <a:t> Never move a pointer past the end of an array or before it starts. The only safe "outside" position is </a:t>
            </a:r>
            <a:r>
              <a:rPr lang="en-US" i="1" dirty="0"/>
              <a:t>one step past the end</a:t>
            </a:r>
            <a:r>
              <a:rPr lang="en-US" dirty="0"/>
              <a:t>, and that's only for comparing pointers - not for accessing values.</a:t>
            </a:r>
          </a:p>
          <a:p>
            <a:r>
              <a:rPr lang="en-US" dirty="0"/>
              <a:t>And be careful; pointers must be handled with care, since it is possible to damage data stored in other memory addresses.</a:t>
            </a:r>
          </a:p>
          <a:p>
            <a:pPr marL="0" indent="0">
              <a:buNone/>
            </a:pPr>
            <a:endParaRPr lang="en-US" dirty="0"/>
          </a:p>
        </p:txBody>
      </p:sp>
    </p:spTree>
    <p:extLst>
      <p:ext uri="{BB962C8B-B14F-4D97-AF65-F5344CB8AC3E}">
        <p14:creationId xmlns:p14="http://schemas.microsoft.com/office/powerpoint/2010/main" val="3814555998"/>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406A3-D04C-0ADA-2B6C-D2E9750AA478}"/>
              </a:ext>
            </a:extLst>
          </p:cNvPr>
          <p:cNvSpPr>
            <a:spLocks noGrp="1"/>
          </p:cNvSpPr>
          <p:nvPr>
            <p:ph type="title"/>
          </p:nvPr>
        </p:nvSpPr>
        <p:spPr>
          <a:xfrm>
            <a:off x="0" y="316458"/>
            <a:ext cx="11113957" cy="729157"/>
          </a:xfrm>
        </p:spPr>
        <p:txBody>
          <a:bodyPr>
            <a:normAutofit fontScale="90000"/>
          </a:bodyPr>
          <a:lstStyle/>
          <a:p>
            <a:r>
              <a:rPr lang="en-US" dirty="0"/>
              <a:t>C Pointer to Pointer</a:t>
            </a:r>
            <a:br>
              <a:rPr lang="en-US" dirty="0"/>
            </a:br>
            <a:endParaRPr lang="en-US" dirty="0"/>
          </a:p>
        </p:txBody>
      </p:sp>
      <p:sp>
        <p:nvSpPr>
          <p:cNvPr id="3" name="Content Placeholder 2">
            <a:extLst>
              <a:ext uri="{FF2B5EF4-FFF2-40B4-BE49-F238E27FC236}">
                <a16:creationId xmlns:a16="http://schemas.microsoft.com/office/drawing/2014/main" id="{1CC682A8-7D09-320E-EA1D-4E9AB513BC75}"/>
              </a:ext>
            </a:extLst>
          </p:cNvPr>
          <p:cNvSpPr>
            <a:spLocks noGrp="1"/>
          </p:cNvSpPr>
          <p:nvPr>
            <p:ph idx="1"/>
          </p:nvPr>
        </p:nvSpPr>
        <p:spPr>
          <a:xfrm>
            <a:off x="119921" y="824458"/>
            <a:ext cx="11857220" cy="5717083"/>
          </a:xfrm>
        </p:spPr>
        <p:txBody>
          <a:bodyPr>
            <a:normAutofit lnSpcReduction="10000"/>
          </a:bodyPr>
          <a:lstStyle/>
          <a:p>
            <a:pPr marL="0" indent="0" algn="just">
              <a:buNone/>
            </a:pPr>
            <a:r>
              <a:rPr lang="en-US" dirty="0"/>
              <a:t>pointer that points to another pointer. This is called a pointer to pointer (or "double pointer") . example</a:t>
            </a:r>
          </a:p>
          <a:p>
            <a:pPr marL="0" indent="0" algn="just">
              <a:buNone/>
            </a:pPr>
            <a:r>
              <a:rPr lang="en-US" b="1" i="1" dirty="0"/>
              <a:t>#include &lt;</a:t>
            </a:r>
            <a:r>
              <a:rPr lang="en-US" b="1" i="1" dirty="0" err="1"/>
              <a:t>stdio.h</a:t>
            </a:r>
            <a:r>
              <a:rPr lang="en-US" b="1" i="1" dirty="0"/>
              <a:t>&gt;</a:t>
            </a:r>
          </a:p>
          <a:p>
            <a:pPr marL="0" indent="0" algn="just">
              <a:buNone/>
            </a:pPr>
            <a:r>
              <a:rPr lang="en-US" b="1" i="1" dirty="0"/>
              <a:t>int main() {</a:t>
            </a:r>
          </a:p>
          <a:p>
            <a:pPr marL="0" indent="0" algn="just">
              <a:buNone/>
            </a:pPr>
            <a:r>
              <a:rPr lang="en-US" b="1" i="1" dirty="0"/>
              <a:t>  int </a:t>
            </a:r>
            <a:r>
              <a:rPr lang="en-US" b="1" i="1" dirty="0" err="1"/>
              <a:t>myNum</a:t>
            </a:r>
            <a:r>
              <a:rPr lang="en-US" b="1" i="1" dirty="0"/>
              <a:t> = 10;       // normal variable</a:t>
            </a:r>
          </a:p>
          <a:p>
            <a:pPr marL="0" indent="0" algn="just">
              <a:buNone/>
            </a:pPr>
            <a:r>
              <a:rPr lang="en-US" b="1" i="1" dirty="0"/>
              <a:t>  int *</a:t>
            </a:r>
            <a:r>
              <a:rPr lang="en-US" b="1" i="1" dirty="0" err="1"/>
              <a:t>ptr</a:t>
            </a:r>
            <a:r>
              <a:rPr lang="en-US" b="1" i="1" dirty="0"/>
              <a:t> = &amp;</a:t>
            </a:r>
            <a:r>
              <a:rPr lang="en-US" b="1" i="1" dirty="0" err="1"/>
              <a:t>myNum</a:t>
            </a:r>
            <a:r>
              <a:rPr lang="en-US" b="1" i="1" dirty="0"/>
              <a:t>;    // pointer to int</a:t>
            </a:r>
          </a:p>
          <a:p>
            <a:pPr marL="0" indent="0" algn="just">
              <a:buNone/>
            </a:pPr>
            <a:r>
              <a:rPr lang="en-US" b="1" i="1" dirty="0"/>
              <a:t>  int **</a:t>
            </a:r>
            <a:r>
              <a:rPr lang="en-US" b="1" i="1" dirty="0" err="1"/>
              <a:t>pptr</a:t>
            </a:r>
            <a:r>
              <a:rPr lang="en-US" b="1" i="1" dirty="0"/>
              <a:t> = &amp;</a:t>
            </a:r>
            <a:r>
              <a:rPr lang="en-US" b="1" i="1" dirty="0" err="1"/>
              <a:t>ptr</a:t>
            </a:r>
            <a:r>
              <a:rPr lang="en-US" b="1" i="1" dirty="0"/>
              <a:t>;    // pointer to pointer</a:t>
            </a:r>
          </a:p>
          <a:p>
            <a:pPr marL="0" indent="0" algn="just">
              <a:buNone/>
            </a:pPr>
            <a:r>
              <a:rPr lang="en-US" b="1" i="1" dirty="0"/>
              <a:t>  </a:t>
            </a:r>
            <a:r>
              <a:rPr lang="en-US" b="1" i="1" dirty="0" err="1"/>
              <a:t>printf</a:t>
            </a:r>
            <a:r>
              <a:rPr lang="en-US" b="1" i="1" dirty="0"/>
              <a:t>("</a:t>
            </a:r>
            <a:r>
              <a:rPr lang="en-US" b="1" i="1" dirty="0" err="1"/>
              <a:t>myNum</a:t>
            </a:r>
            <a:r>
              <a:rPr lang="en-US" b="1" i="1" dirty="0"/>
              <a:t> = %d\n", </a:t>
            </a:r>
            <a:r>
              <a:rPr lang="en-US" b="1" i="1" dirty="0" err="1"/>
              <a:t>myNum</a:t>
            </a:r>
            <a:r>
              <a:rPr lang="en-US" b="1" i="1" dirty="0"/>
              <a:t>);</a:t>
            </a:r>
          </a:p>
          <a:p>
            <a:pPr marL="0" indent="0" algn="just">
              <a:buNone/>
            </a:pPr>
            <a:r>
              <a:rPr lang="en-US" b="1" i="1" dirty="0"/>
              <a:t>  </a:t>
            </a:r>
            <a:r>
              <a:rPr lang="en-US" b="1" i="1" dirty="0" err="1"/>
              <a:t>printf</a:t>
            </a:r>
            <a:r>
              <a:rPr lang="en-US" b="1" i="1" dirty="0"/>
              <a:t>("*</a:t>
            </a:r>
            <a:r>
              <a:rPr lang="en-US" b="1" i="1" dirty="0" err="1"/>
              <a:t>ptr</a:t>
            </a:r>
            <a:r>
              <a:rPr lang="en-US" b="1" i="1" dirty="0"/>
              <a:t> = %d\n", *</a:t>
            </a:r>
            <a:r>
              <a:rPr lang="en-US" b="1" i="1" dirty="0" err="1"/>
              <a:t>ptr</a:t>
            </a:r>
            <a:r>
              <a:rPr lang="en-US" b="1" i="1" dirty="0"/>
              <a:t>);</a:t>
            </a:r>
          </a:p>
          <a:p>
            <a:pPr marL="0" indent="0" algn="just">
              <a:buNone/>
            </a:pPr>
            <a:r>
              <a:rPr lang="en-US" b="1" i="1" dirty="0"/>
              <a:t>  </a:t>
            </a:r>
            <a:r>
              <a:rPr lang="en-US" b="1" i="1" dirty="0" err="1"/>
              <a:t>printf</a:t>
            </a:r>
            <a:r>
              <a:rPr lang="en-US" b="1" i="1" dirty="0"/>
              <a:t>("**</a:t>
            </a:r>
            <a:r>
              <a:rPr lang="en-US" b="1" i="1" dirty="0" err="1"/>
              <a:t>pptr</a:t>
            </a:r>
            <a:r>
              <a:rPr lang="en-US" b="1" i="1" dirty="0"/>
              <a:t> = %d\n", **</a:t>
            </a:r>
            <a:r>
              <a:rPr lang="en-US" b="1" i="1" dirty="0" err="1"/>
              <a:t>pptr</a:t>
            </a:r>
            <a:r>
              <a:rPr lang="en-US" b="1" i="1" dirty="0"/>
              <a:t>);</a:t>
            </a:r>
          </a:p>
          <a:p>
            <a:pPr marL="0" indent="0" algn="just">
              <a:buNone/>
            </a:pPr>
            <a:r>
              <a:rPr lang="en-US" b="1" i="1" dirty="0"/>
              <a:t>  return 0;</a:t>
            </a:r>
          </a:p>
          <a:p>
            <a:pPr marL="0" indent="0" algn="just">
              <a:buNone/>
            </a:pPr>
            <a:r>
              <a:rPr lang="en-US" b="1" i="1" dirty="0"/>
              <a:t>}</a:t>
            </a:r>
          </a:p>
        </p:txBody>
      </p:sp>
    </p:spTree>
    <p:extLst>
      <p:ext uri="{BB962C8B-B14F-4D97-AF65-F5344CB8AC3E}">
        <p14:creationId xmlns:p14="http://schemas.microsoft.com/office/powerpoint/2010/main" val="314904552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AE439-73B1-2C04-7F1D-8B8C49509EED}"/>
              </a:ext>
            </a:extLst>
          </p:cNvPr>
          <p:cNvSpPr>
            <a:spLocks noGrp="1"/>
          </p:cNvSpPr>
          <p:nvPr>
            <p:ph type="title"/>
          </p:nvPr>
        </p:nvSpPr>
        <p:spPr>
          <a:xfrm>
            <a:off x="0" y="365125"/>
            <a:ext cx="10515600" cy="315912"/>
          </a:xfrm>
        </p:spPr>
        <p:txBody>
          <a:bodyPr>
            <a:normAutofit fontScale="90000"/>
          </a:bodyPr>
          <a:lstStyle/>
          <a:p>
            <a:r>
              <a:rPr lang="en-US" dirty="0"/>
              <a:t>C Pointer to Pointer</a:t>
            </a:r>
            <a:br>
              <a:rPr lang="en-US" dirty="0"/>
            </a:br>
            <a:endParaRPr lang="en-US" dirty="0"/>
          </a:p>
        </p:txBody>
      </p:sp>
      <p:sp>
        <p:nvSpPr>
          <p:cNvPr id="3" name="Content Placeholder 2">
            <a:extLst>
              <a:ext uri="{FF2B5EF4-FFF2-40B4-BE49-F238E27FC236}">
                <a16:creationId xmlns:a16="http://schemas.microsoft.com/office/drawing/2014/main" id="{7286D853-5AE3-77A8-3EC7-AED9AF962F07}"/>
              </a:ext>
            </a:extLst>
          </p:cNvPr>
          <p:cNvSpPr>
            <a:spLocks noGrp="1"/>
          </p:cNvSpPr>
          <p:nvPr>
            <p:ph idx="1"/>
          </p:nvPr>
        </p:nvSpPr>
        <p:spPr>
          <a:xfrm>
            <a:off x="209861" y="681036"/>
            <a:ext cx="11782269" cy="5704773"/>
          </a:xfrm>
        </p:spPr>
        <p:txBody>
          <a:bodyPr>
            <a:normAutofit/>
          </a:bodyPr>
          <a:lstStyle/>
          <a:p>
            <a:pPr marL="0" indent="0">
              <a:buNone/>
            </a:pPr>
            <a:r>
              <a:rPr lang="en-US" dirty="0"/>
              <a:t>Here's what happens step by step:</a:t>
            </a:r>
          </a:p>
          <a:p>
            <a:pPr marL="0" indent="0">
              <a:buNone/>
            </a:pPr>
            <a:r>
              <a:rPr lang="en-US" dirty="0" err="1"/>
              <a:t>myNum</a:t>
            </a:r>
            <a:r>
              <a:rPr lang="en-US" dirty="0"/>
              <a:t> holds the value 10.</a:t>
            </a:r>
          </a:p>
          <a:p>
            <a:pPr marL="0" indent="0">
              <a:buNone/>
            </a:pPr>
            <a:r>
              <a:rPr lang="en-US" dirty="0" err="1"/>
              <a:t>ptr</a:t>
            </a:r>
            <a:r>
              <a:rPr lang="en-US" dirty="0"/>
              <a:t> holds the address of </a:t>
            </a:r>
            <a:r>
              <a:rPr lang="en-US" dirty="0" err="1"/>
              <a:t>myNum</a:t>
            </a:r>
            <a:r>
              <a:rPr lang="en-US" dirty="0"/>
              <a:t>.</a:t>
            </a:r>
          </a:p>
          <a:p>
            <a:pPr marL="0" indent="0">
              <a:buNone/>
            </a:pPr>
            <a:r>
              <a:rPr lang="en-US" dirty="0" err="1"/>
              <a:t>pptr</a:t>
            </a:r>
            <a:r>
              <a:rPr lang="en-US" dirty="0"/>
              <a:t> holds the address of </a:t>
            </a:r>
            <a:r>
              <a:rPr lang="en-US" dirty="0" err="1"/>
              <a:t>ptr</a:t>
            </a:r>
            <a:r>
              <a:rPr lang="en-US" dirty="0"/>
              <a:t>.</a:t>
            </a:r>
          </a:p>
          <a:p>
            <a:pPr marL="0" indent="0">
              <a:buNone/>
            </a:pPr>
            <a:r>
              <a:rPr lang="en-US" dirty="0"/>
              <a:t>*</a:t>
            </a:r>
            <a:r>
              <a:rPr lang="en-US" dirty="0" err="1"/>
              <a:t>ptr</a:t>
            </a:r>
            <a:r>
              <a:rPr lang="en-US" dirty="0"/>
              <a:t> gives the value of </a:t>
            </a:r>
            <a:r>
              <a:rPr lang="en-US" dirty="0" err="1"/>
              <a:t>myNum</a:t>
            </a:r>
            <a:r>
              <a:rPr lang="en-US" dirty="0"/>
              <a:t>.</a:t>
            </a:r>
          </a:p>
          <a:p>
            <a:pPr marL="0" indent="0">
              <a:buNone/>
            </a:pPr>
            <a:r>
              <a:rPr lang="en-US" dirty="0"/>
              <a:t>**</a:t>
            </a:r>
            <a:r>
              <a:rPr lang="en-US" dirty="0" err="1"/>
              <a:t>pptr</a:t>
            </a:r>
            <a:r>
              <a:rPr lang="en-US" dirty="0"/>
              <a:t> also gives the value of </a:t>
            </a:r>
            <a:r>
              <a:rPr lang="en-US" dirty="0" err="1"/>
              <a:t>myNum</a:t>
            </a:r>
            <a:r>
              <a:rPr lang="en-US" dirty="0"/>
              <a:t>, by going through both pointers.</a:t>
            </a:r>
          </a:p>
          <a:p>
            <a:pPr marL="0" indent="0">
              <a:buNone/>
            </a:pPr>
            <a:r>
              <a:rPr lang="en-US" dirty="0"/>
              <a:t>So:</a:t>
            </a:r>
          </a:p>
          <a:p>
            <a:pPr marL="0" indent="0">
              <a:buNone/>
            </a:pPr>
            <a:r>
              <a:rPr lang="en-US" dirty="0"/>
              <a:t>*</a:t>
            </a:r>
            <a:r>
              <a:rPr lang="en-US" dirty="0" err="1"/>
              <a:t>ptr</a:t>
            </a:r>
            <a:r>
              <a:rPr lang="en-US" dirty="0"/>
              <a:t> = value of </a:t>
            </a:r>
            <a:r>
              <a:rPr lang="en-US" dirty="0" err="1"/>
              <a:t>myNum</a:t>
            </a:r>
            <a:endParaRPr lang="en-US" dirty="0"/>
          </a:p>
          <a:p>
            <a:pPr marL="0" indent="0">
              <a:buNone/>
            </a:pPr>
            <a:r>
              <a:rPr lang="en-US" dirty="0"/>
              <a:t>**</a:t>
            </a:r>
            <a:r>
              <a:rPr lang="en-US" dirty="0" err="1"/>
              <a:t>pptr</a:t>
            </a:r>
            <a:r>
              <a:rPr lang="en-US" dirty="0"/>
              <a:t> = value of </a:t>
            </a:r>
            <a:r>
              <a:rPr lang="en-US" dirty="0" err="1"/>
              <a:t>myNum</a:t>
            </a:r>
            <a:r>
              <a:rPr lang="en-US" dirty="0"/>
              <a:t> through both levels</a:t>
            </a:r>
          </a:p>
          <a:p>
            <a:pPr marL="0" indent="0">
              <a:buNone/>
            </a:pPr>
            <a:endParaRPr lang="en-US" dirty="0"/>
          </a:p>
        </p:txBody>
      </p:sp>
    </p:spTree>
    <p:extLst>
      <p:ext uri="{BB962C8B-B14F-4D97-AF65-F5344CB8AC3E}">
        <p14:creationId xmlns:p14="http://schemas.microsoft.com/office/powerpoint/2010/main" val="292395745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76C8A-2C5A-1537-1774-D5D99BFAB1FF}"/>
              </a:ext>
            </a:extLst>
          </p:cNvPr>
          <p:cNvSpPr>
            <a:spLocks noGrp="1"/>
          </p:cNvSpPr>
          <p:nvPr>
            <p:ph type="title"/>
          </p:nvPr>
        </p:nvSpPr>
        <p:spPr>
          <a:xfrm>
            <a:off x="-1" y="0"/>
            <a:ext cx="11763357" cy="474324"/>
          </a:xfrm>
        </p:spPr>
        <p:txBody>
          <a:bodyPr>
            <a:normAutofit fontScale="90000"/>
          </a:bodyPr>
          <a:lstStyle/>
          <a:p>
            <a:r>
              <a:rPr lang="en-US" b="1" dirty="0"/>
              <a:t>C Pointer to Pointer example output</a:t>
            </a:r>
          </a:p>
        </p:txBody>
      </p:sp>
      <p:pic>
        <p:nvPicPr>
          <p:cNvPr id="7" name="Content Placeholder 6" descr="A computer screen with a black screen&#10;&#10;AI-generated content may be incorrect.">
            <a:extLst>
              <a:ext uri="{FF2B5EF4-FFF2-40B4-BE49-F238E27FC236}">
                <a16:creationId xmlns:a16="http://schemas.microsoft.com/office/drawing/2014/main" id="{09963D1C-E977-7FA9-3A3B-21EF8BB639B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5961" y="837418"/>
            <a:ext cx="11587396" cy="6273800"/>
          </a:xfrm>
        </p:spPr>
      </p:pic>
    </p:spTree>
    <p:extLst>
      <p:ext uri="{BB962C8B-B14F-4D97-AF65-F5344CB8AC3E}">
        <p14:creationId xmlns:p14="http://schemas.microsoft.com/office/powerpoint/2010/main" val="340959976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60A5B-A068-15D2-4AEC-2454F57E0025}"/>
              </a:ext>
            </a:extLst>
          </p:cNvPr>
          <p:cNvSpPr>
            <a:spLocks noGrp="1"/>
          </p:cNvSpPr>
          <p:nvPr>
            <p:ph type="title"/>
          </p:nvPr>
        </p:nvSpPr>
        <p:spPr>
          <a:xfrm>
            <a:off x="351692" y="585453"/>
            <a:ext cx="12192000" cy="489314"/>
          </a:xfrm>
        </p:spPr>
        <p:txBody>
          <a:bodyPr>
            <a:normAutofit fontScale="90000"/>
          </a:bodyPr>
          <a:lstStyle/>
          <a:p>
            <a:r>
              <a:rPr lang="en-US" b="1" dirty="0"/>
              <a:t>Changing Values Through a Pointer to Pointer</a:t>
            </a:r>
            <a:br>
              <a:rPr lang="en-US" b="1" dirty="0"/>
            </a:br>
            <a:endParaRPr lang="en-US" b="1" dirty="0"/>
          </a:p>
        </p:txBody>
      </p:sp>
      <p:sp>
        <p:nvSpPr>
          <p:cNvPr id="3" name="Content Placeholder 2">
            <a:extLst>
              <a:ext uri="{FF2B5EF4-FFF2-40B4-BE49-F238E27FC236}">
                <a16:creationId xmlns:a16="http://schemas.microsoft.com/office/drawing/2014/main" id="{713890CA-6C0F-5B0D-7C72-5C90DABAC4EF}"/>
              </a:ext>
            </a:extLst>
          </p:cNvPr>
          <p:cNvSpPr>
            <a:spLocks noGrp="1"/>
          </p:cNvSpPr>
          <p:nvPr>
            <p:ph idx="1"/>
          </p:nvPr>
        </p:nvSpPr>
        <p:spPr>
          <a:xfrm>
            <a:off x="240766" y="801974"/>
            <a:ext cx="11677337" cy="6056026"/>
          </a:xfrm>
        </p:spPr>
        <p:txBody>
          <a:bodyPr>
            <a:normAutofit/>
          </a:bodyPr>
          <a:lstStyle/>
          <a:p>
            <a:pPr marL="0" indent="0">
              <a:buNone/>
            </a:pPr>
            <a:r>
              <a:rPr lang="en-US" dirty="0"/>
              <a:t>Since **</a:t>
            </a:r>
            <a:r>
              <a:rPr lang="en-US" dirty="0" err="1"/>
              <a:t>pptr</a:t>
            </a:r>
            <a:r>
              <a:rPr lang="en-US" dirty="0"/>
              <a:t> accesses the original variable, you can use it to change the value of the variable too .Example</a:t>
            </a:r>
          </a:p>
          <a:p>
            <a:pPr marL="0" indent="0">
              <a:buNone/>
            </a:pPr>
            <a:r>
              <a:rPr lang="en-US" b="1" i="1" dirty="0"/>
              <a:t>#include &lt;</a:t>
            </a:r>
            <a:r>
              <a:rPr lang="en-US" b="1" i="1" dirty="0" err="1"/>
              <a:t>stdio.h</a:t>
            </a:r>
            <a:r>
              <a:rPr lang="en-US" b="1" i="1" dirty="0"/>
              <a:t>&gt;</a:t>
            </a:r>
          </a:p>
          <a:p>
            <a:pPr marL="0" indent="0">
              <a:buNone/>
            </a:pPr>
            <a:r>
              <a:rPr lang="en-US" b="1" i="1" dirty="0"/>
              <a:t>int main() {</a:t>
            </a:r>
          </a:p>
          <a:p>
            <a:pPr marL="0" indent="0">
              <a:buNone/>
            </a:pPr>
            <a:r>
              <a:rPr lang="en-US" b="1" i="1" dirty="0"/>
              <a:t>  int </a:t>
            </a:r>
            <a:r>
              <a:rPr lang="en-US" b="1" i="1" dirty="0" err="1"/>
              <a:t>myNum</a:t>
            </a:r>
            <a:r>
              <a:rPr lang="en-US" b="1" i="1" dirty="0"/>
              <a:t> = 5;</a:t>
            </a:r>
          </a:p>
          <a:p>
            <a:pPr marL="0" indent="0">
              <a:buNone/>
            </a:pPr>
            <a:r>
              <a:rPr lang="en-US" b="1" i="1" dirty="0"/>
              <a:t>  int *</a:t>
            </a:r>
            <a:r>
              <a:rPr lang="en-US" b="1" i="1" dirty="0" err="1"/>
              <a:t>ptr</a:t>
            </a:r>
            <a:r>
              <a:rPr lang="en-US" b="1" i="1" dirty="0"/>
              <a:t> = &amp;</a:t>
            </a:r>
            <a:r>
              <a:rPr lang="en-US" b="1" i="1" dirty="0" err="1"/>
              <a:t>myNum</a:t>
            </a:r>
            <a:r>
              <a:rPr lang="en-US" b="1" i="1" dirty="0"/>
              <a:t>;</a:t>
            </a:r>
          </a:p>
          <a:p>
            <a:pPr marL="0" indent="0">
              <a:buNone/>
            </a:pPr>
            <a:r>
              <a:rPr lang="en-US" b="1" i="1" dirty="0"/>
              <a:t>  int **</a:t>
            </a:r>
            <a:r>
              <a:rPr lang="en-US" b="1" i="1" dirty="0" err="1"/>
              <a:t>pptr</a:t>
            </a:r>
            <a:r>
              <a:rPr lang="en-US" b="1" i="1" dirty="0"/>
              <a:t> = &amp;</a:t>
            </a:r>
            <a:r>
              <a:rPr lang="en-US" b="1" i="1" dirty="0" err="1"/>
              <a:t>ptr</a:t>
            </a:r>
            <a:r>
              <a:rPr lang="en-US" b="1" i="1" dirty="0"/>
              <a:t>;</a:t>
            </a:r>
          </a:p>
          <a:p>
            <a:pPr marL="0" indent="0">
              <a:buNone/>
            </a:pPr>
            <a:r>
              <a:rPr lang="en-US" b="1" i="1" dirty="0"/>
              <a:t>  **</a:t>
            </a:r>
            <a:r>
              <a:rPr lang="en-US" b="1" i="1" dirty="0" err="1"/>
              <a:t>pptr</a:t>
            </a:r>
            <a:r>
              <a:rPr lang="en-US" b="1" i="1" dirty="0"/>
              <a:t> = 20; // changes </a:t>
            </a:r>
            <a:r>
              <a:rPr lang="en-US" b="1" i="1" dirty="0" err="1"/>
              <a:t>myNum</a:t>
            </a:r>
            <a:endParaRPr lang="en-US" b="1" i="1" dirty="0"/>
          </a:p>
          <a:p>
            <a:pPr marL="0" indent="0">
              <a:buNone/>
            </a:pPr>
            <a:r>
              <a:rPr lang="en-US" b="1" i="1" dirty="0"/>
              <a:t>  </a:t>
            </a:r>
            <a:r>
              <a:rPr lang="en-US" b="1" i="1" dirty="0" err="1"/>
              <a:t>printf</a:t>
            </a:r>
            <a:r>
              <a:rPr lang="en-US" b="1" i="1" dirty="0"/>
              <a:t>("</a:t>
            </a:r>
            <a:r>
              <a:rPr lang="en-US" b="1" i="1" dirty="0" err="1"/>
              <a:t>myNum</a:t>
            </a:r>
            <a:r>
              <a:rPr lang="en-US" b="1" i="1" dirty="0"/>
              <a:t> = %d\n", </a:t>
            </a:r>
            <a:r>
              <a:rPr lang="en-US" b="1" i="1" dirty="0" err="1"/>
              <a:t>myNum</a:t>
            </a:r>
            <a:r>
              <a:rPr lang="en-US" b="1" i="1" dirty="0"/>
              <a:t>);</a:t>
            </a:r>
          </a:p>
          <a:p>
            <a:pPr marL="0" indent="0">
              <a:buNone/>
            </a:pPr>
            <a:r>
              <a:rPr lang="en-US" b="1" i="1" dirty="0"/>
              <a:t>  return 0;</a:t>
            </a:r>
          </a:p>
          <a:p>
            <a:pPr marL="0" indent="0">
              <a:buNone/>
            </a:pPr>
            <a:r>
              <a:rPr lang="en-US" b="1" i="1" dirty="0"/>
              <a:t>}</a:t>
            </a:r>
          </a:p>
          <a:p>
            <a:pPr marL="0" indent="0">
              <a:buNone/>
            </a:pPr>
            <a:endParaRPr lang="en-US" dirty="0"/>
          </a:p>
        </p:txBody>
      </p:sp>
    </p:spTree>
    <p:extLst>
      <p:ext uri="{BB962C8B-B14F-4D97-AF65-F5344CB8AC3E}">
        <p14:creationId xmlns:p14="http://schemas.microsoft.com/office/powerpoint/2010/main" val="241955347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895BD-8155-8CEA-466A-8CB54D5C273F}"/>
              </a:ext>
            </a:extLst>
          </p:cNvPr>
          <p:cNvSpPr>
            <a:spLocks noGrp="1"/>
          </p:cNvSpPr>
          <p:nvPr>
            <p:ph type="title"/>
          </p:nvPr>
        </p:nvSpPr>
        <p:spPr>
          <a:xfrm>
            <a:off x="0" y="0"/>
            <a:ext cx="11662348" cy="774127"/>
          </a:xfrm>
        </p:spPr>
        <p:txBody>
          <a:bodyPr>
            <a:normAutofit fontScale="90000"/>
          </a:bodyPr>
          <a:lstStyle/>
          <a:p>
            <a:r>
              <a:rPr lang="en-US" dirty="0"/>
              <a:t>Changing Values Through a Pointer-to-Pointer output</a:t>
            </a:r>
          </a:p>
        </p:txBody>
      </p:sp>
      <p:pic>
        <p:nvPicPr>
          <p:cNvPr id="8" name="Content Placeholder 7" descr="A computer screen shot of a black screen&#10;&#10;AI-generated content may be incorrect.">
            <a:extLst>
              <a:ext uri="{FF2B5EF4-FFF2-40B4-BE49-F238E27FC236}">
                <a16:creationId xmlns:a16="http://schemas.microsoft.com/office/drawing/2014/main" id="{BB496C04-EE4C-5D2B-1193-56955D262CF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9822" y="774127"/>
            <a:ext cx="11662348" cy="5731604"/>
          </a:xfrm>
        </p:spPr>
      </p:pic>
    </p:spTree>
    <p:extLst>
      <p:ext uri="{BB962C8B-B14F-4D97-AF65-F5344CB8AC3E}">
        <p14:creationId xmlns:p14="http://schemas.microsoft.com/office/powerpoint/2010/main" val="92928059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89FC1-2D10-9527-2A2A-584D345A0DCF}"/>
              </a:ext>
            </a:extLst>
          </p:cNvPr>
          <p:cNvSpPr>
            <a:spLocks noGrp="1"/>
          </p:cNvSpPr>
          <p:nvPr>
            <p:ph type="title"/>
          </p:nvPr>
        </p:nvSpPr>
        <p:spPr>
          <a:xfrm>
            <a:off x="239843" y="365126"/>
            <a:ext cx="11113957" cy="669196"/>
          </a:xfrm>
        </p:spPr>
        <p:txBody>
          <a:bodyPr>
            <a:normAutofit fontScale="90000"/>
          </a:bodyPr>
          <a:lstStyle/>
          <a:p>
            <a:r>
              <a:rPr lang="en-US" dirty="0"/>
              <a:t>ALOGARITHMS AND C CODE FOR DEMOSTRATE POINTERS</a:t>
            </a:r>
          </a:p>
        </p:txBody>
      </p:sp>
      <p:sp>
        <p:nvSpPr>
          <p:cNvPr id="3" name="Content Placeholder 2">
            <a:extLst>
              <a:ext uri="{FF2B5EF4-FFF2-40B4-BE49-F238E27FC236}">
                <a16:creationId xmlns:a16="http://schemas.microsoft.com/office/drawing/2014/main" id="{787EA544-3474-E464-3909-D4D68B9A9389}"/>
              </a:ext>
            </a:extLst>
          </p:cNvPr>
          <p:cNvSpPr>
            <a:spLocks noGrp="1"/>
          </p:cNvSpPr>
          <p:nvPr>
            <p:ph idx="1"/>
          </p:nvPr>
        </p:nvSpPr>
        <p:spPr>
          <a:xfrm>
            <a:off x="239843" y="1229192"/>
            <a:ext cx="11767278" cy="5486401"/>
          </a:xfrm>
        </p:spPr>
        <p:txBody>
          <a:bodyPr>
            <a:normAutofit fontScale="70000" lnSpcReduction="20000"/>
          </a:bodyPr>
          <a:lstStyle/>
          <a:p>
            <a:pPr marL="0" indent="0">
              <a:buNone/>
            </a:pPr>
            <a:r>
              <a:rPr lang="en-US" b="1" dirty="0"/>
              <a:t>Algorithm: Addition of Two Numbers Using Pointers</a:t>
            </a:r>
          </a:p>
          <a:p>
            <a:pPr marL="0" indent="0">
              <a:buNone/>
            </a:pPr>
            <a:r>
              <a:rPr lang="en-US" b="1" dirty="0"/>
              <a:t>Step 1: Start</a:t>
            </a:r>
          </a:p>
          <a:p>
            <a:pPr marL="0" indent="0">
              <a:buNone/>
            </a:pPr>
            <a:r>
              <a:rPr lang="en-US" b="1" dirty="0"/>
              <a:t>Step 2: Declare variables</a:t>
            </a:r>
          </a:p>
          <a:p>
            <a:pPr marL="0" indent="0">
              <a:buNone/>
            </a:pPr>
            <a:r>
              <a:rPr lang="en-US" dirty="0"/>
              <a:t>Declare two integer variables to store the numbers and one variable to store the sum.</a:t>
            </a:r>
            <a:br>
              <a:rPr lang="en-US" dirty="0"/>
            </a:br>
            <a:r>
              <a:rPr lang="en-US" dirty="0"/>
              <a:t>Declare two integer pointer variables.</a:t>
            </a:r>
          </a:p>
          <a:p>
            <a:pPr marL="0" indent="0">
              <a:buNone/>
            </a:pPr>
            <a:r>
              <a:rPr lang="en-US" b="1" dirty="0"/>
              <a:t>Step 3: Input values</a:t>
            </a:r>
          </a:p>
          <a:p>
            <a:pPr marL="0" indent="0">
              <a:buNone/>
            </a:pPr>
            <a:r>
              <a:rPr lang="en-US" dirty="0"/>
              <a:t>Ask the user to enter two numbers and store them in the variables.</a:t>
            </a:r>
          </a:p>
          <a:p>
            <a:pPr marL="0" indent="0">
              <a:buNone/>
            </a:pPr>
            <a:r>
              <a:rPr lang="en-US" b="1" dirty="0"/>
              <a:t>Step 4: Assign addresses to pointers</a:t>
            </a:r>
          </a:p>
          <a:p>
            <a:pPr marL="0" indent="0">
              <a:buNone/>
            </a:pPr>
            <a:r>
              <a:rPr lang="en-US" dirty="0"/>
              <a:t>Assign the addresses of the two input variables to the pointer variables.</a:t>
            </a:r>
          </a:p>
          <a:p>
            <a:pPr marL="0" indent="0">
              <a:buNone/>
            </a:pPr>
            <a:r>
              <a:rPr lang="en-US" b="1" dirty="0"/>
              <a:t>Step 5: Perform addition using pointers</a:t>
            </a:r>
          </a:p>
          <a:p>
            <a:pPr marL="0" indent="0">
              <a:buNone/>
            </a:pPr>
            <a:r>
              <a:rPr lang="en-US" dirty="0"/>
              <a:t>Dereference the pointers to access the values and add them.</a:t>
            </a:r>
          </a:p>
          <a:p>
            <a:pPr marL="0" indent="0">
              <a:buNone/>
            </a:pPr>
            <a:r>
              <a:rPr lang="en-US" b="1" dirty="0"/>
              <a:t>Step 6: Display the result</a:t>
            </a:r>
          </a:p>
          <a:p>
            <a:pPr marL="0" indent="0">
              <a:buNone/>
            </a:pPr>
            <a:r>
              <a:rPr lang="en-US" dirty="0"/>
              <a:t>Output the sum of the two numbers.</a:t>
            </a:r>
          </a:p>
          <a:p>
            <a:pPr marL="0" indent="0">
              <a:buNone/>
            </a:pPr>
            <a:r>
              <a:rPr lang="en-US" b="1" dirty="0"/>
              <a:t>Step 7: Stop</a:t>
            </a:r>
          </a:p>
          <a:p>
            <a:pPr marL="0" indent="0">
              <a:buNone/>
            </a:pPr>
            <a:r>
              <a:rPr lang="en-US" dirty="0"/>
              <a:t>End the program.</a:t>
            </a:r>
          </a:p>
          <a:p>
            <a:pPr marL="0" indent="0">
              <a:buNone/>
            </a:pPr>
            <a:endParaRPr lang="en-US" dirty="0"/>
          </a:p>
        </p:txBody>
      </p:sp>
    </p:spTree>
    <p:extLst>
      <p:ext uri="{BB962C8B-B14F-4D97-AF65-F5344CB8AC3E}">
        <p14:creationId xmlns:p14="http://schemas.microsoft.com/office/powerpoint/2010/main" val="5781260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CAEC9-588C-BC99-A40A-A7BA0B78715C}"/>
              </a:ext>
            </a:extLst>
          </p:cNvPr>
          <p:cNvSpPr>
            <a:spLocks noGrp="1"/>
          </p:cNvSpPr>
          <p:nvPr>
            <p:ph type="title"/>
          </p:nvPr>
        </p:nvSpPr>
        <p:spPr>
          <a:xfrm>
            <a:off x="209863" y="125282"/>
            <a:ext cx="10994036" cy="774127"/>
          </a:xfrm>
        </p:spPr>
        <p:txBody>
          <a:bodyPr/>
          <a:lstStyle/>
          <a:p>
            <a:r>
              <a:rPr lang="en-US" dirty="0"/>
              <a:t>FLOWCHART</a:t>
            </a:r>
          </a:p>
        </p:txBody>
      </p:sp>
      <p:pic>
        <p:nvPicPr>
          <p:cNvPr id="9" name="Content Placeholder 8" descr="A black and white rectangular object with black text&#10;&#10;AI-generated content may be incorrect.">
            <a:extLst>
              <a:ext uri="{FF2B5EF4-FFF2-40B4-BE49-F238E27FC236}">
                <a16:creationId xmlns:a16="http://schemas.microsoft.com/office/drawing/2014/main" id="{EF0FC9E8-F7E8-A278-7474-F087A03F95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27422" y="899409"/>
            <a:ext cx="4572000" cy="5471411"/>
          </a:xfrm>
        </p:spPr>
      </p:pic>
    </p:spTree>
    <p:extLst>
      <p:ext uri="{BB962C8B-B14F-4D97-AF65-F5344CB8AC3E}">
        <p14:creationId xmlns:p14="http://schemas.microsoft.com/office/powerpoint/2010/main" val="30359795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E9DFE-AB06-D556-FC7B-FDDF73CB0A10}"/>
              </a:ext>
            </a:extLst>
          </p:cNvPr>
          <p:cNvSpPr>
            <a:spLocks noGrp="1"/>
          </p:cNvSpPr>
          <p:nvPr>
            <p:ph type="title"/>
          </p:nvPr>
        </p:nvSpPr>
        <p:spPr>
          <a:xfrm>
            <a:off x="148653" y="110292"/>
            <a:ext cx="10515600" cy="744147"/>
          </a:xfrm>
        </p:spPr>
        <p:txBody>
          <a:bodyPr/>
          <a:lstStyle/>
          <a:p>
            <a:r>
              <a:rPr lang="en-US" dirty="0"/>
              <a:t>C PROGRAM</a:t>
            </a:r>
          </a:p>
        </p:txBody>
      </p:sp>
      <p:sp>
        <p:nvSpPr>
          <p:cNvPr id="3" name="Content Placeholder 2">
            <a:extLst>
              <a:ext uri="{FF2B5EF4-FFF2-40B4-BE49-F238E27FC236}">
                <a16:creationId xmlns:a16="http://schemas.microsoft.com/office/drawing/2014/main" id="{3FCC39BC-C4BE-7F25-8618-89E83A2AD171}"/>
              </a:ext>
            </a:extLst>
          </p:cNvPr>
          <p:cNvSpPr>
            <a:spLocks noGrp="1"/>
          </p:cNvSpPr>
          <p:nvPr>
            <p:ph idx="1"/>
          </p:nvPr>
        </p:nvSpPr>
        <p:spPr>
          <a:xfrm>
            <a:off x="148653" y="854438"/>
            <a:ext cx="11894694" cy="5756223"/>
          </a:xfrm>
        </p:spPr>
        <p:txBody>
          <a:bodyPr>
            <a:normAutofit fontScale="77500" lnSpcReduction="20000"/>
          </a:bodyPr>
          <a:lstStyle/>
          <a:p>
            <a:pPr marL="0" indent="0">
              <a:buNone/>
            </a:pPr>
            <a:r>
              <a:rPr lang="en-US" sz="3300" b="1" i="1" dirty="0"/>
              <a:t>#include &lt;</a:t>
            </a:r>
            <a:r>
              <a:rPr lang="en-US" sz="3300" b="1" i="1" dirty="0" err="1"/>
              <a:t>stdio.h</a:t>
            </a:r>
            <a:r>
              <a:rPr lang="en-US" sz="3300" b="1" i="1" dirty="0"/>
              <a:t>&gt;</a:t>
            </a:r>
          </a:p>
          <a:p>
            <a:pPr marL="0" indent="0">
              <a:buNone/>
            </a:pPr>
            <a:r>
              <a:rPr lang="en-US" sz="3300" b="1" i="1" dirty="0"/>
              <a:t>int main() {</a:t>
            </a:r>
          </a:p>
          <a:p>
            <a:pPr marL="0" indent="0">
              <a:buNone/>
            </a:pPr>
            <a:r>
              <a:rPr lang="en-US" sz="3300" b="1" i="1" dirty="0"/>
              <a:t>    int a, b, sum;</a:t>
            </a:r>
          </a:p>
          <a:p>
            <a:pPr marL="0" indent="0">
              <a:buNone/>
            </a:pPr>
            <a:r>
              <a:rPr lang="en-US" sz="3300" b="1" i="1" dirty="0"/>
              <a:t>    int *p1, *p2;</a:t>
            </a:r>
          </a:p>
          <a:p>
            <a:pPr marL="0" indent="0">
              <a:buNone/>
            </a:pPr>
            <a:r>
              <a:rPr lang="en-US" sz="3300" b="1" i="1" dirty="0"/>
              <a:t>    </a:t>
            </a:r>
            <a:r>
              <a:rPr lang="en-US" sz="3300" b="1" i="1" dirty="0" err="1"/>
              <a:t>printf</a:t>
            </a:r>
            <a:r>
              <a:rPr lang="en-US" sz="3300" b="1" i="1" dirty="0"/>
              <a:t>("Enter first number: ");</a:t>
            </a:r>
          </a:p>
          <a:p>
            <a:pPr marL="0" indent="0">
              <a:buNone/>
            </a:pPr>
            <a:r>
              <a:rPr lang="en-US" sz="3300" b="1" i="1" dirty="0"/>
              <a:t>    </a:t>
            </a:r>
            <a:r>
              <a:rPr lang="en-US" sz="3300" b="1" i="1" dirty="0" err="1"/>
              <a:t>scanf</a:t>
            </a:r>
            <a:r>
              <a:rPr lang="en-US" sz="3300" b="1" i="1" dirty="0"/>
              <a:t>("%d", &amp;a);</a:t>
            </a:r>
          </a:p>
          <a:p>
            <a:pPr marL="0" indent="0">
              <a:buNone/>
            </a:pPr>
            <a:r>
              <a:rPr lang="en-US" sz="3300" b="1" i="1" dirty="0"/>
              <a:t>    </a:t>
            </a:r>
            <a:r>
              <a:rPr lang="en-US" sz="3300" b="1" i="1" dirty="0" err="1"/>
              <a:t>printf</a:t>
            </a:r>
            <a:r>
              <a:rPr lang="en-US" sz="3300" b="1" i="1" dirty="0"/>
              <a:t>("Enter second number: ");</a:t>
            </a:r>
          </a:p>
          <a:p>
            <a:pPr marL="0" indent="0">
              <a:buNone/>
            </a:pPr>
            <a:r>
              <a:rPr lang="en-US" sz="3300" b="1" i="1" dirty="0"/>
              <a:t>    </a:t>
            </a:r>
            <a:r>
              <a:rPr lang="en-US" sz="3300" b="1" i="1" dirty="0" err="1"/>
              <a:t>scanf</a:t>
            </a:r>
            <a:r>
              <a:rPr lang="en-US" sz="3300" b="1" i="1" dirty="0"/>
              <a:t>("%d", &amp;b);</a:t>
            </a:r>
          </a:p>
          <a:p>
            <a:pPr marL="0" indent="0">
              <a:buNone/>
            </a:pPr>
            <a:r>
              <a:rPr lang="en-US" sz="3300" b="1" i="1" dirty="0"/>
              <a:t>    p1 = &amp;a;</a:t>
            </a:r>
          </a:p>
          <a:p>
            <a:pPr marL="0" indent="0">
              <a:buNone/>
            </a:pPr>
            <a:r>
              <a:rPr lang="en-US" sz="3300" b="1" i="1" dirty="0"/>
              <a:t>    p2 = &amp;b;</a:t>
            </a:r>
          </a:p>
          <a:p>
            <a:pPr marL="0" indent="0">
              <a:buNone/>
            </a:pPr>
            <a:r>
              <a:rPr lang="en-US" sz="3300" b="1" i="1" dirty="0"/>
              <a:t>    sum = *p1 + *p2;</a:t>
            </a:r>
          </a:p>
          <a:p>
            <a:pPr marL="0" indent="0">
              <a:buNone/>
            </a:pPr>
            <a:r>
              <a:rPr lang="en-US" sz="3300" b="1" i="1" dirty="0"/>
              <a:t>    </a:t>
            </a:r>
            <a:r>
              <a:rPr lang="en-US" sz="3300" b="1" i="1" dirty="0" err="1"/>
              <a:t>printf</a:t>
            </a:r>
            <a:r>
              <a:rPr lang="en-US" sz="3300" b="1" i="1" dirty="0"/>
              <a:t>("Sum = %d\n", sum);</a:t>
            </a:r>
          </a:p>
          <a:p>
            <a:pPr marL="0" indent="0">
              <a:buNone/>
            </a:pPr>
            <a:r>
              <a:rPr lang="en-US" sz="3300" b="1" i="1" dirty="0"/>
              <a:t>    return 0;</a:t>
            </a:r>
          </a:p>
          <a:p>
            <a:pPr marL="0" indent="0">
              <a:buNone/>
            </a:pPr>
            <a:r>
              <a:rPr lang="en-US" sz="3300" b="1" i="1" dirty="0"/>
              <a:t>}</a:t>
            </a:r>
          </a:p>
          <a:p>
            <a:pPr marL="0" indent="0">
              <a:buNone/>
            </a:pPr>
            <a:endParaRPr lang="en-US" dirty="0"/>
          </a:p>
        </p:txBody>
      </p:sp>
    </p:spTree>
    <p:extLst>
      <p:ext uri="{BB962C8B-B14F-4D97-AF65-F5344CB8AC3E}">
        <p14:creationId xmlns:p14="http://schemas.microsoft.com/office/powerpoint/2010/main" val="18943366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79986-FDDA-9DF1-A13A-F75DB5201C13}"/>
              </a:ext>
            </a:extLst>
          </p:cNvPr>
          <p:cNvSpPr>
            <a:spLocks noGrp="1"/>
          </p:cNvSpPr>
          <p:nvPr>
            <p:ph type="title"/>
          </p:nvPr>
        </p:nvSpPr>
        <p:spPr>
          <a:xfrm>
            <a:off x="0" y="-297657"/>
            <a:ext cx="10515600" cy="1325563"/>
          </a:xfrm>
        </p:spPr>
        <p:txBody>
          <a:bodyPr/>
          <a:lstStyle/>
          <a:p>
            <a:r>
              <a:rPr lang="en-US" dirty="0"/>
              <a:t>Output of C program</a:t>
            </a:r>
          </a:p>
        </p:txBody>
      </p:sp>
      <p:pic>
        <p:nvPicPr>
          <p:cNvPr id="5" name="Content Placeholder 4" descr="A screenshot of a computer&#10;&#10;AI-generated content may be incorrect.">
            <a:extLst>
              <a:ext uri="{FF2B5EF4-FFF2-40B4-BE49-F238E27FC236}">
                <a16:creationId xmlns:a16="http://schemas.microsoft.com/office/drawing/2014/main" id="{C16905A5-8BF2-4CD4-5A9C-61FFACC7A7E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9823" y="704538"/>
            <a:ext cx="11692328" cy="5788337"/>
          </a:xfrm>
        </p:spPr>
      </p:pic>
    </p:spTree>
    <p:extLst>
      <p:ext uri="{BB962C8B-B14F-4D97-AF65-F5344CB8AC3E}">
        <p14:creationId xmlns:p14="http://schemas.microsoft.com/office/powerpoint/2010/main" val="8342821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AEA2B6-6535-1D16-E3DD-CBD6B35FEEFC}"/>
              </a:ext>
            </a:extLst>
          </p:cNvPr>
          <p:cNvSpPr>
            <a:spLocks noGrp="1"/>
          </p:cNvSpPr>
          <p:nvPr>
            <p:ph type="title"/>
          </p:nvPr>
        </p:nvSpPr>
        <p:spPr>
          <a:xfrm>
            <a:off x="711929" y="1065161"/>
            <a:ext cx="10515600" cy="2852737"/>
          </a:xfrm>
        </p:spPr>
        <p:txBody>
          <a:bodyPr/>
          <a:lstStyle/>
          <a:p>
            <a:r>
              <a:rPr lang="en-US" dirty="0"/>
              <a:t>Meaning of void in C</a:t>
            </a:r>
          </a:p>
        </p:txBody>
      </p:sp>
      <p:sp>
        <p:nvSpPr>
          <p:cNvPr id="5" name="Text Placeholder 4">
            <a:extLst>
              <a:ext uri="{FF2B5EF4-FFF2-40B4-BE49-F238E27FC236}">
                <a16:creationId xmlns:a16="http://schemas.microsoft.com/office/drawing/2014/main" id="{2238FA88-B02B-9A25-5855-F2A67479A3B4}"/>
              </a:ext>
            </a:extLst>
          </p:cNvPr>
          <p:cNvSpPr>
            <a:spLocks noGrp="1"/>
          </p:cNvSpPr>
          <p:nvPr>
            <p:ph type="body" idx="1"/>
          </p:nvPr>
        </p:nvSpPr>
        <p:spPr>
          <a:xfrm>
            <a:off x="838200" y="3917898"/>
            <a:ext cx="10515600" cy="2452922"/>
          </a:xfrm>
        </p:spPr>
        <p:txBody>
          <a:bodyPr>
            <a:noAutofit/>
          </a:bodyPr>
          <a:lstStyle/>
          <a:p>
            <a:r>
              <a:rPr lang="en-US" sz="3200" dirty="0">
                <a:solidFill>
                  <a:schemeClr val="tx1"/>
                </a:solidFill>
              </a:rPr>
              <a:t>In C, </a:t>
            </a:r>
            <a:r>
              <a:rPr lang="en-US" dirty="0">
                <a:solidFill>
                  <a:schemeClr val="tx1"/>
                </a:solidFill>
              </a:rPr>
              <a:t>void</a:t>
            </a:r>
            <a:r>
              <a:rPr lang="en-US" sz="3200" dirty="0">
                <a:solidFill>
                  <a:schemeClr val="tx1"/>
                </a:solidFill>
              </a:rPr>
              <a:t> is a keyword that represents “no type” or “nothing.”</a:t>
            </a:r>
            <a:br>
              <a:rPr lang="en-US" sz="3200" dirty="0">
                <a:solidFill>
                  <a:schemeClr val="tx1"/>
                </a:solidFill>
              </a:rPr>
            </a:br>
            <a:r>
              <a:rPr lang="en-US" sz="3200" dirty="0">
                <a:solidFill>
                  <a:schemeClr val="tx1"/>
                </a:solidFill>
              </a:rPr>
              <a:t>It is used when a function does not return a value, when a function takes no parameters, or when a pointer can refer to data of any type</a:t>
            </a:r>
          </a:p>
        </p:txBody>
      </p:sp>
    </p:spTree>
    <p:extLst>
      <p:ext uri="{BB962C8B-B14F-4D97-AF65-F5344CB8AC3E}">
        <p14:creationId xmlns:p14="http://schemas.microsoft.com/office/powerpoint/2010/main" val="38603667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2A2BB-C89D-BF07-9849-96648FF25DC1}"/>
              </a:ext>
            </a:extLst>
          </p:cNvPr>
          <p:cNvSpPr>
            <a:spLocks noGrp="1"/>
          </p:cNvSpPr>
          <p:nvPr>
            <p:ph type="title"/>
          </p:nvPr>
        </p:nvSpPr>
        <p:spPr>
          <a:xfrm>
            <a:off x="0" y="41821"/>
            <a:ext cx="10515600" cy="639216"/>
          </a:xfrm>
        </p:spPr>
        <p:txBody>
          <a:bodyPr>
            <a:normAutofit fontScale="90000"/>
          </a:bodyPr>
          <a:lstStyle/>
          <a:p>
            <a:r>
              <a:rPr lang="en-US" b="1" dirty="0"/>
              <a:t>Uses of void in C</a:t>
            </a:r>
          </a:p>
        </p:txBody>
      </p:sp>
      <p:sp>
        <p:nvSpPr>
          <p:cNvPr id="3" name="Content Placeholder 2">
            <a:extLst>
              <a:ext uri="{FF2B5EF4-FFF2-40B4-BE49-F238E27FC236}">
                <a16:creationId xmlns:a16="http://schemas.microsoft.com/office/drawing/2014/main" id="{5994363E-ED69-C4E7-7F33-918377010293}"/>
              </a:ext>
            </a:extLst>
          </p:cNvPr>
          <p:cNvSpPr>
            <a:spLocks noGrp="1"/>
          </p:cNvSpPr>
          <p:nvPr>
            <p:ph idx="1"/>
          </p:nvPr>
        </p:nvSpPr>
        <p:spPr>
          <a:xfrm>
            <a:off x="419100" y="884420"/>
            <a:ext cx="11353800" cy="5382484"/>
          </a:xfrm>
        </p:spPr>
        <p:txBody>
          <a:bodyPr/>
          <a:lstStyle/>
          <a:p>
            <a:pPr marL="0" indent="0">
              <a:buNone/>
            </a:pPr>
            <a:r>
              <a:rPr lang="en-US" sz="3200" dirty="0"/>
              <a:t>void is used in </a:t>
            </a:r>
            <a:r>
              <a:rPr lang="en-US" sz="3200" b="1" dirty="0"/>
              <a:t>four main contexts</a:t>
            </a:r>
            <a:r>
              <a:rPr lang="en-US" sz="3200" dirty="0"/>
              <a:t>:</a:t>
            </a:r>
          </a:p>
          <a:p>
            <a:pPr marL="514350" indent="-514350">
              <a:buFont typeface="+mj-lt"/>
              <a:buAutoNum type="arabicPeriod"/>
            </a:pPr>
            <a:r>
              <a:rPr lang="en-US" sz="3200" dirty="0"/>
              <a:t>void as a function return type</a:t>
            </a:r>
          </a:p>
          <a:p>
            <a:pPr marL="514350" indent="-514350">
              <a:buFont typeface="+mj-lt"/>
              <a:buAutoNum type="arabicPeriod"/>
            </a:pPr>
            <a:r>
              <a:rPr lang="en-US" sz="3200" dirty="0"/>
              <a:t>void in function parameters</a:t>
            </a:r>
          </a:p>
          <a:p>
            <a:pPr marL="514350" indent="-514350">
              <a:buFont typeface="+mj-lt"/>
              <a:buAutoNum type="arabicPeriod"/>
            </a:pPr>
            <a:r>
              <a:rPr lang="en-US" sz="3200" dirty="0"/>
              <a:t>void pointers</a:t>
            </a:r>
          </a:p>
          <a:p>
            <a:pPr marL="514350" indent="-514350">
              <a:buFont typeface="+mj-lt"/>
              <a:buAutoNum type="arabicPeriod"/>
            </a:pPr>
            <a:r>
              <a:rPr lang="en-US" sz="3200" dirty="0"/>
              <a:t>void with </a:t>
            </a:r>
            <a:r>
              <a:rPr lang="en-US" sz="3200" dirty="0" err="1"/>
              <a:t>sizeof</a:t>
            </a:r>
            <a:r>
              <a:rPr lang="en-US" sz="3200" dirty="0"/>
              <a:t> and type casting (indirect usage)</a:t>
            </a:r>
          </a:p>
          <a:p>
            <a:pPr marL="0" indent="0">
              <a:buNone/>
            </a:pPr>
            <a:endParaRPr lang="en-US" dirty="0"/>
          </a:p>
        </p:txBody>
      </p:sp>
    </p:spTree>
    <p:extLst>
      <p:ext uri="{BB962C8B-B14F-4D97-AF65-F5344CB8AC3E}">
        <p14:creationId xmlns:p14="http://schemas.microsoft.com/office/powerpoint/2010/main" val="42148516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17A2D-0ACF-6FC3-C00C-928F81CA57CB}"/>
              </a:ext>
            </a:extLst>
          </p:cNvPr>
          <p:cNvSpPr>
            <a:spLocks noGrp="1"/>
          </p:cNvSpPr>
          <p:nvPr>
            <p:ph type="title"/>
          </p:nvPr>
        </p:nvSpPr>
        <p:spPr>
          <a:xfrm>
            <a:off x="0" y="155263"/>
            <a:ext cx="10515600" cy="714167"/>
          </a:xfrm>
        </p:spPr>
        <p:txBody>
          <a:bodyPr>
            <a:normAutofit fontScale="90000"/>
          </a:bodyPr>
          <a:lstStyle/>
          <a:p>
            <a:r>
              <a:rPr lang="en-US" b="1" dirty="0"/>
              <a:t>void as a function return type</a:t>
            </a:r>
            <a:br>
              <a:rPr lang="en-US" b="1" dirty="0"/>
            </a:br>
            <a:endParaRPr lang="en-US" b="1" dirty="0"/>
          </a:p>
        </p:txBody>
      </p:sp>
      <p:sp>
        <p:nvSpPr>
          <p:cNvPr id="3" name="Content Placeholder 2">
            <a:extLst>
              <a:ext uri="{FF2B5EF4-FFF2-40B4-BE49-F238E27FC236}">
                <a16:creationId xmlns:a16="http://schemas.microsoft.com/office/drawing/2014/main" id="{3F83856A-BDE9-931A-CE63-CAD159CADED1}"/>
              </a:ext>
            </a:extLst>
          </p:cNvPr>
          <p:cNvSpPr>
            <a:spLocks noGrp="1"/>
          </p:cNvSpPr>
          <p:nvPr>
            <p:ph idx="1"/>
          </p:nvPr>
        </p:nvSpPr>
        <p:spPr>
          <a:xfrm>
            <a:off x="329783" y="734518"/>
            <a:ext cx="11437495" cy="5801193"/>
          </a:xfrm>
        </p:spPr>
        <p:txBody>
          <a:bodyPr/>
          <a:lstStyle/>
          <a:p>
            <a:pPr marL="0" indent="0">
              <a:buNone/>
            </a:pPr>
            <a:r>
              <a:rPr lang="en-US" dirty="0"/>
              <a:t>A function is a block of code which only runs when it is called</a:t>
            </a:r>
          </a:p>
          <a:p>
            <a:pPr marL="0" indent="0">
              <a:buNone/>
            </a:pPr>
            <a:r>
              <a:rPr lang="en-US" dirty="0"/>
              <a:t>Functions are used to perform certain actions, and they are important for reusing code: Define the code once, and use it many times.</a:t>
            </a:r>
          </a:p>
          <a:p>
            <a:pPr marL="0" indent="0">
              <a:buNone/>
            </a:pPr>
            <a:endParaRPr lang="en-US" dirty="0"/>
          </a:p>
          <a:p>
            <a:pPr marL="0" indent="0">
              <a:buNone/>
            </a:pPr>
            <a:r>
              <a:rPr lang="en-US" dirty="0"/>
              <a:t>When a function is declared with void as its return type, it means:</a:t>
            </a:r>
          </a:p>
          <a:p>
            <a:r>
              <a:rPr lang="en-US" dirty="0"/>
              <a:t>The function </a:t>
            </a:r>
            <a:r>
              <a:rPr lang="en-US" b="1" dirty="0"/>
              <a:t>does not return any value</a:t>
            </a:r>
            <a:endParaRPr lang="en-US" dirty="0"/>
          </a:p>
          <a:p>
            <a:r>
              <a:rPr lang="en-US" dirty="0"/>
              <a:t>It performs an action only</a:t>
            </a:r>
          </a:p>
        </p:txBody>
      </p:sp>
    </p:spTree>
    <p:extLst>
      <p:ext uri="{BB962C8B-B14F-4D97-AF65-F5344CB8AC3E}">
        <p14:creationId xmlns:p14="http://schemas.microsoft.com/office/powerpoint/2010/main" val="21517316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06270-03D7-3B14-69FF-09EDBA4D95DD}"/>
              </a:ext>
            </a:extLst>
          </p:cNvPr>
          <p:cNvSpPr>
            <a:spLocks noGrp="1"/>
          </p:cNvSpPr>
          <p:nvPr>
            <p:ph type="title"/>
          </p:nvPr>
        </p:nvSpPr>
        <p:spPr>
          <a:xfrm>
            <a:off x="0" y="101782"/>
            <a:ext cx="10515600" cy="579255"/>
          </a:xfrm>
        </p:spPr>
        <p:txBody>
          <a:bodyPr>
            <a:normAutofit fontScale="90000"/>
          </a:bodyPr>
          <a:lstStyle/>
          <a:p>
            <a:r>
              <a:rPr lang="en-US" b="1" dirty="0"/>
              <a:t>void as a Function Return Type example</a:t>
            </a:r>
          </a:p>
        </p:txBody>
      </p:sp>
      <p:sp>
        <p:nvSpPr>
          <p:cNvPr id="3" name="Content Placeholder 2">
            <a:extLst>
              <a:ext uri="{FF2B5EF4-FFF2-40B4-BE49-F238E27FC236}">
                <a16:creationId xmlns:a16="http://schemas.microsoft.com/office/drawing/2014/main" id="{E8AB4D50-122A-3CFB-9916-94145E5F9777}"/>
              </a:ext>
            </a:extLst>
          </p:cNvPr>
          <p:cNvSpPr>
            <a:spLocks noGrp="1"/>
          </p:cNvSpPr>
          <p:nvPr>
            <p:ph idx="1"/>
          </p:nvPr>
        </p:nvSpPr>
        <p:spPr>
          <a:xfrm>
            <a:off x="149901" y="681037"/>
            <a:ext cx="11602387" cy="5495926"/>
          </a:xfrm>
        </p:spPr>
        <p:txBody>
          <a:bodyPr>
            <a:noAutofit/>
          </a:bodyPr>
          <a:lstStyle/>
          <a:p>
            <a:pPr marL="0" indent="0">
              <a:buNone/>
            </a:pPr>
            <a:r>
              <a:rPr lang="en-US" sz="3200" b="1" i="1" dirty="0"/>
              <a:t>#include &lt;</a:t>
            </a:r>
            <a:r>
              <a:rPr lang="en-US" sz="3200" b="1" i="1" dirty="0" err="1"/>
              <a:t>stdio.h</a:t>
            </a:r>
            <a:r>
              <a:rPr lang="en-US" sz="3200" b="1" i="1" dirty="0"/>
              <a:t>&gt;</a:t>
            </a:r>
          </a:p>
          <a:p>
            <a:pPr marL="0" indent="0">
              <a:buNone/>
            </a:pPr>
            <a:endParaRPr lang="en-US" sz="3200" b="1" i="1" dirty="0"/>
          </a:p>
          <a:p>
            <a:pPr marL="0" indent="0">
              <a:buNone/>
            </a:pPr>
            <a:r>
              <a:rPr lang="en-US" sz="3200" b="1" i="1" dirty="0"/>
              <a:t>void </a:t>
            </a:r>
            <a:r>
              <a:rPr lang="en-US" sz="3200" b="1" i="1" dirty="0" err="1"/>
              <a:t>displayMessage</a:t>
            </a:r>
            <a:r>
              <a:rPr lang="en-US" sz="3200" b="1" i="1" dirty="0"/>
              <a:t>() {</a:t>
            </a:r>
          </a:p>
          <a:p>
            <a:pPr marL="0" indent="0">
              <a:buNone/>
            </a:pPr>
            <a:r>
              <a:rPr lang="en-US" sz="3200" b="1" i="1" dirty="0"/>
              <a:t>    </a:t>
            </a:r>
            <a:r>
              <a:rPr lang="en-US" sz="3200" b="1" i="1" dirty="0" err="1"/>
              <a:t>printf</a:t>
            </a:r>
            <a:r>
              <a:rPr lang="en-US" sz="3200" b="1" i="1" dirty="0"/>
              <a:t>("Welcome to Group number 9\n");</a:t>
            </a:r>
          </a:p>
          <a:p>
            <a:pPr marL="0" indent="0">
              <a:buNone/>
            </a:pPr>
            <a:r>
              <a:rPr lang="en-US" sz="3200" b="1" i="1" dirty="0"/>
              <a:t>}</a:t>
            </a:r>
          </a:p>
          <a:p>
            <a:pPr marL="0" indent="0">
              <a:buNone/>
            </a:pPr>
            <a:endParaRPr lang="en-US" sz="3200" b="1" i="1" dirty="0"/>
          </a:p>
          <a:p>
            <a:pPr marL="0" indent="0">
              <a:buNone/>
            </a:pPr>
            <a:r>
              <a:rPr lang="en-US" sz="3200" b="1" i="1" dirty="0"/>
              <a:t>int main() {</a:t>
            </a:r>
          </a:p>
          <a:p>
            <a:pPr marL="0" indent="0">
              <a:buNone/>
            </a:pPr>
            <a:r>
              <a:rPr lang="en-US" sz="3200" b="1" i="1" dirty="0"/>
              <a:t>    </a:t>
            </a:r>
            <a:r>
              <a:rPr lang="en-US" sz="3200" b="1" i="1" dirty="0" err="1"/>
              <a:t>displayMessage</a:t>
            </a:r>
            <a:r>
              <a:rPr lang="en-US" sz="3200" b="1" i="1" dirty="0"/>
              <a:t>();</a:t>
            </a:r>
          </a:p>
          <a:p>
            <a:pPr marL="0" indent="0">
              <a:buNone/>
            </a:pPr>
            <a:r>
              <a:rPr lang="en-US" sz="3200" b="1" i="1" dirty="0"/>
              <a:t>    return 0;</a:t>
            </a:r>
          </a:p>
          <a:p>
            <a:pPr marL="0" indent="0">
              <a:buNone/>
            </a:pPr>
            <a:r>
              <a:rPr lang="en-US" sz="3200" b="1" i="1" dirty="0"/>
              <a:t>}</a:t>
            </a:r>
          </a:p>
          <a:p>
            <a:pPr marL="0" indent="0">
              <a:buNone/>
            </a:pPr>
            <a:endParaRPr lang="en-US" sz="3200" b="1" i="1" dirty="0"/>
          </a:p>
        </p:txBody>
      </p:sp>
    </p:spTree>
    <p:extLst>
      <p:ext uri="{BB962C8B-B14F-4D97-AF65-F5344CB8AC3E}">
        <p14:creationId xmlns:p14="http://schemas.microsoft.com/office/powerpoint/2010/main" val="36524947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1003D-E421-AC91-1133-E5A79EB3F9BC}"/>
              </a:ext>
            </a:extLst>
          </p:cNvPr>
          <p:cNvSpPr>
            <a:spLocks noGrp="1"/>
          </p:cNvSpPr>
          <p:nvPr>
            <p:ph type="title"/>
          </p:nvPr>
        </p:nvSpPr>
        <p:spPr>
          <a:xfrm>
            <a:off x="-1" y="0"/>
            <a:ext cx="11572407" cy="534285"/>
          </a:xfrm>
        </p:spPr>
        <p:txBody>
          <a:bodyPr>
            <a:normAutofit fontScale="90000"/>
          </a:bodyPr>
          <a:lstStyle/>
          <a:p>
            <a:r>
              <a:rPr lang="en-US" b="1" dirty="0"/>
              <a:t>void as a Function Return Type example explained</a:t>
            </a:r>
            <a:endParaRPr lang="en-US" dirty="0"/>
          </a:p>
        </p:txBody>
      </p:sp>
      <p:sp>
        <p:nvSpPr>
          <p:cNvPr id="3" name="Content Placeholder 2">
            <a:extLst>
              <a:ext uri="{FF2B5EF4-FFF2-40B4-BE49-F238E27FC236}">
                <a16:creationId xmlns:a16="http://schemas.microsoft.com/office/drawing/2014/main" id="{3A3958B8-532F-A9ED-E74A-E56A01D28EC7}"/>
              </a:ext>
            </a:extLst>
          </p:cNvPr>
          <p:cNvSpPr>
            <a:spLocks noGrp="1"/>
          </p:cNvSpPr>
          <p:nvPr>
            <p:ph idx="1"/>
          </p:nvPr>
        </p:nvSpPr>
        <p:spPr>
          <a:xfrm>
            <a:off x="299803" y="659566"/>
            <a:ext cx="11572407" cy="5786203"/>
          </a:xfrm>
        </p:spPr>
        <p:txBody>
          <a:bodyPr/>
          <a:lstStyle/>
          <a:p>
            <a:pPr marL="0" indent="0">
              <a:buNone/>
            </a:pPr>
            <a:r>
              <a:rPr lang="en-US" dirty="0" err="1"/>
              <a:t>displayMessage</a:t>
            </a:r>
            <a:r>
              <a:rPr lang="en-US" dirty="0"/>
              <a:t>() performs an action (printing output)</a:t>
            </a:r>
          </a:p>
          <a:p>
            <a:pPr marL="0" indent="0">
              <a:buNone/>
            </a:pPr>
            <a:r>
              <a:rPr lang="en-US" dirty="0"/>
              <a:t>It does </a:t>
            </a:r>
            <a:r>
              <a:rPr lang="en-US" b="1" dirty="0"/>
              <a:t>not return any value</a:t>
            </a:r>
            <a:endParaRPr lang="en-US" dirty="0"/>
          </a:p>
          <a:p>
            <a:pPr marL="0" indent="0">
              <a:buNone/>
            </a:pPr>
            <a:r>
              <a:rPr lang="en-US" dirty="0"/>
              <a:t>Therefore, its return type is void</a:t>
            </a:r>
          </a:p>
          <a:p>
            <a:pPr marL="0" indent="0">
              <a:buNone/>
            </a:pPr>
            <a:r>
              <a:rPr lang="en-US" dirty="0"/>
              <a:t>Using return; alone is allowed</a:t>
            </a:r>
          </a:p>
          <a:p>
            <a:pPr marL="0" indent="0">
              <a:buNone/>
            </a:pPr>
            <a:endParaRPr lang="en-US" dirty="0"/>
          </a:p>
        </p:txBody>
      </p:sp>
    </p:spTree>
    <p:extLst>
      <p:ext uri="{BB962C8B-B14F-4D97-AF65-F5344CB8AC3E}">
        <p14:creationId xmlns:p14="http://schemas.microsoft.com/office/powerpoint/2010/main" val="225889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962A2-396E-BF4F-259B-476324264C18}"/>
              </a:ext>
            </a:extLst>
          </p:cNvPr>
          <p:cNvSpPr>
            <a:spLocks noGrp="1"/>
          </p:cNvSpPr>
          <p:nvPr>
            <p:ph type="title"/>
          </p:nvPr>
        </p:nvSpPr>
        <p:spPr>
          <a:xfrm>
            <a:off x="149901" y="365125"/>
            <a:ext cx="11647357" cy="654205"/>
          </a:xfrm>
        </p:spPr>
        <p:txBody>
          <a:bodyPr>
            <a:normAutofit fontScale="90000"/>
          </a:bodyPr>
          <a:lstStyle/>
          <a:p>
            <a:r>
              <a:rPr lang="en-US" b="1" dirty="0"/>
              <a:t>void as a Function Return Type example output</a:t>
            </a:r>
            <a:endParaRPr lang="en-US" dirty="0"/>
          </a:p>
        </p:txBody>
      </p:sp>
      <p:pic>
        <p:nvPicPr>
          <p:cNvPr id="5" name="Content Placeholder 4" descr="A computer screen with a black screen">
            <a:extLst>
              <a:ext uri="{FF2B5EF4-FFF2-40B4-BE49-F238E27FC236}">
                <a16:creationId xmlns:a16="http://schemas.microsoft.com/office/drawing/2014/main" id="{9F38C8C5-3F55-4569-9D58-7EEC1A6CA49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4742" y="1019175"/>
            <a:ext cx="11402516" cy="5473700"/>
          </a:xfrm>
        </p:spPr>
      </p:pic>
    </p:spTree>
    <p:extLst>
      <p:ext uri="{BB962C8B-B14F-4D97-AF65-F5344CB8AC3E}">
        <p14:creationId xmlns:p14="http://schemas.microsoft.com/office/powerpoint/2010/main" val="5728974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C64A8-4BC4-8A33-9AEC-AF9A0A7F9665}"/>
              </a:ext>
            </a:extLst>
          </p:cNvPr>
          <p:cNvSpPr>
            <a:spLocks noGrp="1"/>
          </p:cNvSpPr>
          <p:nvPr>
            <p:ph type="title"/>
          </p:nvPr>
        </p:nvSpPr>
        <p:spPr>
          <a:xfrm>
            <a:off x="164892" y="324969"/>
            <a:ext cx="10515600" cy="489314"/>
          </a:xfrm>
        </p:spPr>
        <p:txBody>
          <a:bodyPr>
            <a:normAutofit fontScale="90000"/>
          </a:bodyPr>
          <a:lstStyle/>
          <a:p>
            <a:r>
              <a:rPr lang="en-US" b="1" dirty="0"/>
              <a:t>void in function parameters</a:t>
            </a:r>
            <a:br>
              <a:rPr lang="en-US" b="1" dirty="0"/>
            </a:br>
            <a:endParaRPr lang="en-US" b="1" dirty="0"/>
          </a:p>
        </p:txBody>
      </p:sp>
      <p:sp>
        <p:nvSpPr>
          <p:cNvPr id="3" name="Content Placeholder 2">
            <a:extLst>
              <a:ext uri="{FF2B5EF4-FFF2-40B4-BE49-F238E27FC236}">
                <a16:creationId xmlns:a16="http://schemas.microsoft.com/office/drawing/2014/main" id="{889FEEBD-5DC3-EE6A-A9BE-0017A28453EA}"/>
              </a:ext>
            </a:extLst>
          </p:cNvPr>
          <p:cNvSpPr>
            <a:spLocks noGrp="1"/>
          </p:cNvSpPr>
          <p:nvPr>
            <p:ph idx="1"/>
          </p:nvPr>
        </p:nvSpPr>
        <p:spPr>
          <a:xfrm>
            <a:off x="164892" y="569626"/>
            <a:ext cx="12027108" cy="6096651"/>
          </a:xfrm>
        </p:spPr>
        <p:txBody>
          <a:bodyPr>
            <a:normAutofit fontScale="92500" lnSpcReduction="10000"/>
          </a:bodyPr>
          <a:lstStyle/>
          <a:p>
            <a:pPr marL="0" indent="0">
              <a:buNone/>
            </a:pPr>
            <a:r>
              <a:rPr lang="en-US" dirty="0"/>
              <a:t>void is used to indicate that a function </a:t>
            </a:r>
            <a:r>
              <a:rPr lang="en-US" b="1" dirty="0"/>
              <a:t>takes no parameters</a:t>
            </a:r>
            <a:r>
              <a:rPr lang="en-US" dirty="0"/>
              <a:t>.</a:t>
            </a:r>
          </a:p>
          <a:p>
            <a:pPr marL="0" indent="0">
              <a:buNone/>
            </a:pPr>
            <a:r>
              <a:rPr lang="en-US" dirty="0"/>
              <a:t>Using void in a function parameter list means:</a:t>
            </a:r>
          </a:p>
          <a:p>
            <a:pPr marL="0" indent="0">
              <a:buNone/>
            </a:pPr>
            <a:r>
              <a:rPr lang="en-US" dirty="0"/>
              <a:t>The function </a:t>
            </a:r>
            <a:r>
              <a:rPr lang="en-US" b="1" dirty="0"/>
              <a:t>accepts no arguments</a:t>
            </a:r>
          </a:p>
          <a:p>
            <a:pPr marL="0" indent="0">
              <a:buNone/>
            </a:pPr>
            <a:r>
              <a:rPr lang="en-US" dirty="0"/>
              <a:t>Example.</a:t>
            </a:r>
          </a:p>
          <a:p>
            <a:pPr marL="0" indent="0">
              <a:buNone/>
            </a:pPr>
            <a:r>
              <a:rPr lang="en-US" b="1" i="1" dirty="0"/>
              <a:t>#include &lt;</a:t>
            </a:r>
            <a:r>
              <a:rPr lang="en-US" b="1" i="1" dirty="0" err="1"/>
              <a:t>stdio.h</a:t>
            </a:r>
            <a:r>
              <a:rPr lang="en-US" b="1" i="1" dirty="0"/>
              <a:t>&gt;</a:t>
            </a:r>
          </a:p>
          <a:p>
            <a:pPr marL="0" indent="0">
              <a:buNone/>
            </a:pPr>
            <a:r>
              <a:rPr lang="en-US" b="1" i="1" dirty="0"/>
              <a:t>int </a:t>
            </a:r>
            <a:r>
              <a:rPr lang="en-US" b="1" i="1" dirty="0" err="1"/>
              <a:t>getNumber</a:t>
            </a:r>
            <a:r>
              <a:rPr lang="en-US" b="1" i="1" dirty="0"/>
              <a:t>(void) {</a:t>
            </a:r>
          </a:p>
          <a:p>
            <a:pPr marL="0" indent="0">
              <a:buNone/>
            </a:pPr>
            <a:r>
              <a:rPr lang="en-US" b="1" i="1" dirty="0"/>
              <a:t>    return 10;</a:t>
            </a:r>
          </a:p>
          <a:p>
            <a:pPr marL="0" indent="0">
              <a:buNone/>
            </a:pPr>
            <a:r>
              <a:rPr lang="en-US" b="1" i="1" dirty="0"/>
              <a:t>}</a:t>
            </a:r>
          </a:p>
          <a:p>
            <a:pPr marL="0" indent="0">
              <a:buNone/>
            </a:pPr>
            <a:r>
              <a:rPr lang="en-US" b="1" i="1" dirty="0"/>
              <a:t>int main() {</a:t>
            </a:r>
          </a:p>
          <a:p>
            <a:pPr marL="0" indent="0">
              <a:buNone/>
            </a:pPr>
            <a:r>
              <a:rPr lang="en-US" b="1" i="1" dirty="0"/>
              <a:t>    int x = </a:t>
            </a:r>
            <a:r>
              <a:rPr lang="en-US" b="1" i="1" dirty="0" err="1"/>
              <a:t>getNumber</a:t>
            </a:r>
            <a:r>
              <a:rPr lang="en-US" b="1" i="1" dirty="0"/>
              <a:t>();</a:t>
            </a:r>
          </a:p>
          <a:p>
            <a:pPr marL="0" indent="0">
              <a:buNone/>
            </a:pPr>
            <a:r>
              <a:rPr lang="en-US" b="1" i="1" dirty="0"/>
              <a:t>    </a:t>
            </a:r>
            <a:r>
              <a:rPr lang="en-US" b="1" i="1" dirty="0" err="1"/>
              <a:t>printf</a:t>
            </a:r>
            <a:r>
              <a:rPr lang="en-US" b="1" i="1" dirty="0"/>
              <a:t>("%d\n", x);</a:t>
            </a:r>
          </a:p>
          <a:p>
            <a:pPr marL="0" indent="0">
              <a:buNone/>
            </a:pPr>
            <a:r>
              <a:rPr lang="en-US" b="1" i="1" dirty="0"/>
              <a:t>    return 0;</a:t>
            </a:r>
          </a:p>
          <a:p>
            <a:pPr marL="0" indent="0">
              <a:buNone/>
            </a:pPr>
            <a:r>
              <a:rPr lang="en-US" b="1" i="1" dirty="0"/>
              <a:t>}</a:t>
            </a:r>
          </a:p>
          <a:p>
            <a:pPr marL="0" indent="0">
              <a:buNone/>
            </a:pPr>
            <a:endParaRPr lang="en-US" b="1" dirty="0"/>
          </a:p>
        </p:txBody>
      </p:sp>
    </p:spTree>
    <p:extLst>
      <p:ext uri="{BB962C8B-B14F-4D97-AF65-F5344CB8AC3E}">
        <p14:creationId xmlns:p14="http://schemas.microsoft.com/office/powerpoint/2010/main" val="33306956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020C4-9737-1006-FD41-C64F7BBDCA7B}"/>
              </a:ext>
            </a:extLst>
          </p:cNvPr>
          <p:cNvSpPr>
            <a:spLocks noGrp="1"/>
          </p:cNvSpPr>
          <p:nvPr>
            <p:ph type="title"/>
          </p:nvPr>
        </p:nvSpPr>
        <p:spPr>
          <a:xfrm>
            <a:off x="0" y="0"/>
            <a:ext cx="10515600" cy="444344"/>
          </a:xfrm>
        </p:spPr>
        <p:txBody>
          <a:bodyPr>
            <a:normAutofit fontScale="90000"/>
          </a:bodyPr>
          <a:lstStyle/>
          <a:p>
            <a:r>
              <a:rPr lang="en-US" b="1" dirty="0"/>
              <a:t>void in function parameters output</a:t>
            </a:r>
            <a:endParaRPr lang="en-US" dirty="0"/>
          </a:p>
        </p:txBody>
      </p:sp>
      <p:pic>
        <p:nvPicPr>
          <p:cNvPr id="5" name="Content Placeholder 4">
            <a:extLst>
              <a:ext uri="{FF2B5EF4-FFF2-40B4-BE49-F238E27FC236}">
                <a16:creationId xmlns:a16="http://schemas.microsoft.com/office/drawing/2014/main" id="{56ABF2C1-BC46-2A99-EC8D-25EDD9A1CC8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0993" y="688975"/>
            <a:ext cx="11186364" cy="5786776"/>
          </a:xfrm>
        </p:spPr>
      </p:pic>
    </p:spTree>
    <p:extLst>
      <p:ext uri="{BB962C8B-B14F-4D97-AF65-F5344CB8AC3E}">
        <p14:creationId xmlns:p14="http://schemas.microsoft.com/office/powerpoint/2010/main" val="26749263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76F98-CC23-B17A-6E61-CD97F36AB409}"/>
              </a:ext>
            </a:extLst>
          </p:cNvPr>
          <p:cNvSpPr>
            <a:spLocks noGrp="1"/>
          </p:cNvSpPr>
          <p:nvPr>
            <p:ph type="title"/>
          </p:nvPr>
        </p:nvSpPr>
        <p:spPr>
          <a:xfrm>
            <a:off x="0" y="365125"/>
            <a:ext cx="10515600" cy="315912"/>
          </a:xfrm>
        </p:spPr>
        <p:txBody>
          <a:bodyPr>
            <a:normAutofit fontScale="90000"/>
          </a:bodyPr>
          <a:lstStyle/>
          <a:p>
            <a:r>
              <a:rPr lang="en-US" dirty="0"/>
              <a:t>void pointers</a:t>
            </a:r>
            <a:br>
              <a:rPr lang="en-US" dirty="0"/>
            </a:br>
            <a:endParaRPr lang="en-US" dirty="0"/>
          </a:p>
        </p:txBody>
      </p:sp>
      <p:sp>
        <p:nvSpPr>
          <p:cNvPr id="3" name="Content Placeholder 2">
            <a:extLst>
              <a:ext uri="{FF2B5EF4-FFF2-40B4-BE49-F238E27FC236}">
                <a16:creationId xmlns:a16="http://schemas.microsoft.com/office/drawing/2014/main" id="{294638E1-8AEF-A74F-1033-700A4139CC10}"/>
              </a:ext>
            </a:extLst>
          </p:cNvPr>
          <p:cNvSpPr>
            <a:spLocks noGrp="1"/>
          </p:cNvSpPr>
          <p:nvPr>
            <p:ph idx="1"/>
          </p:nvPr>
        </p:nvSpPr>
        <p:spPr>
          <a:xfrm>
            <a:off x="314793" y="509666"/>
            <a:ext cx="11572407" cy="6220917"/>
          </a:xfrm>
        </p:spPr>
        <p:txBody>
          <a:bodyPr>
            <a:noAutofit/>
          </a:bodyPr>
          <a:lstStyle/>
          <a:p>
            <a:pPr marL="0" indent="0">
              <a:buNone/>
            </a:pPr>
            <a:r>
              <a:rPr lang="en-US" sz="2400" dirty="0"/>
              <a:t>A </a:t>
            </a:r>
            <a:r>
              <a:rPr lang="en-US" sz="2400" b="1" dirty="0"/>
              <a:t>void pointer</a:t>
            </a:r>
            <a:r>
              <a:rPr lang="en-US" sz="2400" dirty="0"/>
              <a:t> is a pointer that can store the address of </a:t>
            </a:r>
            <a:r>
              <a:rPr lang="en-US" sz="2400" b="1" dirty="0"/>
              <a:t>any data type</a:t>
            </a:r>
            <a:r>
              <a:rPr lang="en-US" sz="2400" dirty="0"/>
              <a:t>.</a:t>
            </a:r>
            <a:br>
              <a:rPr lang="en-US" sz="2400" dirty="0"/>
            </a:br>
            <a:r>
              <a:rPr lang="en-US" sz="2400" dirty="0"/>
              <a:t>It is also known as a </a:t>
            </a:r>
            <a:r>
              <a:rPr lang="en-US" sz="2400" b="1" dirty="0"/>
              <a:t>generic pointer</a:t>
            </a:r>
            <a:r>
              <a:rPr lang="en-US" sz="2400" dirty="0"/>
              <a:t>.</a:t>
            </a:r>
          </a:p>
          <a:p>
            <a:pPr marL="0" indent="0">
              <a:buNone/>
            </a:pPr>
            <a:r>
              <a:rPr lang="en-US" sz="2400" dirty="0"/>
              <a:t>Example.</a:t>
            </a:r>
          </a:p>
          <a:p>
            <a:pPr marL="0" indent="0">
              <a:buNone/>
            </a:pPr>
            <a:r>
              <a:rPr lang="en-US" sz="2400" b="1" i="1" dirty="0"/>
              <a:t>#include &lt;</a:t>
            </a:r>
            <a:r>
              <a:rPr lang="en-US" sz="2400" b="1" i="1" dirty="0" err="1"/>
              <a:t>stdio.h</a:t>
            </a:r>
            <a:r>
              <a:rPr lang="en-US" sz="2400" b="1" i="1" dirty="0"/>
              <a:t>&gt;</a:t>
            </a:r>
          </a:p>
          <a:p>
            <a:pPr marL="0" indent="0">
              <a:buNone/>
            </a:pPr>
            <a:r>
              <a:rPr lang="en-US" sz="2400" b="1" i="1" dirty="0"/>
              <a:t>int main() {</a:t>
            </a:r>
          </a:p>
          <a:p>
            <a:pPr marL="0" indent="0">
              <a:buNone/>
            </a:pPr>
            <a:r>
              <a:rPr lang="en-US" sz="2400" b="1" i="1" dirty="0"/>
              <a:t>    int a = 10;</a:t>
            </a:r>
          </a:p>
          <a:p>
            <a:pPr marL="0" indent="0">
              <a:buNone/>
            </a:pPr>
            <a:r>
              <a:rPr lang="en-US" sz="2400" b="1" i="1" dirty="0"/>
              <a:t>    float b = 5.5;</a:t>
            </a:r>
          </a:p>
          <a:p>
            <a:pPr marL="0" indent="0">
              <a:buNone/>
            </a:pPr>
            <a:r>
              <a:rPr lang="en-US" sz="2400" b="1" i="1" dirty="0"/>
              <a:t>    void *</a:t>
            </a:r>
            <a:r>
              <a:rPr lang="en-US" sz="2400" b="1" i="1" dirty="0" err="1"/>
              <a:t>ptr</a:t>
            </a:r>
            <a:r>
              <a:rPr lang="en-US" sz="2400" b="1" i="1" dirty="0"/>
              <a:t>;</a:t>
            </a:r>
          </a:p>
          <a:p>
            <a:pPr marL="0" indent="0">
              <a:buNone/>
            </a:pPr>
            <a:r>
              <a:rPr lang="en-US" sz="2400" b="1" i="1" dirty="0"/>
              <a:t>    </a:t>
            </a:r>
            <a:r>
              <a:rPr lang="en-US" sz="2400" b="1" i="1" dirty="0" err="1"/>
              <a:t>ptr</a:t>
            </a:r>
            <a:r>
              <a:rPr lang="en-US" sz="2400" b="1" i="1" dirty="0"/>
              <a:t> = &amp;a;</a:t>
            </a:r>
          </a:p>
          <a:p>
            <a:pPr marL="0" indent="0">
              <a:buNone/>
            </a:pPr>
            <a:r>
              <a:rPr lang="en-US" sz="2400" b="1" i="1" dirty="0"/>
              <a:t>    </a:t>
            </a:r>
            <a:r>
              <a:rPr lang="en-US" sz="2400" b="1" i="1" dirty="0" err="1"/>
              <a:t>printf</a:t>
            </a:r>
            <a:r>
              <a:rPr lang="en-US" sz="2400" b="1" i="1" dirty="0"/>
              <a:t>("Integer value: %d\n", *(int *)</a:t>
            </a:r>
            <a:r>
              <a:rPr lang="en-US" sz="2400" b="1" i="1" dirty="0" err="1"/>
              <a:t>ptr</a:t>
            </a:r>
            <a:r>
              <a:rPr lang="en-US" sz="2400" b="1" i="1" dirty="0"/>
              <a:t>);</a:t>
            </a:r>
          </a:p>
          <a:p>
            <a:pPr marL="0" indent="0">
              <a:buNone/>
            </a:pPr>
            <a:r>
              <a:rPr lang="en-US" sz="2400" b="1" i="1" dirty="0"/>
              <a:t>    </a:t>
            </a:r>
            <a:r>
              <a:rPr lang="en-US" sz="2400" b="1" i="1" dirty="0" err="1"/>
              <a:t>ptr</a:t>
            </a:r>
            <a:r>
              <a:rPr lang="en-US" sz="2400" b="1" i="1" dirty="0"/>
              <a:t> = &amp;b;</a:t>
            </a:r>
          </a:p>
          <a:p>
            <a:pPr marL="0" indent="0">
              <a:buNone/>
            </a:pPr>
            <a:r>
              <a:rPr lang="en-US" sz="2400" b="1" i="1" dirty="0"/>
              <a:t>    </a:t>
            </a:r>
            <a:r>
              <a:rPr lang="en-US" sz="2400" b="1" i="1" dirty="0" err="1"/>
              <a:t>printf</a:t>
            </a:r>
            <a:r>
              <a:rPr lang="en-US" sz="2400" b="1" i="1" dirty="0"/>
              <a:t>("Float value: %.2f\n", *(float *)</a:t>
            </a:r>
            <a:r>
              <a:rPr lang="en-US" sz="2400" b="1" i="1" dirty="0" err="1"/>
              <a:t>ptr</a:t>
            </a:r>
            <a:r>
              <a:rPr lang="en-US" sz="2400" b="1" i="1" dirty="0"/>
              <a:t>);</a:t>
            </a:r>
          </a:p>
          <a:p>
            <a:pPr marL="0" indent="0">
              <a:buNone/>
            </a:pPr>
            <a:r>
              <a:rPr lang="en-US" sz="2400" b="1" i="1" dirty="0"/>
              <a:t>    return 0;</a:t>
            </a:r>
          </a:p>
          <a:p>
            <a:pPr marL="0" indent="0">
              <a:buNone/>
            </a:pPr>
            <a:r>
              <a:rPr lang="en-US" sz="2400" b="1" i="1" dirty="0"/>
              <a:t>}</a:t>
            </a:r>
          </a:p>
          <a:p>
            <a:pPr marL="0" indent="0">
              <a:buNone/>
            </a:pPr>
            <a:endParaRPr lang="en-US" sz="2400" dirty="0"/>
          </a:p>
        </p:txBody>
      </p:sp>
    </p:spTree>
    <p:extLst>
      <p:ext uri="{BB962C8B-B14F-4D97-AF65-F5344CB8AC3E}">
        <p14:creationId xmlns:p14="http://schemas.microsoft.com/office/powerpoint/2010/main" val="33155471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A2D2E-F90A-77E8-BAE4-56E70E162DC9}"/>
              </a:ext>
            </a:extLst>
          </p:cNvPr>
          <p:cNvSpPr>
            <a:spLocks noGrp="1"/>
          </p:cNvSpPr>
          <p:nvPr>
            <p:ph type="title"/>
          </p:nvPr>
        </p:nvSpPr>
        <p:spPr>
          <a:xfrm>
            <a:off x="0" y="320155"/>
            <a:ext cx="10515600" cy="474324"/>
          </a:xfrm>
        </p:spPr>
        <p:txBody>
          <a:bodyPr>
            <a:normAutofit fontScale="90000"/>
          </a:bodyPr>
          <a:lstStyle/>
          <a:p>
            <a:r>
              <a:rPr lang="en-US" dirty="0"/>
              <a:t>void pointers output</a:t>
            </a:r>
            <a:br>
              <a:rPr lang="en-US" dirty="0"/>
            </a:br>
            <a:endParaRPr lang="en-US" dirty="0"/>
          </a:p>
        </p:txBody>
      </p:sp>
      <p:pic>
        <p:nvPicPr>
          <p:cNvPr id="5" name="Content Placeholder 4">
            <a:extLst>
              <a:ext uri="{FF2B5EF4-FFF2-40B4-BE49-F238E27FC236}">
                <a16:creationId xmlns:a16="http://schemas.microsoft.com/office/drawing/2014/main" id="{E9127E4D-0E95-F3F0-F90D-F9C3CBA8644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9804" y="614363"/>
            <a:ext cx="11422504" cy="5922962"/>
          </a:xfrm>
        </p:spPr>
      </p:pic>
    </p:spTree>
    <p:extLst>
      <p:ext uri="{BB962C8B-B14F-4D97-AF65-F5344CB8AC3E}">
        <p14:creationId xmlns:p14="http://schemas.microsoft.com/office/powerpoint/2010/main" val="21843520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1A68E-D23F-2265-CEAF-F43E9FD11F07}"/>
              </a:ext>
            </a:extLst>
          </p:cNvPr>
          <p:cNvSpPr>
            <a:spLocks noGrp="1"/>
          </p:cNvSpPr>
          <p:nvPr>
            <p:ph type="title"/>
          </p:nvPr>
        </p:nvSpPr>
        <p:spPr>
          <a:xfrm>
            <a:off x="0" y="365125"/>
            <a:ext cx="12192000" cy="624226"/>
          </a:xfrm>
        </p:spPr>
        <p:txBody>
          <a:bodyPr>
            <a:normAutofit fontScale="90000"/>
          </a:bodyPr>
          <a:lstStyle/>
          <a:p>
            <a:r>
              <a:rPr lang="en-US" dirty="0"/>
              <a:t>ALGORITHMS AND C PROGRAMS TO DEMONSTRATE void IN C</a:t>
            </a:r>
          </a:p>
        </p:txBody>
      </p:sp>
      <p:sp>
        <p:nvSpPr>
          <p:cNvPr id="3" name="Content Placeholder 2">
            <a:extLst>
              <a:ext uri="{FF2B5EF4-FFF2-40B4-BE49-F238E27FC236}">
                <a16:creationId xmlns:a16="http://schemas.microsoft.com/office/drawing/2014/main" id="{E0BD00C8-C40A-0462-27C6-6AD49E12094C}"/>
              </a:ext>
            </a:extLst>
          </p:cNvPr>
          <p:cNvSpPr>
            <a:spLocks noGrp="1"/>
          </p:cNvSpPr>
          <p:nvPr>
            <p:ph idx="1"/>
          </p:nvPr>
        </p:nvSpPr>
        <p:spPr>
          <a:xfrm>
            <a:off x="268572" y="1394085"/>
            <a:ext cx="11663597" cy="4796853"/>
          </a:xfrm>
        </p:spPr>
        <p:txBody>
          <a:bodyPr>
            <a:normAutofit lnSpcReduction="10000"/>
          </a:bodyPr>
          <a:lstStyle/>
          <a:p>
            <a:pPr marL="0" indent="0">
              <a:buNone/>
            </a:pPr>
            <a:r>
              <a:rPr lang="en-US" b="1" dirty="0"/>
              <a:t>Demonstration of void as a Function Return Type</a:t>
            </a:r>
          </a:p>
          <a:p>
            <a:pPr marL="0" indent="0">
              <a:buNone/>
            </a:pPr>
            <a:r>
              <a:rPr lang="en-US" b="1" dirty="0"/>
              <a:t>Problem Statement</a:t>
            </a:r>
          </a:p>
          <a:p>
            <a:pPr marL="0" indent="0">
              <a:buNone/>
            </a:pPr>
            <a:r>
              <a:rPr lang="en-US" dirty="0"/>
              <a:t>To Write a program that displays a message using a function that does not return any value.</a:t>
            </a:r>
          </a:p>
          <a:p>
            <a:pPr marL="0" indent="0">
              <a:buNone/>
            </a:pPr>
            <a:r>
              <a:rPr lang="en-US" b="1" dirty="0"/>
              <a:t>Algorithm 1: void Function Without Return Value</a:t>
            </a:r>
          </a:p>
          <a:p>
            <a:pPr marL="514350" indent="-514350">
              <a:buFont typeface="+mj-lt"/>
              <a:buAutoNum type="arabicPeriod"/>
            </a:pPr>
            <a:r>
              <a:rPr lang="en-US" dirty="0"/>
              <a:t>Start</a:t>
            </a:r>
          </a:p>
          <a:p>
            <a:pPr marL="514350" indent="-514350">
              <a:buFont typeface="+mj-lt"/>
              <a:buAutoNum type="arabicPeriod"/>
            </a:pPr>
            <a:r>
              <a:rPr lang="en-US" dirty="0"/>
              <a:t>Define a function with return type void</a:t>
            </a:r>
          </a:p>
          <a:p>
            <a:pPr marL="514350" indent="-514350">
              <a:buFont typeface="+mj-lt"/>
              <a:buAutoNum type="arabicPeriod"/>
            </a:pPr>
            <a:r>
              <a:rPr lang="en-US" dirty="0"/>
              <a:t>Inside the function, display a message</a:t>
            </a:r>
          </a:p>
          <a:p>
            <a:pPr marL="514350" indent="-514350">
              <a:buFont typeface="+mj-lt"/>
              <a:buAutoNum type="arabicPeriod"/>
            </a:pPr>
            <a:r>
              <a:rPr lang="en-US" dirty="0"/>
              <a:t>Call the function from main()</a:t>
            </a:r>
          </a:p>
          <a:p>
            <a:pPr marL="514350" indent="-514350">
              <a:buFont typeface="+mj-lt"/>
              <a:buAutoNum type="arabicPeriod"/>
            </a:pPr>
            <a:r>
              <a:rPr lang="en-US" dirty="0"/>
              <a:t>Stop</a:t>
            </a:r>
          </a:p>
          <a:p>
            <a:pPr marL="0" indent="0">
              <a:buNone/>
            </a:pPr>
            <a:endParaRPr lang="en-US" dirty="0"/>
          </a:p>
        </p:txBody>
      </p:sp>
    </p:spTree>
    <p:extLst>
      <p:ext uri="{BB962C8B-B14F-4D97-AF65-F5344CB8AC3E}">
        <p14:creationId xmlns:p14="http://schemas.microsoft.com/office/powerpoint/2010/main" val="196196020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B7094-0819-628E-2E36-5D3F34E2BB85}"/>
              </a:ext>
            </a:extLst>
          </p:cNvPr>
          <p:cNvSpPr>
            <a:spLocks noGrp="1"/>
          </p:cNvSpPr>
          <p:nvPr>
            <p:ph type="title"/>
          </p:nvPr>
        </p:nvSpPr>
        <p:spPr>
          <a:xfrm>
            <a:off x="838199" y="365125"/>
            <a:ext cx="11168921" cy="459333"/>
          </a:xfrm>
        </p:spPr>
        <p:txBody>
          <a:bodyPr>
            <a:normAutofit fontScale="90000"/>
          </a:bodyPr>
          <a:lstStyle/>
          <a:p>
            <a:r>
              <a:rPr lang="en-US" b="1" dirty="0"/>
              <a:t>Demonstration of void as a Function Return Type</a:t>
            </a:r>
            <a:br>
              <a:rPr lang="en-US" b="1" dirty="0"/>
            </a:br>
            <a:endParaRPr lang="en-US" dirty="0"/>
          </a:p>
        </p:txBody>
      </p:sp>
      <p:sp>
        <p:nvSpPr>
          <p:cNvPr id="3" name="Content Placeholder 2">
            <a:extLst>
              <a:ext uri="{FF2B5EF4-FFF2-40B4-BE49-F238E27FC236}">
                <a16:creationId xmlns:a16="http://schemas.microsoft.com/office/drawing/2014/main" id="{08CD7011-5FBC-3AE6-39A8-F26848AE19EE}"/>
              </a:ext>
            </a:extLst>
          </p:cNvPr>
          <p:cNvSpPr>
            <a:spLocks noGrp="1"/>
          </p:cNvSpPr>
          <p:nvPr>
            <p:ph idx="1"/>
          </p:nvPr>
        </p:nvSpPr>
        <p:spPr>
          <a:xfrm>
            <a:off x="838200" y="824458"/>
            <a:ext cx="10515600" cy="5352505"/>
          </a:xfrm>
        </p:spPr>
        <p:txBody>
          <a:bodyPr>
            <a:normAutofit/>
          </a:bodyPr>
          <a:lstStyle/>
          <a:p>
            <a:pPr marL="0" indent="0">
              <a:buNone/>
            </a:pPr>
            <a:r>
              <a:rPr lang="en-US" b="1" i="1" dirty="0"/>
              <a:t>#include &lt;</a:t>
            </a:r>
            <a:r>
              <a:rPr lang="en-US" b="1" i="1" dirty="0" err="1"/>
              <a:t>stdio.h</a:t>
            </a:r>
            <a:r>
              <a:rPr lang="en-US" b="1" i="1" dirty="0"/>
              <a:t>&gt;</a:t>
            </a:r>
          </a:p>
          <a:p>
            <a:pPr marL="0" indent="0">
              <a:buNone/>
            </a:pPr>
            <a:endParaRPr lang="en-US" b="1" i="1" dirty="0"/>
          </a:p>
          <a:p>
            <a:pPr marL="0" indent="0">
              <a:buNone/>
            </a:pPr>
            <a:r>
              <a:rPr lang="en-US" b="1" i="1" dirty="0"/>
              <a:t>void </a:t>
            </a:r>
            <a:r>
              <a:rPr lang="en-US" b="1" i="1" dirty="0" err="1"/>
              <a:t>displayMessage</a:t>
            </a:r>
            <a:r>
              <a:rPr lang="en-US" b="1" i="1" dirty="0"/>
              <a:t>() {</a:t>
            </a:r>
          </a:p>
          <a:p>
            <a:pPr marL="0" indent="0">
              <a:buNone/>
            </a:pPr>
            <a:r>
              <a:rPr lang="en-US" b="1" i="1" dirty="0"/>
              <a:t>    </a:t>
            </a:r>
            <a:r>
              <a:rPr lang="en-US" b="1" i="1" dirty="0" err="1"/>
              <a:t>printf</a:t>
            </a:r>
            <a:r>
              <a:rPr lang="en-US" b="1" i="1" dirty="0"/>
              <a:t>("This is group number 9\n");</a:t>
            </a:r>
          </a:p>
          <a:p>
            <a:pPr marL="0" indent="0">
              <a:buNone/>
            </a:pPr>
            <a:r>
              <a:rPr lang="en-US" b="1" i="1" dirty="0"/>
              <a:t>}</a:t>
            </a:r>
          </a:p>
          <a:p>
            <a:pPr marL="0" indent="0">
              <a:buNone/>
            </a:pPr>
            <a:endParaRPr lang="en-US" b="1" i="1" dirty="0"/>
          </a:p>
          <a:p>
            <a:pPr marL="0" indent="0">
              <a:buNone/>
            </a:pPr>
            <a:r>
              <a:rPr lang="en-US" b="1" i="1" dirty="0"/>
              <a:t>int main() {</a:t>
            </a:r>
          </a:p>
          <a:p>
            <a:pPr marL="0" indent="0">
              <a:buNone/>
            </a:pPr>
            <a:r>
              <a:rPr lang="en-US" b="1" i="1" dirty="0"/>
              <a:t>    </a:t>
            </a:r>
            <a:r>
              <a:rPr lang="en-US" b="1" i="1" dirty="0" err="1"/>
              <a:t>displayMessage</a:t>
            </a:r>
            <a:r>
              <a:rPr lang="en-US" b="1" i="1" dirty="0"/>
              <a:t>();</a:t>
            </a:r>
          </a:p>
          <a:p>
            <a:pPr marL="0" indent="0">
              <a:buNone/>
            </a:pPr>
            <a:r>
              <a:rPr lang="en-US" b="1" i="1" dirty="0"/>
              <a:t>    return 0;</a:t>
            </a:r>
          </a:p>
          <a:p>
            <a:pPr marL="0" indent="0">
              <a:buNone/>
            </a:pPr>
            <a:r>
              <a:rPr lang="en-US" b="1" i="1" dirty="0"/>
              <a:t>}</a:t>
            </a:r>
          </a:p>
        </p:txBody>
      </p:sp>
    </p:spTree>
    <p:extLst>
      <p:ext uri="{BB962C8B-B14F-4D97-AF65-F5344CB8AC3E}">
        <p14:creationId xmlns:p14="http://schemas.microsoft.com/office/powerpoint/2010/main" val="11368183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FB22F-5986-C158-BB95-8C595E81D146}"/>
              </a:ext>
            </a:extLst>
          </p:cNvPr>
          <p:cNvSpPr>
            <a:spLocks noGrp="1"/>
          </p:cNvSpPr>
          <p:nvPr>
            <p:ph type="title"/>
          </p:nvPr>
        </p:nvSpPr>
        <p:spPr>
          <a:xfrm>
            <a:off x="838200" y="110292"/>
            <a:ext cx="10899098" cy="759137"/>
          </a:xfrm>
        </p:spPr>
        <p:txBody>
          <a:bodyPr>
            <a:normAutofit fontScale="90000"/>
          </a:bodyPr>
          <a:lstStyle/>
          <a:p>
            <a:r>
              <a:rPr lang="en-US" dirty="0"/>
              <a:t>Demonstration of void as a Function Parameter</a:t>
            </a:r>
          </a:p>
        </p:txBody>
      </p:sp>
      <p:sp>
        <p:nvSpPr>
          <p:cNvPr id="3" name="Content Placeholder 2">
            <a:extLst>
              <a:ext uri="{FF2B5EF4-FFF2-40B4-BE49-F238E27FC236}">
                <a16:creationId xmlns:a16="http://schemas.microsoft.com/office/drawing/2014/main" id="{D041D13F-1533-6E51-79DB-C5B2F21AF20A}"/>
              </a:ext>
            </a:extLst>
          </p:cNvPr>
          <p:cNvSpPr>
            <a:spLocks noGrp="1"/>
          </p:cNvSpPr>
          <p:nvPr>
            <p:ph idx="1"/>
          </p:nvPr>
        </p:nvSpPr>
        <p:spPr>
          <a:xfrm>
            <a:off x="194872" y="1004341"/>
            <a:ext cx="11692328" cy="5172622"/>
          </a:xfrm>
        </p:spPr>
        <p:txBody>
          <a:bodyPr/>
          <a:lstStyle/>
          <a:p>
            <a:pPr marL="0" indent="0">
              <a:buNone/>
            </a:pPr>
            <a:r>
              <a:rPr lang="en-US" b="1" dirty="0"/>
              <a:t>Problem Statement</a:t>
            </a:r>
          </a:p>
          <a:p>
            <a:pPr marL="0" indent="0">
              <a:buNone/>
            </a:pPr>
            <a:r>
              <a:rPr lang="en-US" dirty="0"/>
              <a:t>To Write a program where a function takes no arguments using void.</a:t>
            </a:r>
          </a:p>
          <a:p>
            <a:pPr marL="0" indent="0">
              <a:buNone/>
            </a:pPr>
            <a:r>
              <a:rPr lang="en-US" b="1" dirty="0"/>
              <a:t>Algorithm 2: Function With void Parameter</a:t>
            </a:r>
          </a:p>
          <a:p>
            <a:pPr marL="514350" indent="-514350">
              <a:buFont typeface="+mj-lt"/>
              <a:buAutoNum type="arabicPeriod"/>
            </a:pPr>
            <a:r>
              <a:rPr lang="en-US" dirty="0"/>
              <a:t>Start</a:t>
            </a:r>
          </a:p>
          <a:p>
            <a:pPr marL="514350" indent="-514350">
              <a:buFont typeface="+mj-lt"/>
              <a:buAutoNum type="arabicPeriod"/>
            </a:pPr>
            <a:r>
              <a:rPr lang="en-US" dirty="0"/>
              <a:t>Define a function with void parameter list</a:t>
            </a:r>
          </a:p>
          <a:p>
            <a:pPr marL="514350" indent="-514350">
              <a:buFont typeface="+mj-lt"/>
              <a:buAutoNum type="arabicPeriod"/>
            </a:pPr>
            <a:r>
              <a:rPr lang="en-US" dirty="0"/>
              <a:t>Return an integer value</a:t>
            </a:r>
          </a:p>
          <a:p>
            <a:pPr marL="514350" indent="-514350">
              <a:buFont typeface="+mj-lt"/>
              <a:buAutoNum type="arabicPeriod"/>
            </a:pPr>
            <a:r>
              <a:rPr lang="en-US" dirty="0"/>
              <a:t>Call the function without arguments</a:t>
            </a:r>
          </a:p>
          <a:p>
            <a:pPr marL="514350" indent="-514350">
              <a:buFont typeface="+mj-lt"/>
              <a:buAutoNum type="arabicPeriod"/>
            </a:pPr>
            <a:r>
              <a:rPr lang="en-US" dirty="0"/>
              <a:t>Display the returned value</a:t>
            </a:r>
          </a:p>
          <a:p>
            <a:pPr marL="514350" indent="-514350">
              <a:buFont typeface="+mj-lt"/>
              <a:buAutoNum type="arabicPeriod"/>
            </a:pPr>
            <a:r>
              <a:rPr lang="en-US" dirty="0"/>
              <a:t>Stop</a:t>
            </a:r>
          </a:p>
          <a:p>
            <a:pPr marL="0" indent="0">
              <a:buNone/>
            </a:pPr>
            <a:endParaRPr lang="en-US" dirty="0"/>
          </a:p>
        </p:txBody>
      </p:sp>
    </p:spTree>
    <p:extLst>
      <p:ext uri="{BB962C8B-B14F-4D97-AF65-F5344CB8AC3E}">
        <p14:creationId xmlns:p14="http://schemas.microsoft.com/office/powerpoint/2010/main" val="327253935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212E6-4603-EB92-BDAC-8CCEEE7A9C46}"/>
              </a:ext>
            </a:extLst>
          </p:cNvPr>
          <p:cNvSpPr>
            <a:spLocks noGrp="1"/>
          </p:cNvSpPr>
          <p:nvPr>
            <p:ph type="title"/>
          </p:nvPr>
        </p:nvSpPr>
        <p:spPr>
          <a:xfrm>
            <a:off x="838200" y="365125"/>
            <a:ext cx="10515600" cy="564265"/>
          </a:xfrm>
        </p:spPr>
        <p:txBody>
          <a:bodyPr>
            <a:normAutofit fontScale="90000"/>
          </a:bodyPr>
          <a:lstStyle/>
          <a:p>
            <a:r>
              <a:rPr lang="en-US" b="1" dirty="0"/>
              <a:t>Function With void Parameter</a:t>
            </a:r>
            <a:br>
              <a:rPr lang="en-US" b="1" dirty="0"/>
            </a:br>
            <a:endParaRPr lang="en-US" dirty="0"/>
          </a:p>
        </p:txBody>
      </p:sp>
      <p:sp>
        <p:nvSpPr>
          <p:cNvPr id="3" name="Content Placeholder 2">
            <a:extLst>
              <a:ext uri="{FF2B5EF4-FFF2-40B4-BE49-F238E27FC236}">
                <a16:creationId xmlns:a16="http://schemas.microsoft.com/office/drawing/2014/main" id="{D1BA22D4-D50A-2B65-A624-CA6CB187A15E}"/>
              </a:ext>
            </a:extLst>
          </p:cNvPr>
          <p:cNvSpPr>
            <a:spLocks noGrp="1"/>
          </p:cNvSpPr>
          <p:nvPr>
            <p:ph idx="1"/>
          </p:nvPr>
        </p:nvSpPr>
        <p:spPr>
          <a:xfrm>
            <a:off x="509666" y="749508"/>
            <a:ext cx="10844134" cy="5427455"/>
          </a:xfrm>
        </p:spPr>
        <p:txBody>
          <a:bodyPr>
            <a:normAutofit lnSpcReduction="10000"/>
          </a:bodyPr>
          <a:lstStyle/>
          <a:p>
            <a:pPr marL="0" indent="0">
              <a:buNone/>
            </a:pPr>
            <a:r>
              <a:rPr lang="en-US" b="1" i="1" dirty="0"/>
              <a:t>#include &lt;</a:t>
            </a:r>
            <a:r>
              <a:rPr lang="en-US" b="1" i="1" dirty="0" err="1"/>
              <a:t>stdio.h</a:t>
            </a:r>
            <a:r>
              <a:rPr lang="en-US" b="1" i="1" dirty="0"/>
              <a:t>&gt;</a:t>
            </a:r>
          </a:p>
          <a:p>
            <a:pPr marL="0" indent="0">
              <a:buNone/>
            </a:pPr>
            <a:endParaRPr lang="en-US" b="1" i="1" dirty="0"/>
          </a:p>
          <a:p>
            <a:pPr marL="0" indent="0">
              <a:buNone/>
            </a:pPr>
            <a:r>
              <a:rPr lang="en-US" b="1" i="1" dirty="0"/>
              <a:t>int </a:t>
            </a:r>
            <a:r>
              <a:rPr lang="en-US" b="1" i="1" dirty="0" err="1"/>
              <a:t>getValue</a:t>
            </a:r>
            <a:r>
              <a:rPr lang="en-US" b="1" i="1" dirty="0"/>
              <a:t>(void) {</a:t>
            </a:r>
          </a:p>
          <a:p>
            <a:pPr marL="0" indent="0">
              <a:buNone/>
            </a:pPr>
            <a:r>
              <a:rPr lang="en-US" b="1" i="1" dirty="0"/>
              <a:t>    return 100;</a:t>
            </a:r>
          </a:p>
          <a:p>
            <a:pPr marL="0" indent="0">
              <a:buNone/>
            </a:pPr>
            <a:r>
              <a:rPr lang="en-US" b="1" i="1" dirty="0"/>
              <a:t>}</a:t>
            </a:r>
          </a:p>
          <a:p>
            <a:pPr marL="0" indent="0">
              <a:buNone/>
            </a:pPr>
            <a:endParaRPr lang="en-US" b="1" i="1" dirty="0"/>
          </a:p>
          <a:p>
            <a:pPr marL="0" indent="0">
              <a:buNone/>
            </a:pPr>
            <a:r>
              <a:rPr lang="en-US" b="1" i="1" dirty="0"/>
              <a:t>int main() {</a:t>
            </a:r>
          </a:p>
          <a:p>
            <a:pPr marL="0" indent="0">
              <a:buNone/>
            </a:pPr>
            <a:r>
              <a:rPr lang="en-US" b="1" i="1" dirty="0"/>
              <a:t>    int x = </a:t>
            </a:r>
            <a:r>
              <a:rPr lang="en-US" b="1" i="1" dirty="0" err="1"/>
              <a:t>getValue</a:t>
            </a:r>
            <a:r>
              <a:rPr lang="en-US" b="1" i="1" dirty="0"/>
              <a:t>();</a:t>
            </a:r>
          </a:p>
          <a:p>
            <a:pPr marL="0" indent="0">
              <a:buNone/>
            </a:pPr>
            <a:r>
              <a:rPr lang="en-US" b="1" i="1" dirty="0"/>
              <a:t>    </a:t>
            </a:r>
            <a:r>
              <a:rPr lang="en-US" b="1" i="1" dirty="0" err="1"/>
              <a:t>printf</a:t>
            </a:r>
            <a:r>
              <a:rPr lang="en-US" b="1" i="1" dirty="0"/>
              <a:t>("Value: %d\n", x);</a:t>
            </a:r>
          </a:p>
          <a:p>
            <a:pPr marL="0" indent="0">
              <a:buNone/>
            </a:pPr>
            <a:r>
              <a:rPr lang="en-US" b="1" i="1" dirty="0"/>
              <a:t>    return 0;</a:t>
            </a:r>
          </a:p>
          <a:p>
            <a:pPr marL="0" indent="0">
              <a:buNone/>
            </a:pPr>
            <a:r>
              <a:rPr lang="en-US" b="1" i="1" dirty="0"/>
              <a:t>}</a:t>
            </a:r>
          </a:p>
          <a:p>
            <a:pPr marL="0" indent="0">
              <a:buNone/>
            </a:pPr>
            <a:endParaRPr lang="en-US" b="1" i="1" dirty="0"/>
          </a:p>
        </p:txBody>
      </p:sp>
    </p:spTree>
    <p:extLst>
      <p:ext uri="{BB962C8B-B14F-4D97-AF65-F5344CB8AC3E}">
        <p14:creationId xmlns:p14="http://schemas.microsoft.com/office/powerpoint/2010/main" val="41819877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2B285-F4AD-2ACC-4C6F-DE81C6E0A0EC}"/>
              </a:ext>
            </a:extLst>
          </p:cNvPr>
          <p:cNvSpPr>
            <a:spLocks noGrp="1"/>
          </p:cNvSpPr>
          <p:nvPr>
            <p:ph type="title"/>
          </p:nvPr>
        </p:nvSpPr>
        <p:spPr>
          <a:xfrm>
            <a:off x="298553" y="170254"/>
            <a:ext cx="10749197" cy="639216"/>
          </a:xfrm>
        </p:spPr>
        <p:txBody>
          <a:bodyPr>
            <a:normAutofit fontScale="90000"/>
          </a:bodyPr>
          <a:lstStyle/>
          <a:p>
            <a:r>
              <a:rPr lang="en-US" b="1" dirty="0"/>
              <a:t>Demonstration of void * Pointer and Type Casting</a:t>
            </a:r>
          </a:p>
        </p:txBody>
      </p:sp>
      <p:sp>
        <p:nvSpPr>
          <p:cNvPr id="3" name="Content Placeholder 2">
            <a:extLst>
              <a:ext uri="{FF2B5EF4-FFF2-40B4-BE49-F238E27FC236}">
                <a16:creationId xmlns:a16="http://schemas.microsoft.com/office/drawing/2014/main" id="{13E52522-CEF6-A827-7C0B-11A4398091BF}"/>
              </a:ext>
            </a:extLst>
          </p:cNvPr>
          <p:cNvSpPr>
            <a:spLocks noGrp="1"/>
          </p:cNvSpPr>
          <p:nvPr>
            <p:ph idx="1"/>
          </p:nvPr>
        </p:nvSpPr>
        <p:spPr>
          <a:xfrm>
            <a:off x="298553" y="809470"/>
            <a:ext cx="11594894" cy="5878276"/>
          </a:xfrm>
        </p:spPr>
        <p:txBody>
          <a:bodyPr>
            <a:normAutofit lnSpcReduction="10000"/>
          </a:bodyPr>
          <a:lstStyle/>
          <a:p>
            <a:pPr marL="0" indent="0">
              <a:buNone/>
            </a:pPr>
            <a:r>
              <a:rPr lang="en-US" b="1" dirty="0"/>
              <a:t>Problem Statement</a:t>
            </a:r>
          </a:p>
          <a:p>
            <a:pPr marL="0" indent="0">
              <a:buNone/>
            </a:pPr>
            <a:r>
              <a:rPr lang="en-US" dirty="0"/>
              <a:t>Write a program to store and display values of different data types using a void pointer.</a:t>
            </a:r>
          </a:p>
          <a:p>
            <a:pPr marL="0" indent="0">
              <a:buNone/>
            </a:pPr>
            <a:r>
              <a:rPr lang="en-US" b="1" dirty="0"/>
              <a:t>Algorithm 3: void * with Type Casting</a:t>
            </a:r>
          </a:p>
          <a:p>
            <a:pPr marL="514350" indent="-514350">
              <a:buFont typeface="+mj-lt"/>
              <a:buAutoNum type="arabicPeriod"/>
            </a:pPr>
            <a:r>
              <a:rPr lang="en-US" dirty="0"/>
              <a:t>Start</a:t>
            </a:r>
          </a:p>
          <a:p>
            <a:pPr marL="514350" indent="-514350">
              <a:buFont typeface="+mj-lt"/>
              <a:buAutoNum type="arabicPeriod"/>
            </a:pPr>
            <a:r>
              <a:rPr lang="en-US" dirty="0"/>
              <a:t>Declare an integer and a float variable</a:t>
            </a:r>
          </a:p>
          <a:p>
            <a:pPr marL="514350" indent="-514350">
              <a:buFont typeface="+mj-lt"/>
              <a:buAutoNum type="arabicPeriod"/>
            </a:pPr>
            <a:r>
              <a:rPr lang="en-US" dirty="0"/>
              <a:t>Declare a void pointer</a:t>
            </a:r>
          </a:p>
          <a:p>
            <a:pPr marL="514350" indent="-514350">
              <a:buFont typeface="+mj-lt"/>
              <a:buAutoNum type="arabicPeriod"/>
            </a:pPr>
            <a:r>
              <a:rPr lang="en-US" dirty="0"/>
              <a:t>Assign address of integer to the pointer</a:t>
            </a:r>
          </a:p>
          <a:p>
            <a:pPr marL="514350" indent="-514350">
              <a:buFont typeface="+mj-lt"/>
              <a:buAutoNum type="arabicPeriod"/>
            </a:pPr>
            <a:r>
              <a:rPr lang="en-US" dirty="0"/>
              <a:t>Type cast and display the integer value</a:t>
            </a:r>
          </a:p>
          <a:p>
            <a:pPr marL="514350" indent="-514350">
              <a:buFont typeface="+mj-lt"/>
              <a:buAutoNum type="arabicPeriod"/>
            </a:pPr>
            <a:r>
              <a:rPr lang="en-US" dirty="0"/>
              <a:t>Assign address of float to the pointer</a:t>
            </a:r>
          </a:p>
          <a:p>
            <a:pPr marL="514350" indent="-514350">
              <a:buFont typeface="+mj-lt"/>
              <a:buAutoNum type="arabicPeriod"/>
            </a:pPr>
            <a:r>
              <a:rPr lang="en-US" dirty="0"/>
              <a:t>Type cast and display the float value</a:t>
            </a:r>
          </a:p>
          <a:p>
            <a:pPr marL="514350" indent="-514350">
              <a:buFont typeface="+mj-lt"/>
              <a:buAutoNum type="arabicPeriod"/>
            </a:pPr>
            <a:r>
              <a:rPr lang="en-US" dirty="0"/>
              <a:t>Stop</a:t>
            </a:r>
          </a:p>
          <a:p>
            <a:pPr marL="0" indent="0">
              <a:buNone/>
            </a:pPr>
            <a:endParaRPr lang="en-US" dirty="0"/>
          </a:p>
        </p:txBody>
      </p:sp>
    </p:spTree>
    <p:extLst>
      <p:ext uri="{BB962C8B-B14F-4D97-AF65-F5344CB8AC3E}">
        <p14:creationId xmlns:p14="http://schemas.microsoft.com/office/powerpoint/2010/main" val="1943513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DB9DD-D70F-211B-A36F-6332F4A40579}"/>
              </a:ext>
            </a:extLst>
          </p:cNvPr>
          <p:cNvSpPr>
            <a:spLocks noGrp="1"/>
          </p:cNvSpPr>
          <p:nvPr>
            <p:ph type="title"/>
          </p:nvPr>
        </p:nvSpPr>
        <p:spPr>
          <a:xfrm>
            <a:off x="148652" y="391409"/>
            <a:ext cx="10515600" cy="579255"/>
          </a:xfrm>
        </p:spPr>
        <p:txBody>
          <a:bodyPr>
            <a:normAutofit fontScale="90000"/>
          </a:bodyPr>
          <a:lstStyle/>
          <a:p>
            <a:r>
              <a:rPr lang="en-US" b="1" dirty="0"/>
              <a:t>void * with Type Casting</a:t>
            </a:r>
            <a:br>
              <a:rPr lang="en-US" b="1" dirty="0"/>
            </a:br>
            <a:endParaRPr lang="en-US" dirty="0"/>
          </a:p>
        </p:txBody>
      </p:sp>
      <p:sp>
        <p:nvSpPr>
          <p:cNvPr id="3" name="Content Placeholder 2">
            <a:extLst>
              <a:ext uri="{FF2B5EF4-FFF2-40B4-BE49-F238E27FC236}">
                <a16:creationId xmlns:a16="http://schemas.microsoft.com/office/drawing/2014/main" id="{58147C64-80B3-34C3-1926-C36F7F3D93F1}"/>
              </a:ext>
            </a:extLst>
          </p:cNvPr>
          <p:cNvSpPr>
            <a:spLocks noGrp="1"/>
          </p:cNvSpPr>
          <p:nvPr>
            <p:ph idx="1"/>
          </p:nvPr>
        </p:nvSpPr>
        <p:spPr>
          <a:xfrm>
            <a:off x="254833" y="970664"/>
            <a:ext cx="11788515" cy="5699959"/>
          </a:xfrm>
        </p:spPr>
        <p:txBody>
          <a:bodyPr>
            <a:normAutofit fontScale="77500" lnSpcReduction="20000"/>
          </a:bodyPr>
          <a:lstStyle/>
          <a:p>
            <a:pPr marL="0" indent="0">
              <a:buNone/>
            </a:pPr>
            <a:r>
              <a:rPr lang="en-US" dirty="0"/>
              <a:t>#include &lt;</a:t>
            </a:r>
            <a:r>
              <a:rPr lang="en-US" dirty="0" err="1"/>
              <a:t>stdio.h</a:t>
            </a:r>
            <a:r>
              <a:rPr lang="en-US" dirty="0"/>
              <a:t>&gt;</a:t>
            </a:r>
          </a:p>
          <a:p>
            <a:pPr marL="0" indent="0">
              <a:buNone/>
            </a:pPr>
            <a:endParaRPr lang="en-US" dirty="0"/>
          </a:p>
          <a:p>
            <a:pPr marL="0" indent="0">
              <a:buNone/>
            </a:pPr>
            <a:r>
              <a:rPr lang="en-US" dirty="0"/>
              <a:t>int main() {</a:t>
            </a:r>
          </a:p>
          <a:p>
            <a:pPr marL="0" indent="0">
              <a:buNone/>
            </a:pPr>
            <a:r>
              <a:rPr lang="en-US" dirty="0"/>
              <a:t>    int a = 10;</a:t>
            </a:r>
          </a:p>
          <a:p>
            <a:pPr marL="0" indent="0">
              <a:buNone/>
            </a:pPr>
            <a:r>
              <a:rPr lang="en-US" dirty="0"/>
              <a:t>    float b = 5.5;</a:t>
            </a:r>
          </a:p>
          <a:p>
            <a:pPr marL="0" indent="0">
              <a:buNone/>
            </a:pPr>
            <a:r>
              <a:rPr lang="en-US" dirty="0"/>
              <a:t>    void *</a:t>
            </a:r>
            <a:r>
              <a:rPr lang="en-US" dirty="0" err="1"/>
              <a:t>ptr</a:t>
            </a:r>
            <a:r>
              <a:rPr lang="en-US" dirty="0"/>
              <a:t>;</a:t>
            </a:r>
          </a:p>
          <a:p>
            <a:pPr marL="0" indent="0">
              <a:buNone/>
            </a:pPr>
            <a:endParaRPr lang="en-US" dirty="0"/>
          </a:p>
          <a:p>
            <a:pPr marL="0" indent="0">
              <a:buNone/>
            </a:pPr>
            <a:r>
              <a:rPr lang="en-US" dirty="0"/>
              <a:t>    </a:t>
            </a:r>
            <a:r>
              <a:rPr lang="en-US" dirty="0" err="1"/>
              <a:t>ptr</a:t>
            </a:r>
            <a:r>
              <a:rPr lang="en-US" dirty="0"/>
              <a:t> = &amp;a;</a:t>
            </a:r>
          </a:p>
          <a:p>
            <a:pPr marL="0" indent="0">
              <a:buNone/>
            </a:pPr>
            <a:r>
              <a:rPr lang="en-US" dirty="0"/>
              <a:t>    </a:t>
            </a:r>
            <a:r>
              <a:rPr lang="en-US" dirty="0" err="1"/>
              <a:t>printf</a:t>
            </a:r>
            <a:r>
              <a:rPr lang="en-US" dirty="0"/>
              <a:t>("Integer value: %d\n", *(int *)</a:t>
            </a:r>
            <a:r>
              <a:rPr lang="en-US" dirty="0" err="1"/>
              <a:t>ptr</a:t>
            </a:r>
            <a:r>
              <a:rPr lang="en-US" dirty="0"/>
              <a:t>);</a:t>
            </a:r>
          </a:p>
          <a:p>
            <a:pPr marL="0" indent="0">
              <a:buNone/>
            </a:pPr>
            <a:endParaRPr lang="en-US" dirty="0"/>
          </a:p>
          <a:p>
            <a:pPr marL="0" indent="0">
              <a:buNone/>
            </a:pPr>
            <a:r>
              <a:rPr lang="en-US" dirty="0"/>
              <a:t>    </a:t>
            </a:r>
            <a:r>
              <a:rPr lang="en-US" dirty="0" err="1"/>
              <a:t>ptr</a:t>
            </a:r>
            <a:r>
              <a:rPr lang="en-US" dirty="0"/>
              <a:t> = &amp;b;</a:t>
            </a:r>
          </a:p>
          <a:p>
            <a:pPr marL="0" indent="0">
              <a:buNone/>
            </a:pPr>
            <a:r>
              <a:rPr lang="en-US" dirty="0"/>
              <a:t>    </a:t>
            </a:r>
            <a:r>
              <a:rPr lang="en-US" dirty="0" err="1"/>
              <a:t>printf</a:t>
            </a:r>
            <a:r>
              <a:rPr lang="en-US" dirty="0"/>
              <a:t>("Float value: %.2f\n", *(float *)</a:t>
            </a:r>
            <a:r>
              <a:rPr lang="en-US" dirty="0" err="1"/>
              <a:t>ptr</a:t>
            </a:r>
            <a:r>
              <a:rPr lang="en-US" dirty="0"/>
              <a:t>);</a:t>
            </a:r>
          </a:p>
          <a:p>
            <a:pPr marL="0" indent="0">
              <a:buNone/>
            </a:pPr>
            <a:endParaRPr lang="en-US" dirty="0"/>
          </a:p>
          <a:p>
            <a:pPr marL="0" indent="0">
              <a:buNone/>
            </a:pPr>
            <a:r>
              <a:rPr lang="en-US" dirty="0"/>
              <a:t>    return 0;</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362577175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30F8C-C07C-B80A-373C-721E6BC2FA69}"/>
              </a:ext>
            </a:extLst>
          </p:cNvPr>
          <p:cNvSpPr>
            <a:spLocks noGrp="1"/>
          </p:cNvSpPr>
          <p:nvPr>
            <p:ph type="title"/>
          </p:nvPr>
        </p:nvSpPr>
        <p:spPr>
          <a:xfrm>
            <a:off x="681428" y="110292"/>
            <a:ext cx="11370664" cy="714167"/>
          </a:xfrm>
        </p:spPr>
        <p:txBody>
          <a:bodyPr>
            <a:normAutofit fontScale="90000"/>
          </a:bodyPr>
          <a:lstStyle/>
          <a:p>
            <a:r>
              <a:rPr lang="en-US" b="1" dirty="0"/>
              <a:t>Demonstration of void with </a:t>
            </a:r>
            <a:r>
              <a:rPr lang="en-US" b="1" dirty="0" err="1"/>
              <a:t>sizeof</a:t>
            </a:r>
            <a:r>
              <a:rPr lang="en-US" b="1" dirty="0"/>
              <a:t> (Indirect Usage)</a:t>
            </a:r>
          </a:p>
        </p:txBody>
      </p:sp>
      <p:sp>
        <p:nvSpPr>
          <p:cNvPr id="3" name="Content Placeholder 2">
            <a:extLst>
              <a:ext uri="{FF2B5EF4-FFF2-40B4-BE49-F238E27FC236}">
                <a16:creationId xmlns:a16="http://schemas.microsoft.com/office/drawing/2014/main" id="{8DFFD2CF-A4A0-1278-B656-A9B2C4BB20A6}"/>
              </a:ext>
            </a:extLst>
          </p:cNvPr>
          <p:cNvSpPr>
            <a:spLocks noGrp="1"/>
          </p:cNvSpPr>
          <p:nvPr>
            <p:ph idx="1"/>
          </p:nvPr>
        </p:nvSpPr>
        <p:spPr>
          <a:xfrm>
            <a:off x="284813" y="659567"/>
            <a:ext cx="11767279" cy="5861154"/>
          </a:xfrm>
        </p:spPr>
        <p:txBody>
          <a:bodyPr/>
          <a:lstStyle/>
          <a:p>
            <a:pPr marL="0" indent="0">
              <a:buNone/>
            </a:pPr>
            <a:r>
              <a:rPr lang="en-US" b="1" dirty="0"/>
              <a:t>Problem Statement</a:t>
            </a:r>
          </a:p>
          <a:p>
            <a:pPr marL="0" indent="0">
              <a:buNone/>
            </a:pPr>
            <a:r>
              <a:rPr lang="en-US" dirty="0"/>
              <a:t>To Write a program to display the size of a void pointer and an integer</a:t>
            </a:r>
          </a:p>
          <a:p>
            <a:pPr marL="0" indent="0">
              <a:buNone/>
            </a:pPr>
            <a:r>
              <a:rPr lang="en-US" b="1" dirty="0"/>
              <a:t>Algorithm 4: </a:t>
            </a:r>
            <a:r>
              <a:rPr lang="en-US" b="1" dirty="0" err="1"/>
              <a:t>sizeof</a:t>
            </a:r>
            <a:r>
              <a:rPr lang="en-US" b="1" dirty="0"/>
              <a:t> with void *</a:t>
            </a:r>
          </a:p>
          <a:p>
            <a:pPr marL="514350" indent="-514350">
              <a:buFont typeface="+mj-lt"/>
              <a:buAutoNum type="arabicPeriod"/>
            </a:pPr>
            <a:r>
              <a:rPr lang="en-US" dirty="0"/>
              <a:t>Start</a:t>
            </a:r>
          </a:p>
          <a:p>
            <a:pPr marL="514350" indent="-514350">
              <a:buFont typeface="+mj-lt"/>
              <a:buAutoNum type="arabicPeriod"/>
            </a:pPr>
            <a:r>
              <a:rPr lang="en-US" dirty="0"/>
              <a:t>Declare a void pointer</a:t>
            </a:r>
          </a:p>
          <a:p>
            <a:pPr marL="514350" indent="-514350">
              <a:buFont typeface="+mj-lt"/>
              <a:buAutoNum type="arabicPeriod"/>
            </a:pPr>
            <a:r>
              <a:rPr lang="en-US" dirty="0"/>
              <a:t>Use </a:t>
            </a:r>
            <a:r>
              <a:rPr lang="en-US" dirty="0" err="1"/>
              <a:t>sizeof</a:t>
            </a:r>
            <a:r>
              <a:rPr lang="en-US" dirty="0"/>
              <a:t> to find size of the pointer</a:t>
            </a:r>
          </a:p>
          <a:p>
            <a:pPr marL="514350" indent="-514350">
              <a:buFont typeface="+mj-lt"/>
              <a:buAutoNum type="arabicPeriod"/>
            </a:pPr>
            <a:r>
              <a:rPr lang="en-US" dirty="0"/>
              <a:t>Display the result</a:t>
            </a:r>
          </a:p>
          <a:p>
            <a:pPr marL="514350" indent="-514350">
              <a:buFont typeface="+mj-lt"/>
              <a:buAutoNum type="arabicPeriod"/>
            </a:pPr>
            <a:r>
              <a:rPr lang="en-US" dirty="0"/>
              <a:t>Stop</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1012386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E4C4C-BDE5-DE8E-5BA2-4E239839F23F}"/>
              </a:ext>
            </a:extLst>
          </p:cNvPr>
          <p:cNvSpPr>
            <a:spLocks noGrp="1"/>
          </p:cNvSpPr>
          <p:nvPr>
            <p:ph type="title"/>
          </p:nvPr>
        </p:nvSpPr>
        <p:spPr>
          <a:xfrm>
            <a:off x="133662" y="365125"/>
            <a:ext cx="10515600" cy="315912"/>
          </a:xfrm>
        </p:spPr>
        <p:txBody>
          <a:bodyPr>
            <a:normAutofit fontScale="90000"/>
          </a:bodyPr>
          <a:lstStyle/>
          <a:p>
            <a:r>
              <a:rPr lang="en-US" b="1" dirty="0" err="1"/>
              <a:t>sizeof</a:t>
            </a:r>
            <a:r>
              <a:rPr lang="en-US" b="1" dirty="0"/>
              <a:t> with void *</a:t>
            </a:r>
            <a:br>
              <a:rPr lang="en-US" b="1" dirty="0"/>
            </a:br>
            <a:endParaRPr lang="en-US" dirty="0"/>
          </a:p>
        </p:txBody>
      </p:sp>
      <p:sp>
        <p:nvSpPr>
          <p:cNvPr id="3" name="Content Placeholder 2">
            <a:extLst>
              <a:ext uri="{FF2B5EF4-FFF2-40B4-BE49-F238E27FC236}">
                <a16:creationId xmlns:a16="http://schemas.microsoft.com/office/drawing/2014/main" id="{06CBC37B-43B2-FBA8-C323-E802C7BDF931}"/>
              </a:ext>
            </a:extLst>
          </p:cNvPr>
          <p:cNvSpPr>
            <a:spLocks noGrp="1"/>
          </p:cNvSpPr>
          <p:nvPr>
            <p:ph idx="1"/>
          </p:nvPr>
        </p:nvSpPr>
        <p:spPr>
          <a:xfrm>
            <a:off x="133662" y="681036"/>
            <a:ext cx="11924676" cy="5704773"/>
          </a:xfrm>
        </p:spPr>
        <p:txBody>
          <a:bodyPr>
            <a:normAutofit/>
          </a:bodyPr>
          <a:lstStyle/>
          <a:p>
            <a:pPr marL="0" indent="0">
              <a:buNone/>
            </a:pPr>
            <a:r>
              <a:rPr lang="en-US" dirty="0"/>
              <a:t>#include &lt;</a:t>
            </a:r>
            <a:r>
              <a:rPr lang="en-US" dirty="0" err="1"/>
              <a:t>stdio.h</a:t>
            </a:r>
            <a:r>
              <a:rPr lang="en-US" dirty="0"/>
              <a:t>&gt;</a:t>
            </a:r>
          </a:p>
          <a:p>
            <a:pPr marL="0" indent="0">
              <a:buNone/>
            </a:pPr>
            <a:endParaRPr lang="en-US" dirty="0"/>
          </a:p>
          <a:p>
            <a:pPr marL="0" indent="0">
              <a:buNone/>
            </a:pPr>
            <a:r>
              <a:rPr lang="en-US" dirty="0"/>
              <a:t>int main() {</a:t>
            </a:r>
          </a:p>
          <a:p>
            <a:pPr marL="0" indent="0">
              <a:buNone/>
            </a:pPr>
            <a:r>
              <a:rPr lang="en-US" dirty="0"/>
              <a:t>    void *</a:t>
            </a:r>
            <a:r>
              <a:rPr lang="en-US" dirty="0" err="1"/>
              <a:t>ptr</a:t>
            </a:r>
            <a:r>
              <a:rPr lang="en-US" dirty="0"/>
              <a:t>;</a:t>
            </a:r>
          </a:p>
          <a:p>
            <a:pPr marL="0" indent="0">
              <a:buNone/>
            </a:pPr>
            <a:endParaRPr lang="en-US" dirty="0"/>
          </a:p>
          <a:p>
            <a:pPr marL="0" indent="0">
              <a:buNone/>
            </a:pPr>
            <a:r>
              <a:rPr lang="en-US" dirty="0"/>
              <a:t>    </a:t>
            </a:r>
            <a:r>
              <a:rPr lang="en-US" dirty="0" err="1"/>
              <a:t>printf</a:t>
            </a:r>
            <a:r>
              <a:rPr lang="en-US" dirty="0"/>
              <a:t>("Size of void pointer: %</a:t>
            </a:r>
            <a:r>
              <a:rPr lang="en-US" dirty="0" err="1"/>
              <a:t>lu</a:t>
            </a:r>
            <a:r>
              <a:rPr lang="en-US" dirty="0"/>
              <a:t> bytes\n", </a:t>
            </a:r>
            <a:r>
              <a:rPr lang="en-US" dirty="0" err="1"/>
              <a:t>sizeof</a:t>
            </a:r>
            <a:r>
              <a:rPr lang="en-US" dirty="0"/>
              <a:t>(</a:t>
            </a:r>
            <a:r>
              <a:rPr lang="en-US" dirty="0" err="1"/>
              <a:t>ptr</a:t>
            </a:r>
            <a:r>
              <a:rPr lang="en-US" dirty="0"/>
              <a:t>));</a:t>
            </a:r>
          </a:p>
          <a:p>
            <a:pPr marL="0" indent="0">
              <a:buNone/>
            </a:pPr>
            <a:r>
              <a:rPr lang="en-US" dirty="0"/>
              <a:t>    </a:t>
            </a:r>
            <a:r>
              <a:rPr lang="en-US" dirty="0" err="1"/>
              <a:t>printf</a:t>
            </a:r>
            <a:r>
              <a:rPr lang="en-US" dirty="0"/>
              <a:t>("Size of int: %</a:t>
            </a:r>
            <a:r>
              <a:rPr lang="en-US" dirty="0" err="1"/>
              <a:t>lu</a:t>
            </a:r>
            <a:r>
              <a:rPr lang="en-US" dirty="0"/>
              <a:t> bytes\n", </a:t>
            </a:r>
            <a:r>
              <a:rPr lang="en-US" dirty="0" err="1"/>
              <a:t>sizeof</a:t>
            </a:r>
            <a:r>
              <a:rPr lang="en-US" dirty="0"/>
              <a:t>(int));</a:t>
            </a:r>
          </a:p>
          <a:p>
            <a:pPr marL="0" indent="0">
              <a:buNone/>
            </a:pPr>
            <a:endParaRPr lang="en-US" dirty="0"/>
          </a:p>
          <a:p>
            <a:pPr marL="0" indent="0">
              <a:buNone/>
            </a:pPr>
            <a:r>
              <a:rPr lang="en-US" dirty="0"/>
              <a:t>    return 0;</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225650431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B9625-7EF8-A19C-5467-32648EF72EF4}"/>
              </a:ext>
            </a:extLst>
          </p:cNvPr>
          <p:cNvSpPr>
            <a:spLocks noGrp="1"/>
          </p:cNvSpPr>
          <p:nvPr>
            <p:ph type="title"/>
          </p:nvPr>
        </p:nvSpPr>
        <p:spPr>
          <a:xfrm>
            <a:off x="0" y="681037"/>
            <a:ext cx="12192000" cy="759137"/>
          </a:xfrm>
        </p:spPr>
        <p:txBody>
          <a:bodyPr>
            <a:normAutofit fontScale="90000"/>
          </a:bodyPr>
          <a:lstStyle/>
          <a:p>
            <a:r>
              <a:rPr lang="en-US" b="1" dirty="0"/>
              <a:t>Demonstration of void with Dynamic Memory Allocation</a:t>
            </a:r>
            <a:br>
              <a:rPr lang="en-US" b="1" dirty="0"/>
            </a:br>
            <a:r>
              <a:rPr lang="en-US" b="1" dirty="0"/>
              <a:t/>
            </a:r>
            <a:br>
              <a:rPr lang="en-US" b="1" dirty="0"/>
            </a:br>
            <a:endParaRPr lang="en-US" dirty="0"/>
          </a:p>
        </p:txBody>
      </p:sp>
      <p:sp>
        <p:nvSpPr>
          <p:cNvPr id="3" name="Content Placeholder 2">
            <a:extLst>
              <a:ext uri="{FF2B5EF4-FFF2-40B4-BE49-F238E27FC236}">
                <a16:creationId xmlns:a16="http://schemas.microsoft.com/office/drawing/2014/main" id="{A83B76C1-FE2E-0809-398B-00DAB8A5F3AF}"/>
              </a:ext>
            </a:extLst>
          </p:cNvPr>
          <p:cNvSpPr>
            <a:spLocks noGrp="1"/>
          </p:cNvSpPr>
          <p:nvPr>
            <p:ph idx="1"/>
          </p:nvPr>
        </p:nvSpPr>
        <p:spPr>
          <a:xfrm>
            <a:off x="224851" y="989351"/>
            <a:ext cx="11797259" cy="5531370"/>
          </a:xfrm>
        </p:spPr>
        <p:txBody>
          <a:bodyPr/>
          <a:lstStyle/>
          <a:p>
            <a:pPr marL="0" indent="0">
              <a:buNone/>
            </a:pPr>
            <a:r>
              <a:rPr lang="en-US" b="1" dirty="0"/>
              <a:t>Problem Statement</a:t>
            </a:r>
          </a:p>
          <a:p>
            <a:pPr marL="0" indent="0">
              <a:buNone/>
            </a:pPr>
            <a:r>
              <a:rPr lang="en-US" dirty="0"/>
              <a:t>Write a program to allocate memory dynamically using a void pointer and store an integer value.</a:t>
            </a:r>
          </a:p>
          <a:p>
            <a:pPr marL="0" indent="0">
              <a:buNone/>
            </a:pPr>
            <a:r>
              <a:rPr lang="en-US" b="1" dirty="0"/>
              <a:t>Algorithm 5: void with malloc()</a:t>
            </a:r>
          </a:p>
          <a:p>
            <a:pPr marL="514350" indent="-514350">
              <a:buFont typeface="+mj-lt"/>
              <a:buAutoNum type="arabicPeriod"/>
            </a:pPr>
            <a:r>
              <a:rPr lang="en-US" dirty="0"/>
              <a:t>Start</a:t>
            </a:r>
          </a:p>
          <a:p>
            <a:pPr marL="514350" indent="-514350">
              <a:buFont typeface="+mj-lt"/>
              <a:buAutoNum type="arabicPeriod"/>
            </a:pPr>
            <a:r>
              <a:rPr lang="en-US" dirty="0"/>
              <a:t>Allocate memory using malloc()</a:t>
            </a:r>
          </a:p>
          <a:p>
            <a:pPr marL="514350" indent="-514350">
              <a:buFont typeface="+mj-lt"/>
              <a:buAutoNum type="arabicPeriod"/>
            </a:pPr>
            <a:r>
              <a:rPr lang="en-US" dirty="0"/>
              <a:t>Store the returned address in a void pointer</a:t>
            </a:r>
          </a:p>
          <a:p>
            <a:pPr marL="514350" indent="-514350">
              <a:buFont typeface="+mj-lt"/>
              <a:buAutoNum type="arabicPeriod"/>
            </a:pPr>
            <a:r>
              <a:rPr lang="en-US" dirty="0"/>
              <a:t>Type cast and assign an integer value</a:t>
            </a:r>
          </a:p>
          <a:p>
            <a:pPr marL="514350" indent="-514350">
              <a:buFont typeface="+mj-lt"/>
              <a:buAutoNum type="arabicPeriod"/>
            </a:pPr>
            <a:r>
              <a:rPr lang="en-US" dirty="0"/>
              <a:t>Display the value</a:t>
            </a:r>
          </a:p>
          <a:p>
            <a:pPr marL="514350" indent="-514350">
              <a:buFont typeface="+mj-lt"/>
              <a:buAutoNum type="arabicPeriod"/>
            </a:pPr>
            <a:r>
              <a:rPr lang="en-US" dirty="0"/>
              <a:t>Free the allocated memory</a:t>
            </a:r>
          </a:p>
          <a:p>
            <a:pPr marL="514350" indent="-514350">
              <a:buFont typeface="+mj-lt"/>
              <a:buAutoNum type="arabicPeriod"/>
            </a:pPr>
            <a:r>
              <a:rPr lang="en-US" dirty="0"/>
              <a:t>Stop</a:t>
            </a:r>
          </a:p>
          <a:p>
            <a:pPr marL="0" indent="0">
              <a:buNone/>
            </a:pPr>
            <a:endParaRPr lang="en-US" dirty="0"/>
          </a:p>
        </p:txBody>
      </p:sp>
    </p:spTree>
    <p:extLst>
      <p:ext uri="{BB962C8B-B14F-4D97-AF65-F5344CB8AC3E}">
        <p14:creationId xmlns:p14="http://schemas.microsoft.com/office/powerpoint/2010/main" val="38491382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6E56E-B29B-D13F-3B63-38B22EE2642F}"/>
              </a:ext>
            </a:extLst>
          </p:cNvPr>
          <p:cNvSpPr>
            <a:spLocks noGrp="1"/>
          </p:cNvSpPr>
          <p:nvPr>
            <p:ph type="title"/>
          </p:nvPr>
        </p:nvSpPr>
        <p:spPr>
          <a:xfrm>
            <a:off x="0" y="125283"/>
            <a:ext cx="10515600" cy="315912"/>
          </a:xfrm>
        </p:spPr>
        <p:txBody>
          <a:bodyPr>
            <a:normAutofit fontScale="90000"/>
          </a:bodyPr>
          <a:lstStyle/>
          <a:p>
            <a:r>
              <a:rPr lang="en-US" b="1" dirty="0"/>
              <a:t>void with malloc()</a:t>
            </a:r>
            <a:endParaRPr lang="en-US" dirty="0"/>
          </a:p>
        </p:txBody>
      </p:sp>
      <p:sp>
        <p:nvSpPr>
          <p:cNvPr id="3" name="Content Placeholder 2">
            <a:extLst>
              <a:ext uri="{FF2B5EF4-FFF2-40B4-BE49-F238E27FC236}">
                <a16:creationId xmlns:a16="http://schemas.microsoft.com/office/drawing/2014/main" id="{9E213A06-06E0-359D-4330-56DDD6A67682}"/>
              </a:ext>
            </a:extLst>
          </p:cNvPr>
          <p:cNvSpPr>
            <a:spLocks noGrp="1"/>
          </p:cNvSpPr>
          <p:nvPr>
            <p:ph idx="1"/>
          </p:nvPr>
        </p:nvSpPr>
        <p:spPr>
          <a:xfrm>
            <a:off x="179882" y="584616"/>
            <a:ext cx="11887200" cy="6148101"/>
          </a:xfrm>
        </p:spPr>
        <p:txBody>
          <a:bodyPr>
            <a:normAutofit fontScale="92500" lnSpcReduction="20000"/>
          </a:bodyPr>
          <a:lstStyle/>
          <a:p>
            <a:pPr marL="0" indent="0">
              <a:buNone/>
            </a:pPr>
            <a:r>
              <a:rPr lang="en-US" dirty="0"/>
              <a:t>#include &lt;</a:t>
            </a:r>
            <a:r>
              <a:rPr lang="en-US" dirty="0" err="1"/>
              <a:t>stdio.h</a:t>
            </a:r>
            <a:r>
              <a:rPr lang="en-US" dirty="0"/>
              <a:t>&gt;</a:t>
            </a:r>
          </a:p>
          <a:p>
            <a:pPr marL="0" indent="0">
              <a:buNone/>
            </a:pPr>
            <a:r>
              <a:rPr lang="en-US" dirty="0"/>
              <a:t>#include &lt;</a:t>
            </a:r>
            <a:r>
              <a:rPr lang="en-US" dirty="0" err="1"/>
              <a:t>stdlib.h</a:t>
            </a:r>
            <a:r>
              <a:rPr lang="en-US" dirty="0"/>
              <a:t>&gt;</a:t>
            </a:r>
          </a:p>
          <a:p>
            <a:pPr marL="0" indent="0">
              <a:buNone/>
            </a:pPr>
            <a:r>
              <a:rPr lang="en-US" dirty="0"/>
              <a:t>int main() {</a:t>
            </a:r>
          </a:p>
          <a:p>
            <a:pPr marL="0" indent="0">
              <a:buNone/>
            </a:pPr>
            <a:r>
              <a:rPr lang="en-US" dirty="0"/>
              <a:t>    void *</a:t>
            </a:r>
            <a:r>
              <a:rPr lang="en-US" dirty="0" err="1"/>
              <a:t>ptr</a:t>
            </a:r>
            <a:r>
              <a:rPr lang="en-US" dirty="0"/>
              <a:t>;</a:t>
            </a:r>
          </a:p>
          <a:p>
            <a:pPr marL="0" indent="0">
              <a:buNone/>
            </a:pPr>
            <a:r>
              <a:rPr lang="en-US" dirty="0"/>
              <a:t>    </a:t>
            </a:r>
            <a:r>
              <a:rPr lang="en-US" dirty="0" err="1"/>
              <a:t>ptr</a:t>
            </a:r>
            <a:r>
              <a:rPr lang="en-US" dirty="0"/>
              <a:t> = malloc(</a:t>
            </a:r>
            <a:r>
              <a:rPr lang="en-US" dirty="0" err="1"/>
              <a:t>sizeof</a:t>
            </a:r>
            <a:r>
              <a:rPr lang="en-US" dirty="0"/>
              <a:t>(int));</a:t>
            </a:r>
          </a:p>
          <a:p>
            <a:pPr marL="0" indent="0">
              <a:buNone/>
            </a:pPr>
            <a:r>
              <a:rPr lang="en-US" dirty="0"/>
              <a:t>    if (</a:t>
            </a:r>
            <a:r>
              <a:rPr lang="en-US" dirty="0" err="1"/>
              <a:t>ptr</a:t>
            </a:r>
            <a:r>
              <a:rPr lang="en-US" dirty="0"/>
              <a:t> == NULL) {</a:t>
            </a:r>
          </a:p>
          <a:p>
            <a:pPr marL="0" indent="0">
              <a:buNone/>
            </a:pPr>
            <a:r>
              <a:rPr lang="en-US" dirty="0"/>
              <a:t>        </a:t>
            </a:r>
            <a:r>
              <a:rPr lang="en-US" dirty="0" err="1"/>
              <a:t>printf</a:t>
            </a:r>
            <a:r>
              <a:rPr lang="en-US" dirty="0"/>
              <a:t>("Memory allocation failed\n");</a:t>
            </a:r>
          </a:p>
          <a:p>
            <a:pPr marL="0" indent="0">
              <a:buNone/>
            </a:pPr>
            <a:r>
              <a:rPr lang="en-US" dirty="0"/>
              <a:t>        return 1;</a:t>
            </a:r>
          </a:p>
          <a:p>
            <a:pPr marL="0" indent="0">
              <a:buNone/>
            </a:pPr>
            <a:r>
              <a:rPr lang="en-US" dirty="0"/>
              <a:t>    }</a:t>
            </a:r>
          </a:p>
          <a:p>
            <a:pPr marL="0" indent="0">
              <a:buNone/>
            </a:pPr>
            <a:r>
              <a:rPr lang="en-US" dirty="0"/>
              <a:t>    *(int *)</a:t>
            </a:r>
            <a:r>
              <a:rPr lang="en-US" dirty="0" err="1"/>
              <a:t>ptr</a:t>
            </a:r>
            <a:r>
              <a:rPr lang="en-US" dirty="0"/>
              <a:t> = 40;</a:t>
            </a:r>
          </a:p>
          <a:p>
            <a:pPr marL="0" indent="0">
              <a:buNone/>
            </a:pPr>
            <a:r>
              <a:rPr lang="en-US" dirty="0"/>
              <a:t>    </a:t>
            </a:r>
            <a:r>
              <a:rPr lang="en-US" dirty="0" err="1"/>
              <a:t>printf</a:t>
            </a:r>
            <a:r>
              <a:rPr lang="en-US" dirty="0"/>
              <a:t>("Stored value: %d\n", *(int *)</a:t>
            </a:r>
            <a:r>
              <a:rPr lang="en-US" dirty="0" err="1"/>
              <a:t>ptr</a:t>
            </a:r>
            <a:r>
              <a:rPr lang="en-US" dirty="0"/>
              <a:t>);</a:t>
            </a:r>
          </a:p>
          <a:p>
            <a:pPr marL="0" indent="0">
              <a:buNone/>
            </a:pPr>
            <a:r>
              <a:rPr lang="en-US" dirty="0"/>
              <a:t>    free(</a:t>
            </a:r>
            <a:r>
              <a:rPr lang="en-US" dirty="0" err="1"/>
              <a:t>ptr</a:t>
            </a:r>
            <a:r>
              <a:rPr lang="en-US" dirty="0"/>
              <a:t>);</a:t>
            </a:r>
          </a:p>
          <a:p>
            <a:pPr marL="0" indent="0">
              <a:buNone/>
            </a:pPr>
            <a:r>
              <a:rPr lang="en-US" dirty="0"/>
              <a:t>    return 0;</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17016910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8558A-BF98-CA07-A11E-5CFEE459DE25}"/>
              </a:ext>
            </a:extLst>
          </p:cNvPr>
          <p:cNvSpPr>
            <a:spLocks noGrp="1"/>
          </p:cNvSpPr>
          <p:nvPr>
            <p:ph type="title"/>
          </p:nvPr>
        </p:nvSpPr>
        <p:spPr/>
        <p:txBody>
          <a:bodyPr/>
          <a:lstStyle/>
          <a:p>
            <a:r>
              <a:rPr lang="en-US" dirty="0"/>
              <a:t>References </a:t>
            </a:r>
          </a:p>
        </p:txBody>
      </p:sp>
      <p:sp>
        <p:nvSpPr>
          <p:cNvPr id="3" name="Content Placeholder 2">
            <a:extLst>
              <a:ext uri="{FF2B5EF4-FFF2-40B4-BE49-F238E27FC236}">
                <a16:creationId xmlns:a16="http://schemas.microsoft.com/office/drawing/2014/main" id="{77C938F7-5EB6-939E-2558-170E8B3077E7}"/>
              </a:ext>
            </a:extLst>
          </p:cNvPr>
          <p:cNvSpPr>
            <a:spLocks noGrp="1"/>
          </p:cNvSpPr>
          <p:nvPr>
            <p:ph idx="1"/>
          </p:nvPr>
        </p:nvSpPr>
        <p:spPr/>
        <p:txBody>
          <a:bodyPr/>
          <a:lstStyle/>
          <a:p>
            <a:pPr marL="0" indent="0">
              <a:buNone/>
            </a:pPr>
            <a:r>
              <a:rPr lang="en-US" dirty="0">
                <a:hlinkClick r:id="rId2"/>
              </a:rPr>
              <a:t>https://www.w3schools.com/c/c_pointers.php</a:t>
            </a:r>
            <a:endParaRPr lang="en-US" dirty="0"/>
          </a:p>
          <a:p>
            <a:pPr marL="0" indent="0">
              <a:buNone/>
            </a:pPr>
            <a:endParaRPr lang="en-US" dirty="0"/>
          </a:p>
          <a:p>
            <a:pPr marL="0" indent="0">
              <a:buNone/>
            </a:pPr>
            <a:endParaRPr lang="en-US" dirty="0"/>
          </a:p>
          <a:p>
            <a:pPr marL="0" indent="0">
              <a:buNone/>
            </a:pPr>
            <a:r>
              <a:rPr lang="en-US" dirty="0">
                <a:hlinkClick r:id="rId3"/>
              </a:rPr>
              <a:t>https://www.w3schools.com/c/c_functions.php</a:t>
            </a:r>
            <a:endParaRPr lang="en-US" dirty="0"/>
          </a:p>
          <a:p>
            <a:pPr marL="0" indent="0">
              <a:buNone/>
            </a:pPr>
            <a:endParaRPr lang="en-US" dirty="0"/>
          </a:p>
        </p:txBody>
      </p:sp>
    </p:spTree>
    <p:extLst>
      <p:ext uri="{BB962C8B-B14F-4D97-AF65-F5344CB8AC3E}">
        <p14:creationId xmlns:p14="http://schemas.microsoft.com/office/powerpoint/2010/main" val="24563341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2121</TotalTime>
  <Words>2338</Words>
  <Application>Microsoft Office PowerPoint</Application>
  <PresentationFormat>Widescreen</PresentationFormat>
  <Paragraphs>553</Paragraphs>
  <Slides>68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68</vt:i4>
      </vt:variant>
    </vt:vector>
  </HeadingPairs>
  <TitlesOfParts>
    <vt:vector size="75" baseType="lpstr">
      <vt:lpstr>Algerian</vt:lpstr>
      <vt:lpstr>Aptos</vt:lpstr>
      <vt:lpstr>Aptos Display</vt:lpstr>
      <vt:lpstr>Arial</vt:lpstr>
      <vt:lpstr>Calibri</vt:lpstr>
      <vt:lpstr>Times New Roman</vt:lpstr>
      <vt:lpstr>Office Theme</vt:lpstr>
      <vt:lpstr>GROUP NUMBER 09</vt:lpstr>
      <vt:lpstr>PARTICIPANTS</vt:lpstr>
      <vt:lpstr>PARTICIPANTS</vt:lpstr>
      <vt:lpstr>PARTICIPANTS</vt:lpstr>
      <vt:lpstr>     Void and pointer</vt:lpstr>
      <vt:lpstr>C  POINTERS</vt:lpstr>
      <vt:lpstr> </vt:lpstr>
      <vt:lpstr>EXAMPLE 1…</vt:lpstr>
      <vt:lpstr>Example 1 explained</vt:lpstr>
      <vt:lpstr>CONT…</vt:lpstr>
      <vt:lpstr>CONT…</vt:lpstr>
      <vt:lpstr>CONT…</vt:lpstr>
      <vt:lpstr>Output of example 1</vt:lpstr>
      <vt:lpstr>Example 2 </vt:lpstr>
      <vt:lpstr>Output of Example 2 </vt:lpstr>
      <vt:lpstr>     </vt:lpstr>
      <vt:lpstr>Notes on Pointers </vt:lpstr>
      <vt:lpstr>C Pointers and Arrays</vt:lpstr>
      <vt:lpstr>Example of simple array Output</vt:lpstr>
      <vt:lpstr>C Pointers and Arrays</vt:lpstr>
      <vt:lpstr>How pointer access arrays example 1 Output</vt:lpstr>
      <vt:lpstr>How pointer access arrays example 1 Output Explained</vt:lpstr>
      <vt:lpstr>Size of (data_type)</vt:lpstr>
      <vt:lpstr>How pointer access arrays Example 2 </vt:lpstr>
      <vt:lpstr>How pointer access arrays Example 2 Output</vt:lpstr>
      <vt:lpstr>C Pointer Arithmetic </vt:lpstr>
      <vt:lpstr>C Pointer Arithmetic  example </vt:lpstr>
      <vt:lpstr>C Pointer Arithmetic  example output</vt:lpstr>
      <vt:lpstr>C Pointer Arithmetic</vt:lpstr>
      <vt:lpstr>Pointer Subtraction (Distance) </vt:lpstr>
      <vt:lpstr>Pointer Subtraction (Distance) example output</vt:lpstr>
      <vt:lpstr>Pointer Arithmetic Depends on Type </vt:lpstr>
      <vt:lpstr>Pointer Arithmetic Depends on Type example</vt:lpstr>
      <vt:lpstr>Pointer Arithmetic Depends on Type example output</vt:lpstr>
      <vt:lpstr>Pointer Arithmetic</vt:lpstr>
      <vt:lpstr>Looping with Pointers </vt:lpstr>
      <vt:lpstr>Looping with Pointers example output</vt:lpstr>
      <vt:lpstr>Common Mistakes to Avoid </vt:lpstr>
      <vt:lpstr>C Pointer to Pointer </vt:lpstr>
      <vt:lpstr>C Pointer to Pointer </vt:lpstr>
      <vt:lpstr>C Pointer to Pointer example output</vt:lpstr>
      <vt:lpstr>Changing Values Through a Pointer to Pointer </vt:lpstr>
      <vt:lpstr>Changing Values Through a Pointer-to-Pointer output</vt:lpstr>
      <vt:lpstr>ALOGARITHMS AND C CODE FOR DEMOSTRATE POINTERS</vt:lpstr>
      <vt:lpstr>FLOWCHART</vt:lpstr>
      <vt:lpstr>C PROGRAM</vt:lpstr>
      <vt:lpstr>Output of C program</vt:lpstr>
      <vt:lpstr>Meaning of void in C</vt:lpstr>
      <vt:lpstr>Uses of void in C</vt:lpstr>
      <vt:lpstr>void as a function return type </vt:lpstr>
      <vt:lpstr>void as a Function Return Type example</vt:lpstr>
      <vt:lpstr>void as a Function Return Type example explained</vt:lpstr>
      <vt:lpstr>void as a Function Return Type example output</vt:lpstr>
      <vt:lpstr>void in function parameters </vt:lpstr>
      <vt:lpstr>void in function parameters output</vt:lpstr>
      <vt:lpstr>void pointers </vt:lpstr>
      <vt:lpstr>void pointers output </vt:lpstr>
      <vt:lpstr>ALGORITHMS AND C PROGRAMS TO DEMONSTRATE void IN C</vt:lpstr>
      <vt:lpstr>Demonstration of void as a Function Return Type </vt:lpstr>
      <vt:lpstr>Demonstration of void as a Function Parameter</vt:lpstr>
      <vt:lpstr>Function With void Parameter </vt:lpstr>
      <vt:lpstr>Demonstration of void * Pointer and Type Casting</vt:lpstr>
      <vt:lpstr>void * with Type Casting </vt:lpstr>
      <vt:lpstr>Demonstration of void with sizeof (Indirect Usage)</vt:lpstr>
      <vt:lpstr>sizeof with void * </vt:lpstr>
      <vt:lpstr>Demonstration of void with Dynamic Memory Allocation  </vt:lpstr>
      <vt:lpstr>void with malloc()</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NUMBER 09</dc:title>
  <dc:creator>jonathan saimon</dc:creator>
  <cp:lastModifiedBy>elisha lubigisa</cp:lastModifiedBy>
  <cp:revision>28</cp:revision>
  <dcterms:created xsi:type="dcterms:W3CDTF">2025-12-12T22:30:36Z</dcterms:created>
  <dcterms:modified xsi:type="dcterms:W3CDTF">2025-12-16T14:53:31Z</dcterms:modified>
</cp:coreProperties>
</file>