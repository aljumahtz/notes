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3117-8850-4E42-A4F9-78813456C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AD46D-95FC-AF4A-B9AA-DA6B1628C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402C7-837E-7A4D-F33D-159454173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AD8A2-B1B9-6D76-F4B6-9095680C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B2281-136C-A52F-6581-E17C7D03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72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6D30-BA62-9CFD-2692-63EDB468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5DF8-D645-1D53-D51A-FA68351A8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259E9-5972-E0C1-F915-17D2A258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57E40-0D78-B427-490B-05564B8C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F802-EA66-649B-F2DE-03D41041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9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2CD6-464F-0425-45DD-9BAB7633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3762C-7F17-1067-E658-E3668EE92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C77DC-5358-AFF8-8686-EB7C6B3F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0F27C-1DFF-4574-5582-B1956F29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EE53-A681-DCB6-49B8-09A0D9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5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2975-C21C-FD65-4A0A-FA2CB807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90DD-B049-D438-9B00-3075279C8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1CEAE-E024-A627-E0D7-7211778B9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08958-4297-A7BA-3DAF-D53D65E5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CBB20-6C4F-2105-AFB6-BDA1CAE9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209DB-6A7D-EFAA-C700-7E9F8310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4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2D3C-876B-2620-5562-80EDA176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16818-EF82-9A40-E625-ABBFAF7C6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95DD-E9E4-D082-1683-4807153BC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B247A-1F2D-3D74-3CD9-718B7A8B3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F4F5E-82EA-6380-ADD9-C5D265E8A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26996-A394-6F54-C888-9C5A3699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66E65-B8E6-6414-18C0-EA3324CF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58811-BE1E-7BF3-0088-73FFD8B1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6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50F-1B4C-F793-A81F-14155FC1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9C5F2-E122-68D1-3A82-629D90B7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9C86-8240-DCC6-EBE3-5D8BA321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B5FA4-9475-4B4E-EA92-05553341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0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385B64-FF43-30B6-3F79-36D33EB5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50E4E-00CD-5951-4D4C-71040AC9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028BC-1FCE-173B-DD45-8F7B8E0C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2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35BA-0B5F-2000-9727-47F75783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0D4A-9AE0-447B-869E-780BA564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D3F17-462C-1238-F3D9-5EA8BBE3C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FF41C-4F1C-BA69-372C-A7FFD095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0328-6B6E-A1B5-CAF5-F0DD1BCDC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E2C63-D243-97F3-F6A0-1A98EEFB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2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1161-224C-2FD1-FB85-5ECC1880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C01C8E-CBD2-9542-458D-C4C9A5CFA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90222-6814-C6F3-4815-2D10CB28C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62250-0D14-94D2-41DF-F6713E14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8FEBF-AAD6-34A8-07B5-F65FD196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752E8-8265-D200-508F-13CB23F0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7611-F8B9-3D65-D338-58F7F049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CB17F-9B6F-89D5-DC8C-2342C5A21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01AE5-911F-1152-31A1-AEF7C949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BC09A-7C70-7F9F-6FE1-8EB09FD6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F181B-9D37-2C13-EC86-3C1A1B56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8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45078-16A8-7211-E915-8CF632822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02856-FC81-3F23-2E88-75B64BCD5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69798-E2F6-EA72-0167-7A864D8CE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65B94-1662-EFAE-F98B-A5D91D2B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43117-35A1-C4F4-64B8-01AF97C8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3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3AA53-225C-DD53-FA8F-D65A9552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60D92-39A8-4EDF-6A87-5E22B43E1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AEFDE-854A-5C17-7CA5-630E307C0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11F54-8427-463D-8E6C-3A17AC8E77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CFE1-3D1A-D49E-9DC0-B10EAB6C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EAC09-222B-1987-F08A-D9BEB7BE5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1031B-02CB-48EE-9D40-75A525BF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9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E7F6-94CD-63A1-CC03-CBD2521F30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</a:t>
            </a:r>
            <a:br>
              <a:rPr lang="en-US" dirty="0"/>
            </a:br>
            <a:r>
              <a:rPr lang="en-US" dirty="0"/>
              <a:t>PRIMITIVE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68F0F-9242-1311-9965-2ECEAF20E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POWERED BY GROUP NO 2</a:t>
            </a:r>
          </a:p>
        </p:txBody>
      </p:sp>
    </p:spTree>
    <p:extLst>
      <p:ext uri="{BB962C8B-B14F-4D97-AF65-F5344CB8AC3E}">
        <p14:creationId xmlns:p14="http://schemas.microsoft.com/office/powerpoint/2010/main" val="484237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44D9-5F00-AC7C-AF94-0987C1EF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1.Integer Primitive Data Structure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31EF-C95A-572E-E8C6-60A9025D0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61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Definition and Characteristics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sz="2400" dirty="0"/>
              <a:t>An </a:t>
            </a:r>
            <a:r>
              <a:rPr lang="en-US" sz="2400" b="1" dirty="0"/>
              <a:t>Integer</a:t>
            </a:r>
            <a:r>
              <a:rPr lang="en-US" sz="2400" dirty="0"/>
              <a:t> is a primitive data type used to represent whole numbers (positive or negative).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Characteristics</a:t>
            </a:r>
          </a:p>
          <a:p>
            <a:pPr lvl="0"/>
            <a:r>
              <a:rPr lang="en-US" sz="2400" b="1" dirty="0"/>
              <a:t>Values:</a:t>
            </a:r>
            <a:r>
              <a:rPr lang="en-US" sz="2400" dirty="0"/>
              <a:t> Can be used with whole numbers (positive or negative).</a:t>
            </a:r>
          </a:p>
          <a:p>
            <a:pPr lvl="0"/>
            <a:r>
              <a:rPr lang="en-US" sz="2400" b="1" dirty="0"/>
              <a:t>Operations:</a:t>
            </a:r>
            <a:r>
              <a:rPr lang="en-US" sz="2400" dirty="0"/>
              <a:t> Basic operations like addition, subtraction, multiplication, etc., can be performed on it.</a:t>
            </a:r>
          </a:p>
          <a:p>
            <a:r>
              <a:rPr lang="en-US" sz="2400" b="1" dirty="0"/>
              <a:t>Storage:</a:t>
            </a:r>
            <a:r>
              <a:rPr lang="en-US" sz="2400" dirty="0"/>
              <a:t> Typically holds a single, simple value</a:t>
            </a:r>
          </a:p>
          <a:p>
            <a:r>
              <a:rPr lang="en-US" sz="2400" b="1" dirty="0"/>
              <a:t>Memory:</a:t>
            </a:r>
            <a:r>
              <a:rPr lang="en-US" sz="2400" dirty="0"/>
              <a:t> Usually stored in the </a:t>
            </a:r>
            <a:r>
              <a:rPr lang="en-US" sz="2400" b="1" dirty="0"/>
              <a:t>stack memory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548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01F5-936C-EAFB-3A95-746D0970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DC20-A38D-5EFB-33A0-430ECD5D9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Mutability:</a:t>
            </a:r>
            <a:r>
              <a:rPr lang="en-US" sz="2400" dirty="0"/>
              <a:t> Generally </a:t>
            </a:r>
            <a:r>
              <a:rPr lang="en-US" sz="2400" b="1" dirty="0"/>
              <a:t>immutable</a:t>
            </a:r>
            <a:r>
              <a:rPr lang="en-US" sz="2400" dirty="0"/>
              <a:t>, meaning its value cannot be changed once created (though its variable can be assigned a new value)</a:t>
            </a:r>
            <a:r>
              <a:rPr lang="en-US" sz="2400" baseline="30000" dirty="0"/>
              <a:t>7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b="1" dirty="0"/>
              <a:t>               Algorithm Concept</a:t>
            </a:r>
            <a:endParaRPr lang="en-US" dirty="0"/>
          </a:p>
          <a:p>
            <a:r>
              <a:rPr lang="en-US" sz="2400" dirty="0"/>
              <a:t>Since an integer is a single, simple value, an algorithm for its operation usually involves basic arithmetic. A simple example is an algorithm for </a:t>
            </a:r>
            <a:r>
              <a:rPr lang="en-US" sz="2400" b="1" dirty="0"/>
              <a:t>Adding Two Integers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b="1" dirty="0"/>
              <a:t>Example 01</a:t>
            </a:r>
          </a:p>
          <a:p>
            <a:pPr lvl="2"/>
            <a:r>
              <a:rPr lang="en-US" sz="2200" b="1" dirty="0"/>
              <a:t>Algorithm: Adding Two Integers by using pseudo code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Start.</a:t>
            </a:r>
            <a:endParaRPr lang="en-US" sz="2400" dirty="0"/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Input:</a:t>
            </a:r>
            <a:r>
              <a:rPr lang="en-US" sz="2400" dirty="0"/>
              <a:t> Get the first integer value, A.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40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B949-D6A2-37CE-605B-7B779891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6989-8AC1-3D0D-E0E8-6D9896D86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5018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b="1" dirty="0"/>
              <a:t>3.   Input:</a:t>
            </a:r>
            <a:r>
              <a:rPr lang="en-US" sz="2400" dirty="0"/>
              <a:t> Get the second integer value, B.</a:t>
            </a:r>
          </a:p>
          <a:p>
            <a:pPr marL="0" lvl="0" indent="0">
              <a:buNone/>
            </a:pPr>
            <a:r>
              <a:rPr lang="en-US" sz="2400" b="1" dirty="0"/>
              <a:t>4.   Process:</a:t>
            </a:r>
            <a:r>
              <a:rPr lang="en-US" sz="2400" dirty="0"/>
              <a:t> Calculate the sum, S = A + B.</a:t>
            </a:r>
          </a:p>
          <a:p>
            <a:pPr marL="0" lvl="0" indent="0">
              <a:buNone/>
            </a:pPr>
            <a:r>
              <a:rPr lang="en-US" sz="2400" b="1" dirty="0"/>
              <a:t>5.  Output:</a:t>
            </a:r>
            <a:r>
              <a:rPr lang="en-US" sz="2400" dirty="0"/>
              <a:t> Display the result, S.</a:t>
            </a:r>
          </a:p>
          <a:p>
            <a:pPr marL="0" lvl="0" indent="0">
              <a:buNone/>
            </a:pPr>
            <a:r>
              <a:rPr lang="en-US" sz="2400" b="1" dirty="0"/>
              <a:t>6.  Stop.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b="1" dirty="0"/>
              <a:t>C Programming Example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Here is a C code snippet that implements the algorithm for adding two            integers, as requested for the assignment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5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C585-9FEC-E97A-D892-D7168228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8A5A2-CAAB-260E-2585-D041181E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858"/>
            <a:ext cx="10515600" cy="54791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#include 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int main()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int A, B, S;  // Declare integer variables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   // Input values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 </a:t>
            </a:r>
            <a:r>
              <a:rPr lang="en-US" sz="2000" dirty="0" err="1"/>
              <a:t>printf</a:t>
            </a:r>
            <a:r>
              <a:rPr lang="en-US" sz="2000" dirty="0"/>
              <a:t>("Enter the first integer (A): 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</a:t>
            </a:r>
            <a:r>
              <a:rPr lang="en-US" sz="2000" dirty="0" err="1"/>
              <a:t>scanf</a:t>
            </a:r>
            <a:r>
              <a:rPr lang="en-US" sz="2000" dirty="0"/>
              <a:t>("%d", &amp;A);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</a:t>
            </a:r>
            <a:r>
              <a:rPr lang="en-US" sz="2000" dirty="0" err="1"/>
              <a:t>printf</a:t>
            </a:r>
            <a:r>
              <a:rPr lang="en-US" sz="2000" dirty="0"/>
              <a:t>("Enter the second integer (B): 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scanf</a:t>
            </a:r>
            <a:r>
              <a:rPr lang="en-US" sz="2000" dirty="0"/>
              <a:t>("%d", &amp;B);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 // Step 4: Process - Calculate the sum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83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5C49-180A-E846-F71E-69CEB8EF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90AAD-B4B8-BD27-F327-42B62B1F9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740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S = A + B;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// Step 5: Output the result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printf</a:t>
            </a:r>
            <a:r>
              <a:rPr lang="en-US" sz="2000" dirty="0"/>
              <a:t>("The sum of %d and %d is: %d\n", A, B, S);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 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// Step 6: Stop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return 0;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              }</a:t>
            </a:r>
          </a:p>
        </p:txBody>
      </p:sp>
    </p:spTree>
    <p:extLst>
      <p:ext uri="{BB962C8B-B14F-4D97-AF65-F5344CB8AC3E}">
        <p14:creationId xmlns:p14="http://schemas.microsoft.com/office/powerpoint/2010/main" val="1721627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4468-C126-3236-CDF5-D013ABE3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6B2A-7F35-E4B2-6F8F-9162B2C0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7404"/>
          </a:xfrm>
        </p:spPr>
        <p:txBody>
          <a:bodyPr>
            <a:normAutofit/>
          </a:bodyPr>
          <a:lstStyle/>
          <a:p>
            <a:r>
              <a:rPr lang="en-US" sz="2400" dirty="0"/>
              <a:t>A simple algorithm demonstrating the Integer data structure is to </a:t>
            </a:r>
            <a:r>
              <a:rPr lang="en-US" sz="2400" b="1" dirty="0"/>
              <a:t>Find the Area of a Rectangle</a:t>
            </a:r>
            <a:r>
              <a:rPr lang="en-US" sz="2400" dirty="0"/>
              <a:t>, which involves multiplication.</a:t>
            </a:r>
          </a:p>
          <a:p>
            <a:r>
              <a:rPr lang="en-US" sz="2400" b="1" dirty="0"/>
              <a:t>Algorithm: Find the Area of a Rectangle</a:t>
            </a:r>
            <a:endParaRPr lang="en-US" sz="24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/>
              <a:t>Start.</a:t>
            </a:r>
            <a:endParaRPr lang="en-US" sz="2400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/>
              <a:t>Input:</a:t>
            </a:r>
            <a:r>
              <a:rPr lang="en-US" sz="2400" dirty="0"/>
              <a:t> Get the length, L, as an integer.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/>
              <a:t>Input:</a:t>
            </a:r>
            <a:r>
              <a:rPr lang="en-US" sz="2400" dirty="0"/>
              <a:t> Get the width, W, as an integer.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/>
              <a:t>Process:</a:t>
            </a:r>
            <a:r>
              <a:rPr lang="en-US" sz="2400" dirty="0"/>
              <a:t> Calculate the area, A, by multiplying the length and width </a:t>
            </a:r>
          </a:p>
          <a:p>
            <a:pPr marL="0" lvl="0" indent="0">
              <a:buNone/>
            </a:pPr>
            <a:r>
              <a:rPr lang="en-US" sz="2400" dirty="0"/>
              <a:t>           (A = L * W).</a:t>
            </a:r>
          </a:p>
          <a:p>
            <a:pPr marL="0" lvl="0" indent="0">
              <a:buNone/>
            </a:pPr>
            <a:r>
              <a:rPr lang="en-US" sz="2400" b="1" dirty="0"/>
              <a:t>5.   Output:</a:t>
            </a:r>
            <a:r>
              <a:rPr lang="en-US" sz="2400" dirty="0"/>
              <a:t> Display the result, A.</a:t>
            </a:r>
          </a:p>
          <a:p>
            <a:pPr marL="0" lvl="0" indent="0">
              <a:buNone/>
            </a:pPr>
            <a:r>
              <a:rPr lang="en-US" sz="2400" b="1" dirty="0"/>
              <a:t>6.  Stop.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30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551A-686F-1967-2307-E1F8F687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6F969-C0ED-774F-7BAD-9AF0B3F66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886"/>
            <a:ext cx="10515600" cy="508498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 Programming 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Here is a simple C code snippet that implements the algorithm to calculate the area using the int data type.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int main()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int length, width, area; // Declare integer variable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 Area of a Rectangle Calculator \n");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// 2. Input: Get length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the length:");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 &amp;length);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793129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2923-B819-F95E-A459-4556B769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4E41-5B16-41EB-80C8-7E85183AA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343"/>
            <a:ext cx="10515600" cy="51285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// 3. Input: Get width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printf</a:t>
            </a:r>
            <a:r>
              <a:rPr lang="en-US" sz="2200" dirty="0"/>
              <a:t>("Enter the width: ");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scanf</a:t>
            </a:r>
            <a:r>
              <a:rPr lang="en-US" sz="2200" dirty="0"/>
              <a:t>("%d", &amp;width);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// 4. Process: Calculate the area</a:t>
            </a:r>
          </a:p>
          <a:p>
            <a:pPr marL="0" indent="0">
              <a:buNone/>
            </a:pPr>
            <a:r>
              <a:rPr lang="en-US" sz="2200" dirty="0"/>
              <a:t>    area = length * width; </a:t>
            </a:r>
          </a:p>
          <a:p>
            <a:pPr marL="0" indent="0">
              <a:buNone/>
            </a:pPr>
            <a:r>
              <a:rPr lang="en-US" sz="2200" dirty="0"/>
              <a:t>    // 5. Output: Display the result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printf</a:t>
            </a:r>
            <a:r>
              <a:rPr lang="en-US" sz="2200" dirty="0"/>
              <a:t>("\</a:t>
            </a:r>
            <a:r>
              <a:rPr lang="en-US" sz="2200" dirty="0" err="1"/>
              <a:t>nLength</a:t>
            </a:r>
            <a:r>
              <a:rPr lang="en-US" sz="2200" dirty="0"/>
              <a:t>: %d\n", length);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printf</a:t>
            </a:r>
            <a:r>
              <a:rPr lang="en-US" sz="2200" dirty="0"/>
              <a:t>("Width: %d\n", width);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printf</a:t>
            </a:r>
            <a:r>
              <a:rPr lang="en-US" sz="2200" dirty="0"/>
              <a:t>("The Area of the rectangle is: %d\n", area);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   return 0;</a:t>
            </a:r>
          </a:p>
          <a:p>
            <a:pPr marL="0" indent="0">
              <a:buNone/>
            </a:pPr>
            <a:r>
              <a:rPr lang="en-US" sz="2200" dirty="0"/>
              <a:t>   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70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959B3-78EF-9292-6AB3-6AE0DDB4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2.Float Primitive Data Structure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5CEC0-C8E9-5521-23B4-1DC0E2FF3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971"/>
            <a:ext cx="10515600" cy="4997904"/>
          </a:xfrm>
        </p:spPr>
        <p:txBody>
          <a:bodyPr/>
          <a:lstStyle/>
          <a:p>
            <a:r>
              <a:rPr lang="en-US" b="1" dirty="0"/>
              <a:t>Definition and Characteristics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Float</a:t>
            </a:r>
            <a:r>
              <a:rPr lang="en-US" sz="2400" dirty="0"/>
              <a:t> (or floating-point) is a primitive data structure used to represent numbers with decimals.</a:t>
            </a:r>
          </a:p>
          <a:p>
            <a:pPr marL="0" indent="0">
              <a:buNone/>
            </a:pPr>
            <a:r>
              <a:rPr lang="en-US" sz="2400" dirty="0"/>
              <a:t>                       </a:t>
            </a:r>
            <a:r>
              <a:rPr lang="en-US" sz="2400" b="1" dirty="0"/>
              <a:t>characteristics</a:t>
            </a:r>
          </a:p>
          <a:p>
            <a:pPr lvl="0"/>
            <a:r>
              <a:rPr lang="en-US" sz="2400" b="1" dirty="0"/>
              <a:t>Values:</a:t>
            </a:r>
            <a:r>
              <a:rPr lang="en-US" sz="2400" dirty="0"/>
              <a:t> Represents numbers with fractional parts, like 3.14 or -0.005.</a:t>
            </a:r>
          </a:p>
          <a:p>
            <a:pPr lvl="0"/>
            <a:r>
              <a:rPr lang="en-US" sz="2400" b="1" dirty="0"/>
              <a:t>Storage:</a:t>
            </a:r>
            <a:r>
              <a:rPr lang="en-US" sz="2400" dirty="0"/>
              <a:t> Holds a single, simple value.</a:t>
            </a:r>
          </a:p>
          <a:p>
            <a:pPr lvl="0"/>
            <a:r>
              <a:rPr lang="en-US" sz="2400" b="1" dirty="0"/>
              <a:t>Memory:</a:t>
            </a:r>
            <a:r>
              <a:rPr lang="en-US" sz="2400" dirty="0"/>
              <a:t> Usually stored in the </a:t>
            </a:r>
            <a:r>
              <a:rPr lang="en-US" sz="2400" b="1" dirty="0"/>
              <a:t>stack memory</a:t>
            </a:r>
            <a:r>
              <a:rPr lang="en-US" sz="2400" dirty="0"/>
              <a:t>.</a:t>
            </a:r>
          </a:p>
          <a:p>
            <a:pPr lvl="0"/>
            <a:r>
              <a:rPr lang="en-US" sz="2400" b="1" dirty="0"/>
              <a:t>Operations:</a:t>
            </a:r>
            <a:r>
              <a:rPr lang="en-US" sz="2400" dirty="0"/>
              <a:t> Used for arithmetic operations that require high precision or may result in a non-whole number (division, square root, etc.).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734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3997-6BB5-C9EC-8E85-997E644F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377F4-454E-9000-C1EB-CA63C67C1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5026932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/>
              <a:t>Algorithm Concept  (example 01)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A common use for floating-point numbers is calculating averages, which typically involves division. Let's create an algorithm to </a:t>
            </a:r>
            <a:r>
              <a:rPr lang="en-US" sz="2600" b="1" dirty="0"/>
              <a:t>Calculate the Average of Three Test Scores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b="1" dirty="0"/>
              <a:t>                        Algorithm: Calculate the Average of Three Scores</a:t>
            </a:r>
            <a:endParaRPr lang="en-US" sz="2600" dirty="0"/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Start.</a:t>
            </a:r>
            <a:endParaRPr lang="en-US" sz="2600" dirty="0"/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Input:</a:t>
            </a:r>
            <a:r>
              <a:rPr lang="en-US" sz="2600" dirty="0"/>
              <a:t> Get three test scores, S1, S2, and S3, as  floats.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Process (Sum):</a:t>
            </a:r>
            <a:r>
              <a:rPr lang="en-US" sz="2600" dirty="0"/>
              <a:t> Calculate the total sum, T = S1 + S2 + S3.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Process (Average):</a:t>
            </a:r>
            <a:r>
              <a:rPr lang="en-US" sz="2600" dirty="0"/>
              <a:t> Calculate the average, A, by dividing the total sum by 3. A = T / 3. (Since the result might be a decimal, A must be a float.)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Output:</a:t>
            </a:r>
            <a:r>
              <a:rPr lang="en-US" sz="2600" dirty="0"/>
              <a:t> Display the calculated average, 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Stop.</a:t>
            </a: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29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EED5-7504-9A89-3175-F631D2A7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C8E5-B2A2-9C5A-74E5-4DC2D2A57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501241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 Programming 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C code uses the float data type for the division result to maintain precision.</a:t>
            </a:r>
          </a:p>
          <a:p>
            <a:pPr marL="0" indent="0">
              <a:buNone/>
            </a:pPr>
            <a:r>
              <a:rPr lang="en-US" sz="2400" dirty="0"/>
              <a:t>     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     int main() {</a:t>
            </a:r>
          </a:p>
          <a:p>
            <a:pPr marL="0" indent="0">
              <a:buNone/>
            </a:pPr>
            <a:r>
              <a:rPr lang="en-US" sz="2400" b="1" dirty="0"/>
              <a:t>       float</a:t>
            </a:r>
            <a:r>
              <a:rPr lang="en-US" sz="2400" dirty="0"/>
              <a:t> S1, S2, S3;   // Test scores can be float to handle decimals</a:t>
            </a:r>
          </a:p>
          <a:p>
            <a:pPr marL="0" indent="0">
              <a:buNone/>
            </a:pPr>
            <a:r>
              <a:rPr lang="en-US" sz="2400" b="1" dirty="0"/>
              <a:t>       float</a:t>
            </a:r>
            <a:r>
              <a:rPr lang="en-US" sz="2400" dirty="0"/>
              <a:t> Total, Average;         // Total sum and average</a:t>
            </a:r>
          </a:p>
          <a:p>
            <a:pPr marL="0" indent="0">
              <a:buNone/>
            </a:pPr>
            <a:r>
              <a:rPr lang="en-US" sz="2400" dirty="0"/>
              <a:t>      // Step 2: Input three scores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printf</a:t>
            </a:r>
            <a:r>
              <a:rPr lang="en-US" sz="2400" dirty="0"/>
              <a:t>("Enter first score (S1): ");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scanf</a:t>
            </a:r>
            <a:r>
              <a:rPr lang="en-US" sz="2400" dirty="0"/>
              <a:t>("%f", &amp;S1);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printf</a:t>
            </a:r>
            <a:r>
              <a:rPr lang="en-US" sz="2400" dirty="0"/>
              <a:t>("Enter second score (S2): ");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scanf</a:t>
            </a:r>
            <a:r>
              <a:rPr lang="en-US" sz="2400" dirty="0"/>
              <a:t>("%f", &amp;S2);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printf</a:t>
            </a:r>
            <a:r>
              <a:rPr lang="en-US" sz="2400" dirty="0"/>
              <a:t>("Enter third score (S3): ");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scanf</a:t>
            </a:r>
            <a:r>
              <a:rPr lang="en-US" sz="2400" dirty="0"/>
              <a:t>("%f", &amp;S3);</a:t>
            </a:r>
          </a:p>
        </p:txBody>
      </p:sp>
    </p:spTree>
    <p:extLst>
      <p:ext uri="{BB962C8B-B14F-4D97-AF65-F5344CB8AC3E}">
        <p14:creationId xmlns:p14="http://schemas.microsoft.com/office/powerpoint/2010/main" val="399173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F1B2-07E0-2CE0-54B9-960BBBEF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AE96-EE25-B343-0791-2068EDDD4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   // Step 3: Process (Sum)</a:t>
            </a:r>
          </a:p>
          <a:p>
            <a:pPr marL="0" indent="0">
              <a:buNone/>
            </a:pPr>
            <a:r>
              <a:rPr lang="en-US" sz="2000" b="1" dirty="0"/>
              <a:t>       Total</a:t>
            </a:r>
            <a:r>
              <a:rPr lang="en-US" sz="2000" dirty="0"/>
              <a:t> = S1 + S2 + S3;</a:t>
            </a:r>
          </a:p>
          <a:p>
            <a:pPr marL="0" indent="0">
              <a:buNone/>
            </a:pPr>
            <a:r>
              <a:rPr lang="en-US" sz="2000" dirty="0"/>
              <a:t>       // Step 4: Process (Average)</a:t>
            </a:r>
          </a:p>
          <a:p>
            <a:pPr marL="0" indent="0">
              <a:buNone/>
            </a:pPr>
            <a:r>
              <a:rPr lang="en-US" sz="2000" b="1" dirty="0"/>
              <a:t>        Average</a:t>
            </a:r>
            <a:r>
              <a:rPr lang="en-US" sz="2000" dirty="0"/>
              <a:t>= Total / 3;</a:t>
            </a:r>
          </a:p>
          <a:p>
            <a:pPr marL="0" indent="0">
              <a:buNone/>
            </a:pPr>
            <a:r>
              <a:rPr lang="en-US" sz="2000" dirty="0"/>
              <a:t>       // Step 5: Output the result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printf</a:t>
            </a:r>
            <a:r>
              <a:rPr lang="en-US" sz="2000" dirty="0"/>
              <a:t>("\</a:t>
            </a:r>
            <a:r>
              <a:rPr lang="en-US" sz="2000" dirty="0" err="1"/>
              <a:t>nScores</a:t>
            </a:r>
            <a:r>
              <a:rPr lang="en-US" sz="2000" dirty="0"/>
              <a:t>: %.2f, %.2f, %.2f\n", S1, S2, S3);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printf</a:t>
            </a:r>
            <a:r>
              <a:rPr lang="en-US" sz="2000" dirty="0"/>
              <a:t>("Total Sum (T): %.2f\n", Total);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printf</a:t>
            </a:r>
            <a:r>
              <a:rPr lang="en-US" sz="2000" dirty="0"/>
              <a:t>("Average (A): %.2f\n", Average);</a:t>
            </a:r>
          </a:p>
          <a:p>
            <a:pPr marL="0" indent="0">
              <a:buNone/>
            </a:pPr>
            <a:r>
              <a:rPr lang="en-US" sz="2000" dirty="0"/>
              <a:t>        // Step 6: Stop</a:t>
            </a:r>
          </a:p>
          <a:p>
            <a:pPr marL="0" indent="0">
              <a:buNone/>
            </a:pPr>
            <a:r>
              <a:rPr lang="en-US" sz="2000" dirty="0"/>
              <a:t>     return 0;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794224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7DC1-8E3B-3D34-CC06-386C6FF8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D4526-7E45-BC8B-D828-E1FDCCA5B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2400"/>
                <a:ext cx="10515600" cy="5225143"/>
              </a:xfrm>
            </p:spPr>
            <p:txBody>
              <a:bodyPr/>
              <a:lstStyle/>
              <a:p>
                <a:r>
                  <a:rPr lang="en-US" sz="2400" b="1" dirty="0"/>
                  <a:t>Algorithm: Calculate the Area of a Circle</a:t>
                </a:r>
                <a:endParaRPr lang="en-US" sz="2400" dirty="0"/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b="1" dirty="0"/>
                  <a:t>Start</a:t>
                </a:r>
                <a:endParaRPr lang="en-US" sz="2400" dirty="0"/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b="1" dirty="0"/>
                  <a:t>Input</a:t>
                </a:r>
                <a:r>
                  <a:rPr lang="en-US" sz="2400" dirty="0"/>
                  <a:t>: Get the radius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of the circle (float).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b="1" dirty="0"/>
                  <a:t>Process</a:t>
                </a:r>
                <a:r>
                  <a:rPr lang="en-US" sz="2400" dirty="0"/>
                  <a:t>: Calculate the area using the formula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b="1" dirty="0"/>
                  <a:t>Output</a:t>
                </a:r>
                <a:r>
                  <a:rPr lang="en-US" sz="2400" dirty="0"/>
                  <a:t>: Display the area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b="1" dirty="0"/>
                  <a:t>Stop</a:t>
                </a:r>
              </a:p>
              <a:p>
                <a:pPr marL="0" lvl="0" indent="0">
                  <a:buNone/>
                </a:pPr>
                <a:endParaRPr lang="en-US" sz="2400" b="1" dirty="0"/>
              </a:p>
              <a:p>
                <a:pPr marL="0" lvl="0" indent="0">
                  <a:buNone/>
                </a:pPr>
                <a:endParaRPr lang="en-US" sz="2400" b="1" dirty="0"/>
              </a:p>
              <a:p>
                <a:pPr marL="0" lvl="0" indent="0">
                  <a:buNone/>
                </a:pPr>
                <a:r>
                  <a:rPr lang="en-US" sz="2400" b="1" dirty="0"/>
                  <a:t>C programming example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8D4526-7E45-BC8B-D828-E1FDCCA5B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2400"/>
                <a:ext cx="10515600" cy="5225143"/>
              </a:xfrm>
              <a:blipFill>
                <a:blip r:embed="rId2"/>
                <a:stretch>
                  <a:fillRect l="-928" t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079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4B52-7E0D-99D5-3D9C-BCAE641B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A63B-885C-5D6B-E0A2-77352CC5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5268686"/>
          </a:xfrm>
        </p:spPr>
        <p:txBody>
          <a:bodyPr>
            <a:normAutofit/>
          </a:bodyPr>
          <a:lstStyle/>
          <a:p>
            <a:r>
              <a:rPr lang="en-US" sz="2000" dirty="0"/>
              <a:t>#include 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     #define PI 3.14159   // Define constant value for π</a:t>
            </a:r>
          </a:p>
          <a:p>
            <a:pPr marL="0" indent="0">
              <a:buNone/>
            </a:pPr>
            <a:r>
              <a:rPr lang="en-US" sz="2000" dirty="0"/>
              <a:t>        int main() {</a:t>
            </a:r>
          </a:p>
          <a:p>
            <a:pPr marL="0" indent="0">
              <a:buNone/>
            </a:pPr>
            <a:r>
              <a:rPr lang="en-US" sz="2000" dirty="0"/>
              <a:t>    float r, A;  // Radius and Area as float</a:t>
            </a:r>
          </a:p>
          <a:p>
            <a:pPr marL="0" indent="0">
              <a:buNone/>
            </a:pPr>
            <a:r>
              <a:rPr lang="en-US" sz="2000" dirty="0"/>
              <a:t>       // Step 2: Input radius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printf</a:t>
            </a:r>
            <a:r>
              <a:rPr lang="en-US" sz="2000" dirty="0"/>
              <a:t>("Enter the radius of the circle: ");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scanf</a:t>
            </a:r>
            <a:r>
              <a:rPr lang="en-US" sz="2000" dirty="0"/>
              <a:t>("%f", &amp;r);</a:t>
            </a:r>
          </a:p>
          <a:p>
            <a:pPr marL="0" indent="0">
              <a:buNone/>
            </a:pPr>
            <a:r>
              <a:rPr lang="en-US" sz="2000" dirty="0"/>
              <a:t>         // Step 3: Process - Calculate area</a:t>
            </a:r>
          </a:p>
          <a:p>
            <a:pPr marL="0" indent="0">
              <a:buNone/>
            </a:pPr>
            <a:r>
              <a:rPr lang="en-US" sz="2000" dirty="0"/>
              <a:t>        A = PI  *  r  *  r;</a:t>
            </a:r>
          </a:p>
          <a:p>
            <a:pPr marL="0" indent="0">
              <a:buNone/>
            </a:pPr>
            <a:r>
              <a:rPr lang="en-US" sz="2000" dirty="0"/>
              <a:t>      // Step 4: Output result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printf</a:t>
            </a:r>
            <a:r>
              <a:rPr lang="en-US" sz="2000" dirty="0"/>
              <a:t>("Radius: %.2f\n", r);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printf</a:t>
            </a:r>
            <a:r>
              <a:rPr lang="en-US" sz="2000" dirty="0"/>
              <a:t>("Area of the circle: %.2f\n", A);</a:t>
            </a:r>
          </a:p>
          <a:p>
            <a:pPr marL="0" indent="0">
              <a:buNone/>
            </a:pPr>
            <a:r>
              <a:rPr lang="en-US" sz="2000" dirty="0"/>
              <a:t>     return 0;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44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478B-866A-CB22-73B8-D04002BB0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715"/>
            <a:ext cx="10515600" cy="1248228"/>
          </a:xfrm>
        </p:spPr>
        <p:txBody>
          <a:bodyPr>
            <a:normAutofit/>
          </a:bodyPr>
          <a:lstStyle/>
          <a:p>
            <a:r>
              <a:rPr lang="en-US" sz="2800" b="1" dirty="0"/>
              <a:t>3.Boolean Primitive Data Structure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9433F-9D79-2CC7-297D-61D355E34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771"/>
            <a:ext cx="10515600" cy="4885192"/>
          </a:xfrm>
        </p:spPr>
        <p:txBody>
          <a:bodyPr/>
          <a:lstStyle/>
          <a:p>
            <a:r>
              <a:rPr lang="en-US" sz="2400" b="1" dirty="0"/>
              <a:t>Definition and Characteristics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 Boolean is a </a:t>
            </a:r>
            <a:r>
              <a:rPr lang="en-US" sz="2400" dirty="0"/>
              <a:t>primitive data structure that represents a value of either true or false</a:t>
            </a:r>
            <a:r>
              <a:rPr lang="en-US" sz="2400" b="1" dirty="0"/>
              <a:t>.</a:t>
            </a:r>
          </a:p>
          <a:p>
            <a:pPr marL="0" indent="0">
              <a:buNone/>
            </a:pPr>
            <a:r>
              <a:rPr lang="en-US" sz="2400" b="1" dirty="0"/>
              <a:t>         </a:t>
            </a:r>
            <a:r>
              <a:rPr lang="en-US" sz="2400" b="1" dirty="0" err="1"/>
              <a:t>charateristics</a:t>
            </a:r>
            <a:endParaRPr lang="en-US" sz="2400" dirty="0"/>
          </a:p>
          <a:p>
            <a:pPr lvl="0"/>
            <a:r>
              <a:rPr lang="en-US" sz="2400" b="1" dirty="0"/>
              <a:t>Values: </a:t>
            </a:r>
            <a:r>
              <a:rPr lang="en-US" sz="2400" dirty="0"/>
              <a:t>Can only be true or false.</a:t>
            </a:r>
          </a:p>
          <a:p>
            <a:pPr lvl="0"/>
            <a:r>
              <a:rPr lang="en-US" sz="2400" b="1" dirty="0"/>
              <a:t>Purpose: </a:t>
            </a:r>
            <a:r>
              <a:rPr lang="en-US" sz="2400" dirty="0"/>
              <a:t>Fundamental for conditional execution and logical operations</a:t>
            </a:r>
            <a:r>
              <a:rPr lang="en-US" sz="2400" b="1" dirty="0"/>
              <a:t>.</a:t>
            </a:r>
            <a:endParaRPr lang="en-US" sz="2400" dirty="0"/>
          </a:p>
          <a:p>
            <a:pPr lvl="0"/>
            <a:r>
              <a:rPr lang="en-US" sz="2400" b="1" dirty="0"/>
              <a:t>Storage: </a:t>
            </a:r>
            <a:r>
              <a:rPr lang="en-US" sz="2400" dirty="0"/>
              <a:t>Stores a single, simple value.</a:t>
            </a:r>
          </a:p>
          <a:p>
            <a:pPr lvl="0"/>
            <a:r>
              <a:rPr lang="en-US" sz="2400" b="1" dirty="0"/>
              <a:t>Memory: </a:t>
            </a:r>
            <a:r>
              <a:rPr lang="en-US" sz="2400" dirty="0"/>
              <a:t>Stored in the stack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80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AEC1-B681-BECB-C34A-1CAADB63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5BC3-5532-6EB2-AC0A-B8694A966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501241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Algorithm Concept (example 01)</a:t>
            </a:r>
            <a:endParaRPr lang="en-US" dirty="0"/>
          </a:p>
          <a:p>
            <a:pPr marL="0" indent="0">
              <a:buNone/>
            </a:pPr>
            <a:r>
              <a:rPr lang="en-US" sz="2600" dirty="0"/>
              <a:t>An algorithm demonstrating the Boolean type is to Determine Voting Eligibility, which involves checking multiple conditions using logical operators</a:t>
            </a:r>
            <a:r>
              <a:rPr lang="en-US" sz="2600" b="1" dirty="0"/>
              <a:t>.</a:t>
            </a:r>
            <a:endParaRPr lang="en-US" sz="2600" dirty="0"/>
          </a:p>
          <a:p>
            <a:r>
              <a:rPr lang="en-US" sz="2600" b="1" dirty="0"/>
              <a:t>Algorithm: Determine Voting Eligibility</a:t>
            </a:r>
            <a:endParaRPr lang="en-US" sz="2600" dirty="0"/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Start.</a:t>
            </a:r>
            <a:endParaRPr lang="en-US" sz="2600" dirty="0"/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Input: </a:t>
            </a:r>
            <a:r>
              <a:rPr lang="en-US" sz="2600" dirty="0"/>
              <a:t>Get the user's age, A, as an integer</a:t>
            </a:r>
            <a:r>
              <a:rPr lang="en-US" sz="2600" b="1" dirty="0"/>
              <a:t>.</a:t>
            </a:r>
            <a:endParaRPr lang="en-US" sz="2600" dirty="0"/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Process (Check Age</a:t>
            </a:r>
            <a:r>
              <a:rPr lang="en-US" sz="2600" dirty="0"/>
              <a:t>): Evaluate if the age A is 18 or greater. Assign the result (True/False) to the Boolean variable E. </a:t>
            </a:r>
            <a:r>
              <a:rPr lang="en-US" sz="2600" b="1" dirty="0"/>
              <a:t>(E = A ≥ 18)</a:t>
            </a:r>
            <a:endParaRPr lang="en-US" sz="2600" dirty="0"/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/>
              <a:t>Condition (Output):</a:t>
            </a:r>
            <a:endParaRPr lang="en-US" sz="2600" dirty="0"/>
          </a:p>
          <a:p>
            <a:pPr marL="457200" lvl="1" indent="0">
              <a:buNone/>
            </a:pPr>
            <a:r>
              <a:rPr lang="en-US" sz="2200" dirty="0"/>
              <a:t>      If E is True, display a message</a:t>
            </a:r>
            <a:r>
              <a:rPr lang="en-US" sz="2200" b="1" dirty="0"/>
              <a:t>: "The person is eligible to vote."</a:t>
            </a: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      If E is False, display a message:</a:t>
            </a:r>
            <a:r>
              <a:rPr lang="en-US" sz="2200" b="1" dirty="0"/>
              <a:t> "The person is NOT eligible to vote."</a:t>
            </a:r>
            <a:endParaRPr 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Stop.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7974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991E-2343-68BD-457C-FF1E6FB5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C100-96E9-235E-6F46-AFD4096D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968875"/>
          </a:xfrm>
        </p:spPr>
        <p:txBody>
          <a:bodyPr>
            <a:normAutofit/>
          </a:bodyPr>
          <a:lstStyle/>
          <a:p>
            <a:r>
              <a:rPr lang="en-US" sz="2400" b="1" dirty="0"/>
              <a:t>C Programming Example</a:t>
            </a:r>
            <a:endParaRPr lang="en-US" sz="2400" dirty="0"/>
          </a:p>
          <a:p>
            <a:r>
              <a:rPr lang="en-US" sz="2400" b="1" dirty="0"/>
              <a:t>This code uses the bool data type (by including </a:t>
            </a:r>
            <a:r>
              <a:rPr lang="en-US" sz="2400" b="1" dirty="0" err="1"/>
              <a:t>stdbool.h</a:t>
            </a:r>
            <a:r>
              <a:rPr lang="en-US" sz="2400" b="1" dirty="0"/>
              <a:t>) to store the result of a comparison.</a:t>
            </a:r>
            <a:endParaRPr lang="en-US" sz="2400" dirty="0"/>
          </a:p>
          <a:p>
            <a:pPr marL="0" indent="0">
              <a:buNone/>
            </a:pPr>
            <a:r>
              <a:rPr lang="en-US" sz="2000" dirty="0"/>
              <a:t>#include 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#include &lt;</a:t>
            </a:r>
            <a:r>
              <a:rPr lang="en-US" sz="2000" dirty="0" err="1"/>
              <a:t>stdbool.h</a:t>
            </a:r>
            <a:r>
              <a:rPr lang="en-US" sz="2000" dirty="0"/>
              <a:t>&gt;   // For using Boolean type in C</a:t>
            </a:r>
          </a:p>
          <a:p>
            <a:pPr marL="0" indent="0">
              <a:buNone/>
            </a:pPr>
            <a:r>
              <a:rPr lang="en-US" sz="2000" dirty="0"/>
              <a:t>int main() {</a:t>
            </a:r>
          </a:p>
          <a:p>
            <a:pPr marL="0" indent="0">
              <a:buNone/>
            </a:pPr>
            <a:r>
              <a:rPr lang="en-US" sz="2000" b="1" dirty="0"/>
              <a:t>    int A</a:t>
            </a:r>
            <a:r>
              <a:rPr lang="en-US" sz="2000" dirty="0"/>
              <a:t>;        // User's age</a:t>
            </a:r>
          </a:p>
          <a:p>
            <a:pPr marL="0" indent="0">
              <a:buNone/>
            </a:pPr>
            <a:r>
              <a:rPr lang="en-US" sz="2000" b="1" dirty="0"/>
              <a:t>    bool E</a:t>
            </a:r>
            <a:r>
              <a:rPr lang="en-US" sz="2000" dirty="0"/>
              <a:t>;       // Eligibility status (True/False)</a:t>
            </a:r>
          </a:p>
          <a:p>
            <a:pPr marL="0" indent="0">
              <a:buNone/>
            </a:pPr>
            <a:r>
              <a:rPr lang="en-US" sz="2000" dirty="0"/>
              <a:t>    // Step 2: Input age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("Enter your age: ");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scanf</a:t>
            </a:r>
            <a:r>
              <a:rPr lang="en-US" sz="2000" dirty="0"/>
              <a:t>("%d", &amp;A);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6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B8F5-38B0-31C6-53D6-81CBB12D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4AFA7-3B93-7626-CA98-5502E68F4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50269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// Step 3: Process (Check Age)</a:t>
            </a:r>
          </a:p>
          <a:p>
            <a:pPr marL="0" indent="0">
              <a:buNone/>
            </a:pPr>
            <a:r>
              <a:rPr lang="en-US" sz="2000" dirty="0"/>
              <a:t>    E = (A &gt;= 18);</a:t>
            </a:r>
          </a:p>
          <a:p>
            <a:pPr marL="0" indent="0">
              <a:buNone/>
            </a:pPr>
            <a:r>
              <a:rPr lang="en-US" sz="2000" dirty="0"/>
              <a:t>    // Step 4: Condition (Output)</a:t>
            </a:r>
          </a:p>
          <a:p>
            <a:pPr marL="0" indent="0">
              <a:buNone/>
            </a:pPr>
            <a:r>
              <a:rPr lang="en-US" sz="2000" dirty="0"/>
              <a:t>    if (E)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printf</a:t>
            </a:r>
            <a:r>
              <a:rPr lang="en-US" sz="2000" dirty="0"/>
              <a:t>("The person is eligible to vote.\n");</a:t>
            </a:r>
          </a:p>
          <a:p>
            <a:pPr marL="0" indent="0">
              <a:buNone/>
            </a:pPr>
            <a:r>
              <a:rPr lang="en-US" sz="2000" dirty="0"/>
              <a:t>    } else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printf</a:t>
            </a:r>
            <a:r>
              <a:rPr lang="en-US" sz="2000" dirty="0"/>
              <a:t>("The person is NOT eligible to vote.\n");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    // Step 5: Stop</a:t>
            </a:r>
          </a:p>
          <a:p>
            <a:pPr marL="0" indent="0">
              <a:buNone/>
            </a:pPr>
            <a:r>
              <a:rPr lang="en-US" sz="2000" dirty="0"/>
              <a:t>    return 0;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9467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B473-93C1-7976-2DCE-83B24319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CDC2C8-8079-EB48-C36F-E662AE1D9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9486"/>
                <a:ext cx="10515600" cy="4983389"/>
              </a:xfrm>
            </p:spPr>
            <p:txBody>
              <a:bodyPr/>
              <a:lstStyle/>
              <a:p>
                <a:r>
                  <a:rPr lang="en-US" b="1" dirty="0"/>
                  <a:t>Algorithm: Check if a Number is Even</a:t>
                </a:r>
                <a:endParaRPr lang="en-US" dirty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Start</a:t>
                </a:r>
                <a:endParaRPr lang="en-US" dirty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Input</a:t>
                </a:r>
                <a:r>
                  <a:rPr lang="en-US" dirty="0"/>
                  <a:t>: Get an integer value,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Process (Check Evenness)</a:t>
                </a:r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2==0</m:t>
                    </m:r>
                  </m:oMath>
                </a14:m>
                <a:r>
                  <a:rPr lang="en-US" dirty="0"/>
                  <a:t>, then result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(true → even).</a:t>
                </a:r>
              </a:p>
              <a:p>
                <a:pPr marL="457200" lvl="1" indent="0">
                  <a:buNone/>
                </a:pPr>
                <a:r>
                  <a:rPr lang="en-US" dirty="0"/>
                  <a:t>Else, result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(false → odd).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Output</a:t>
                </a:r>
                <a:r>
                  <a:rPr lang="en-US" dirty="0"/>
                  <a:t>: Display the result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Stop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CDC2C8-8079-EB48-C36F-E662AE1D9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9486"/>
                <a:ext cx="10515600" cy="4983389"/>
              </a:xfrm>
              <a:blipFill>
                <a:blip r:embed="rId2"/>
                <a:stretch>
                  <a:fillRect l="-1217" t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2369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6BC0-5FF8-93C3-F282-49EFF6EC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A6053-54D8-B55A-340D-D939B91AC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19611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 Program Example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 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/>
              <a:t> #include &lt;</a:t>
            </a:r>
            <a:r>
              <a:rPr lang="en-US" sz="2400" dirty="0" err="1"/>
              <a:t>stdbool.h</a:t>
            </a:r>
            <a:r>
              <a:rPr lang="en-US" sz="2400" dirty="0"/>
              <a:t>&gt;   // For Boolean type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   int main() 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b="1" dirty="0"/>
              <a:t>int N;</a:t>
            </a:r>
            <a:r>
              <a:rPr lang="en-US" sz="2400" dirty="0"/>
              <a:t>       // Number to check</a:t>
            </a:r>
          </a:p>
          <a:p>
            <a:pPr marL="0" indent="0">
              <a:buNone/>
            </a:pPr>
            <a:r>
              <a:rPr lang="en-US" sz="2400" b="1" dirty="0"/>
              <a:t>    bool R</a:t>
            </a:r>
            <a:r>
              <a:rPr lang="en-US" sz="2400" dirty="0"/>
              <a:t>;      // Result: true (1) or false (0)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    // Step 2: Input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printf</a:t>
            </a:r>
            <a:r>
              <a:rPr lang="en-US" sz="2400" dirty="0"/>
              <a:t>("Enter an integer: ");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scanf</a:t>
            </a:r>
            <a:r>
              <a:rPr lang="en-US" sz="2400" dirty="0"/>
              <a:t>("%d", &amp;N);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/>
              <a:t>    // Step 3: Process (Check Evenness)</a:t>
            </a:r>
          </a:p>
          <a:p>
            <a:pPr marL="0" indent="0">
              <a:buNone/>
            </a:pPr>
            <a:r>
              <a:rPr lang="en-US" sz="2400" dirty="0"/>
              <a:t>    R = (N % 2 == 0);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090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8772-E091-5D29-8939-B3BE5A5D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5C8BF-C04E-E7BC-7323-894662E48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055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// Step 4: Output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("Result: %d\n", R);  </a:t>
            </a:r>
          </a:p>
          <a:p>
            <a:pPr marL="0" indent="0">
              <a:buNone/>
            </a:pPr>
            <a:r>
              <a:rPr lang="en-US" sz="2000" dirty="0"/>
              <a:t>    // Will print 1 if true (even), 0 if false (odd)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    // Step 5: Stop</a:t>
            </a:r>
          </a:p>
          <a:p>
            <a:pPr marL="0" indent="0">
              <a:buNone/>
            </a:pPr>
            <a:r>
              <a:rPr lang="en-US" sz="2000" dirty="0"/>
              <a:t>    return 0;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448718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227C-EF80-0EDC-7ADC-CF20D28C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4.  Character Primitive Data Structure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0CEEB-9B8D-71A9-78AE-2DA23E778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943"/>
            <a:ext cx="10515600" cy="5026932"/>
          </a:xfrm>
        </p:spPr>
        <p:txBody>
          <a:bodyPr/>
          <a:lstStyle/>
          <a:p>
            <a:r>
              <a:rPr lang="en-US" sz="2400" b="1" dirty="0"/>
              <a:t>Definition and Characteristics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 Character data </a:t>
            </a:r>
            <a:r>
              <a:rPr lang="en-US" sz="2400" dirty="0"/>
              <a:t>structure represents individual characters, usually stored as a single byte.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b="1" dirty="0"/>
              <a:t>characteristics</a:t>
            </a:r>
          </a:p>
          <a:p>
            <a:pPr lvl="0"/>
            <a:r>
              <a:rPr lang="en-US" sz="2400" b="1" dirty="0"/>
              <a:t>Values: </a:t>
            </a:r>
            <a:r>
              <a:rPr lang="en-US" sz="2400" dirty="0"/>
              <a:t>Individual letters, digits, symbols, or whitespace</a:t>
            </a:r>
            <a:r>
              <a:rPr lang="en-US" sz="2400" b="1" dirty="0"/>
              <a:t>.</a:t>
            </a:r>
            <a:endParaRPr lang="en-US" sz="2400" dirty="0"/>
          </a:p>
          <a:p>
            <a:pPr lvl="0"/>
            <a:r>
              <a:rPr lang="en-US" sz="2400" b="1" dirty="0"/>
              <a:t>Storage: </a:t>
            </a:r>
            <a:r>
              <a:rPr lang="en-US" sz="2400" dirty="0"/>
              <a:t>Typically holds a single value</a:t>
            </a:r>
            <a:r>
              <a:rPr lang="en-US" sz="2400" b="1" dirty="0"/>
              <a:t>.</a:t>
            </a:r>
            <a:endParaRPr lang="en-US" sz="2400" dirty="0"/>
          </a:p>
          <a:p>
            <a:pPr lvl="0"/>
            <a:r>
              <a:rPr lang="en-US" sz="2400" b="1" dirty="0"/>
              <a:t>Memory: </a:t>
            </a:r>
            <a:r>
              <a:rPr lang="en-US" sz="2400" dirty="0"/>
              <a:t>Stored in the stack memory</a:t>
            </a:r>
            <a:r>
              <a:rPr lang="en-US" sz="2400" b="1" dirty="0"/>
              <a:t>.</a:t>
            </a:r>
            <a:endParaRPr lang="en-US" sz="2400" dirty="0"/>
          </a:p>
          <a:p>
            <a:pPr lvl="0"/>
            <a:r>
              <a:rPr lang="en-US" sz="2400" b="1" dirty="0"/>
              <a:t>Operations</a:t>
            </a:r>
            <a:r>
              <a:rPr lang="en-US" sz="2400" dirty="0"/>
              <a:t>: Can use basic operations, such as comparisons to determine alphabetical order or case (e.g., uppercase vs. lowercase).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873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8249-D5AF-40FD-1F33-93B1E9FE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667153-13B7-13AA-C5B3-ECB08A481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2400"/>
                <a:ext cx="10515600" cy="5181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Algorithm Concept</a:t>
                </a:r>
                <a:endParaRPr lang="en-US" dirty="0"/>
              </a:p>
              <a:p>
                <a:r>
                  <a:rPr lang="en-US" dirty="0"/>
                  <a:t>Algorithm to check if a character entered by </a:t>
                </a:r>
                <a:r>
                  <a:rPr lang="en-US" dirty="0" err="1"/>
                  <a:t>usr</a:t>
                </a:r>
                <a:r>
                  <a:rPr lang="en-US" dirty="0"/>
                  <a:t> is lower case or upper case</a:t>
                </a:r>
              </a:p>
              <a:p>
                <a:pPr marL="0" indent="0">
                  <a:buNone/>
                </a:pPr>
                <a:r>
                  <a:rPr lang="en-US" b="1" dirty="0"/>
                  <a:t>Algorithm: Check Case of a Character</a:t>
                </a:r>
                <a:endParaRPr lang="en-US" dirty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Start</a:t>
                </a:r>
                <a:endParaRPr lang="en-US" dirty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Input: </a:t>
                </a:r>
                <a:r>
                  <a:rPr lang="en-US" dirty="0"/>
                  <a:t>Get a character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Condition (Check Case):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is uppercase.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Else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is lowercase.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Otherwise,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is not a letter.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Output: Display the result message.</a:t>
                </a:r>
                <a:endParaRPr lang="en-US" dirty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en-US" b="1" dirty="0"/>
                  <a:t>Stop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667153-13B7-13AA-C5B3-ECB08A481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2400"/>
                <a:ext cx="10515600" cy="5181600"/>
              </a:xfrm>
              <a:blipFill>
                <a:blip r:embed="rId2"/>
                <a:stretch>
                  <a:fillRect l="-1217" t="-2588" b="-3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893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FDBC-E0FD-093E-0B0F-F99AB2FF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F490-F081-1C67-BC7C-347EF9E2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856"/>
            <a:ext cx="10515600" cy="532674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 Programming 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char C;</a:t>
            </a:r>
          </a:p>
          <a:p>
            <a:pPr marL="0" indent="0">
              <a:buNone/>
            </a:pPr>
            <a:r>
              <a:rPr lang="en-US" dirty="0"/>
              <a:t> // Step 2: Input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("Enter a single character: 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 %c", &amp;C);</a:t>
            </a:r>
          </a:p>
          <a:p>
            <a:pPr marL="0" indent="0">
              <a:buNone/>
            </a:pPr>
            <a:r>
              <a:rPr lang="en-US" dirty="0"/>
              <a:t>    // Step 3: Condition (Check Case)</a:t>
            </a:r>
          </a:p>
          <a:p>
            <a:pPr marL="0" indent="0">
              <a:buNone/>
            </a:pPr>
            <a:r>
              <a:rPr lang="en-US" dirty="0"/>
              <a:t>    if (C &gt;= 'A' &amp;&amp; C &lt;= 'Z')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("%c is an uppercase letter.\n", C);</a:t>
            </a:r>
          </a:p>
          <a:p>
            <a:pPr marL="0" indent="0">
              <a:buNone/>
            </a:pPr>
            <a:r>
              <a:rPr lang="en-US" dirty="0"/>
              <a:t>    } else if (C &gt;= 'a' &amp;&amp; C &lt;= 'z')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("%c is a lowercase letter.\n", C);</a:t>
            </a:r>
          </a:p>
          <a:p>
            <a:pPr marL="0" indent="0">
              <a:buNone/>
            </a:pPr>
            <a:r>
              <a:rPr lang="en-US" dirty="0"/>
              <a:t>    } else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("%c is not a letter.\n", C);</a:t>
            </a:r>
          </a:p>
          <a:p>
            <a:pPr marL="0" indent="0">
              <a:buNone/>
            </a:pPr>
            <a:r>
              <a:rPr lang="en-US" dirty="0"/>
              <a:t>    }      return 0;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38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2AA3-96A3-AB86-4EA3-D11A8BC9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E82D9-0002-786D-AECB-491309671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0800"/>
                <a:ext cx="10515600" cy="5384800"/>
              </a:xfrm>
            </p:spPr>
            <p:txBody>
              <a:bodyPr/>
              <a:lstStyle/>
              <a:p>
                <a:r>
                  <a:rPr lang="en-US" b="1" dirty="0"/>
                  <a:t>Algorithm: Check if a Character is a Vowel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1" dirty="0"/>
                  <a:t>Start</a:t>
                </a: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1" dirty="0"/>
                  <a:t>Input</a:t>
                </a:r>
                <a:r>
                  <a:rPr lang="en-US" sz="2400" dirty="0"/>
                  <a:t>: Get a single character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1" dirty="0"/>
                  <a:t>Process (Check Vowel):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is one of {a, e,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, o, u, A, E, I, O, U}, then print "%c is a vowel".</a:t>
                </a:r>
              </a:p>
              <a:p>
                <a:pPr marL="0" lvl="0" indent="0">
                  <a:buNone/>
                </a:pPr>
                <a:r>
                  <a:rPr lang="en-US" sz="2400" dirty="0"/>
                  <a:t>      Else, print "%c is not a vowel".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4.Stop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1E82D9-0002-786D-AECB-491309671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0800"/>
                <a:ext cx="10515600" cy="5384800"/>
              </a:xfrm>
              <a:blipFill>
                <a:blip r:embed="rId2"/>
                <a:stretch>
                  <a:fillRect l="-1043" t="-2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295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8455-440E-84A1-CCD5-52500953E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F44F9-46C4-882F-174B-8D89263C1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b="1" dirty="0"/>
              <a:t>C programming example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#include 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int main() {</a:t>
            </a:r>
          </a:p>
          <a:p>
            <a:pPr marL="0" indent="0">
              <a:buNone/>
            </a:pPr>
            <a:r>
              <a:rPr lang="en-US" sz="2000" b="1" dirty="0"/>
              <a:t>    char C</a:t>
            </a:r>
            <a:r>
              <a:rPr lang="en-US" sz="2000" dirty="0"/>
              <a:t>;   // Character input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    // Step 2: Input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("Enter a single character: ");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scanf</a:t>
            </a:r>
            <a:r>
              <a:rPr lang="en-US" sz="2000" dirty="0"/>
              <a:t>(“ %c\n", &amp;C);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193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B7E6-0A96-2652-7114-9A21DD315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3107F-9AD1-7873-B3E2-331BC70F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// Step 3: Process (Check Vowel)</a:t>
            </a:r>
          </a:p>
          <a:p>
            <a:pPr marL="0" indent="0">
              <a:buNone/>
            </a:pPr>
            <a:r>
              <a:rPr lang="en-US" sz="2000" dirty="0"/>
              <a:t>    if (C == 'a' || C == 'e' || C == '</a:t>
            </a:r>
            <a:r>
              <a:rPr lang="en-US" sz="2000" dirty="0" err="1"/>
              <a:t>i</a:t>
            </a:r>
            <a:r>
              <a:rPr lang="en-US" sz="2000" dirty="0"/>
              <a:t>' || C == 'o' || C == 'u' ||</a:t>
            </a:r>
          </a:p>
          <a:p>
            <a:pPr marL="0" indent="0">
              <a:buNone/>
            </a:pPr>
            <a:r>
              <a:rPr lang="en-US" sz="2000" dirty="0"/>
              <a:t>        C == 'A' || C == 'E' || C == 'I' || C == 'O' || C == 'U')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printf</a:t>
            </a:r>
            <a:r>
              <a:rPr lang="en-US" sz="2000" dirty="0"/>
              <a:t>("%c is a vowel.\n", C);</a:t>
            </a:r>
          </a:p>
          <a:p>
            <a:pPr marL="0" indent="0">
              <a:buNone/>
            </a:pPr>
            <a:r>
              <a:rPr lang="en-US" sz="2000" dirty="0"/>
              <a:t>    } else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printf</a:t>
            </a:r>
            <a:r>
              <a:rPr lang="en-US" sz="2000" dirty="0"/>
              <a:t>("%c is not a vowel.\n", C);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    // Step 4: Stop</a:t>
            </a:r>
          </a:p>
          <a:p>
            <a:pPr marL="0" indent="0">
              <a:buNone/>
            </a:pPr>
            <a:r>
              <a:rPr lang="en-US" sz="2000" dirty="0"/>
              <a:t>    return 0;  }</a:t>
            </a:r>
          </a:p>
        </p:txBody>
      </p:sp>
    </p:spTree>
    <p:extLst>
      <p:ext uri="{BB962C8B-B14F-4D97-AF65-F5344CB8AC3E}">
        <p14:creationId xmlns:p14="http://schemas.microsoft.com/office/powerpoint/2010/main" val="970852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5DC7-D1F7-2BF7-7450-54049F3A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*******************THE END*******************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D1F8B-9BC2-BA01-2440-796C74265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5089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2354</Words>
  <Application>Microsoft Office PowerPoint</Application>
  <PresentationFormat>Widescreen</PresentationFormat>
  <Paragraphs>288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Office Theme</vt:lpstr>
      <vt:lpstr>TYPES OF PRIMITIVE DATA STRUCTURE</vt:lpstr>
      <vt:lpstr>1.Integer Primitive Data Structure </vt:lpstr>
      <vt:lpstr>continue</vt:lpstr>
      <vt:lpstr>continue</vt:lpstr>
      <vt:lpstr>continue</vt:lpstr>
      <vt:lpstr>continue</vt:lpstr>
      <vt:lpstr>Example 02</vt:lpstr>
      <vt:lpstr>Continue</vt:lpstr>
      <vt:lpstr>continue</vt:lpstr>
      <vt:lpstr>2.Float Primitive Data Structure</vt:lpstr>
      <vt:lpstr>continue</vt:lpstr>
      <vt:lpstr>continue</vt:lpstr>
      <vt:lpstr>continue</vt:lpstr>
      <vt:lpstr>Example 02</vt:lpstr>
      <vt:lpstr>continue</vt:lpstr>
      <vt:lpstr>3.Boolean Primitive Data Structure</vt:lpstr>
      <vt:lpstr>continue</vt:lpstr>
      <vt:lpstr>continue</vt:lpstr>
      <vt:lpstr>continue</vt:lpstr>
      <vt:lpstr>Example 02</vt:lpstr>
      <vt:lpstr>continue</vt:lpstr>
      <vt:lpstr>continue</vt:lpstr>
      <vt:lpstr>4.  Character Primitive Data Structure</vt:lpstr>
      <vt:lpstr>continue</vt:lpstr>
      <vt:lpstr>continue</vt:lpstr>
      <vt:lpstr>Example 02 </vt:lpstr>
      <vt:lpstr>continue</vt:lpstr>
      <vt:lpstr>continue</vt:lpstr>
      <vt:lpstr>*******************THE END*******************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Programmer</dc:creator>
  <cp:lastModifiedBy>Samson Programmer</cp:lastModifiedBy>
  <cp:revision>13</cp:revision>
  <dcterms:created xsi:type="dcterms:W3CDTF">2025-12-15T10:36:12Z</dcterms:created>
  <dcterms:modified xsi:type="dcterms:W3CDTF">2025-12-15T14:31:25Z</dcterms:modified>
</cp:coreProperties>
</file>