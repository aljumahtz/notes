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6" r:id="rId2"/>
    <p:sldId id="256" r:id="rId3"/>
    <p:sldId id="257" r:id="rId4"/>
    <p:sldId id="278" r:id="rId5"/>
    <p:sldId id="279" r:id="rId6"/>
    <p:sldId id="280" r:id="rId7"/>
    <p:sldId id="281" r:id="rId8"/>
    <p:sldId id="282" r:id="rId9"/>
    <p:sldId id="260" r:id="rId10"/>
    <p:sldId id="261" r:id="rId11"/>
    <p:sldId id="262" r:id="rId12"/>
    <p:sldId id="263" r:id="rId13"/>
    <p:sldId id="264" r:id="rId14"/>
    <p:sldId id="287" r:id="rId15"/>
    <p:sldId id="265" r:id="rId16"/>
    <p:sldId id="283" r:id="rId17"/>
    <p:sldId id="285" r:id="rId18"/>
    <p:sldId id="269" r:id="rId19"/>
    <p:sldId id="270" r:id="rId20"/>
    <p:sldId id="272" r:id="rId21"/>
    <p:sldId id="274" r:id="rId22"/>
    <p:sldId id="273" r:id="rId23"/>
    <p:sldId id="275" r:id="rId24"/>
    <p:sldId id="271" r:id="rId25"/>
    <p:sldId id="277" r:id="rId26"/>
    <p:sldId id="266" r:id="rId27"/>
    <p:sldId id="267" r:id="rId28"/>
    <p:sldId id="259" r:id="rId29"/>
    <p:sldId id="26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1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8886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5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1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6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9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2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2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65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1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45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43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84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81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3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87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57F9DBEA-B144-DCBA-6D7F-749427627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785050"/>
              </p:ext>
            </p:extLst>
          </p:nvPr>
        </p:nvGraphicFramePr>
        <p:xfrm>
          <a:off x="1417613" y="737419"/>
          <a:ext cx="6153226" cy="6065607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3372454">
                  <a:extLst>
                    <a:ext uri="{9D8B030D-6E8A-4147-A177-3AD203B41FA5}">
                      <a16:colId xmlns:a16="http://schemas.microsoft.com/office/drawing/2014/main" val="3983660161"/>
                    </a:ext>
                  </a:extLst>
                </a:gridCol>
                <a:gridCol w="2780772">
                  <a:extLst>
                    <a:ext uri="{9D8B030D-6E8A-4147-A177-3AD203B41FA5}">
                      <a16:colId xmlns:a16="http://schemas.microsoft.com/office/drawing/2014/main" val="825446199"/>
                    </a:ext>
                  </a:extLst>
                </a:gridCol>
              </a:tblGrid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NAME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REGISTRATION NUMBER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2815935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AMON M ALEX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NIT/BIT/2024/2764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8277736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ANTHONY M SYLIVESTER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NIT/BIT/2024/2694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52736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NAOMI J MADIRISHA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NIT/BIT/2024/2754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9885317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FARAJA E KIFARU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NIT/BIT/2024/2774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0933264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SELEMANI S KANIJO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NIT/BIT/2024/2784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866896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RAPHEEL A MABEJA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NIT/BIT/2024/2814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227234"/>
                  </a:ext>
                </a:extLst>
              </a:tr>
              <a:tr h="396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LEAKY L MSIMBANO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NIT/BIT/2024/2744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888304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JOEL I MCHOMVU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NIT/BIT/2024/2804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4180215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ABUBAKARI  HAMIS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NIT/BIT</a:t>
                      </a:r>
                      <a:r>
                        <a:rPr lang="en-US" sz="1100">
                          <a:effectLst/>
                        </a:rPr>
                        <a:t>/2024/2724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732375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OMARI H MUNA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NIT/BIT/2024/2674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801077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MARIA-IMACULATHA JOSEPH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NIT/BIT/2024/2684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9161388"/>
                  </a:ext>
                </a:extLst>
              </a:tr>
              <a:tr h="321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ERAM N BITEGINDA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NIT/BIT/2024/2714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161116"/>
                  </a:ext>
                </a:extLst>
              </a:tr>
              <a:tr h="279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PAUL E HUNGU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NIT/BIT/2024/2704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6034068"/>
                  </a:ext>
                </a:extLst>
              </a:tr>
              <a:tr h="3570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EMANUEL F KAJIGILI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NIT/BIT/2024/2834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4555337"/>
                  </a:ext>
                </a:extLst>
              </a:tr>
              <a:tr h="340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DOTO M MASHAKA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NIT/BIT/2024/2734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2175734"/>
                  </a:ext>
                </a:extLst>
              </a:tr>
              <a:tr h="3744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DERICK H MCHAU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NIT/BIT/2024/2794</a:t>
                      </a:r>
                      <a:endParaRPr lang="en-T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6596482"/>
                  </a:ext>
                </a:extLst>
              </a:tr>
              <a:tr h="4334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SHAKIRA H MPONDELWA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NIT/BIT/2024/2824</a:t>
                      </a:r>
                      <a:endParaRPr lang="en-T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362278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EC71D55-D17A-A0CF-6CED-AE0BAB82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-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18685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HDIT LEVEL 7-II</a:t>
            </a:r>
            <a:br>
              <a:rPr lang="en-US" sz="6000" dirty="0">
                <a:solidFill>
                  <a:srgbClr val="FF0000"/>
                </a:solidFill>
              </a:rPr>
            </a:br>
            <a:r>
              <a:rPr lang="en-US" sz="6000" dirty="0">
                <a:solidFill>
                  <a:srgbClr val="FF0000"/>
                </a:solidFill>
              </a:rPr>
              <a:t>GROUP NUMBER - 4</a:t>
            </a:r>
            <a:br>
              <a:rPr lang="en-US" sz="6000" dirty="0">
                <a:solidFill>
                  <a:srgbClr val="FF0000"/>
                </a:solidFill>
              </a:rPr>
            </a:br>
            <a:endParaRPr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9600" b="1" dirty="0"/>
              <a:t>ARRAYS</a:t>
            </a:r>
            <a:endParaRPr sz="96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An array is a data structure used to store multiple values in a single variable.</a:t>
            </a:r>
          </a:p>
          <a:p>
            <a:r>
              <a:rPr dirty="0"/>
              <a:t>All elements in an array are of the same data type.</a:t>
            </a:r>
          </a:p>
          <a:p>
            <a:r>
              <a:rPr dirty="0"/>
              <a:t>Each value is accessed using an index (position).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Use an array to keep a series of variable for later processing such as 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Reordering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Calculating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Printing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0A9A-4C70-D37C-3C18-FBCB6EF5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Array Terms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6C90-FA06-3712-BBB5-5C0F5595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Element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Individual item in the array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Index (or subscript)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Zero based number used to reference the specific elements in the array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Must be an integer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Boundaries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Lower Subscript, 0 by default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Upper Subscript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40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2">
            <a:extLst>
              <a:ext uri="{FF2B5EF4-FFF2-40B4-BE49-F238E27FC236}">
                <a16:creationId xmlns:a16="http://schemas.microsoft.com/office/drawing/2014/main" id="{2BC96B0B-6FAC-F33F-79A8-A5C41CF22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225427"/>
            <a:ext cx="6934200" cy="1371600"/>
          </a:xfrm>
        </p:spPr>
        <p:txBody>
          <a:bodyPr/>
          <a:lstStyle/>
          <a:p>
            <a:pPr eaLnBrk="1" hangingPunct="1"/>
            <a:r>
              <a:rPr lang="en-US" altLang="en-US" dirty="0"/>
              <a:t>Simple Array Example</a:t>
            </a:r>
          </a:p>
        </p:txBody>
      </p:sp>
      <p:sp>
        <p:nvSpPr>
          <p:cNvPr id="47" name="Text Box 5">
            <a:extLst>
              <a:ext uri="{FF2B5EF4-FFF2-40B4-BE49-F238E27FC236}">
                <a16:creationId xmlns:a16="http://schemas.microsoft.com/office/drawing/2014/main" id="{C09B8FDD-66B3-3A15-7EB9-451B48879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3" y="1624013"/>
            <a:ext cx="2306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dirty="0" err="1">
                <a:latin typeface="Times" panose="02020603050405020304" pitchFamily="18" charset="0"/>
              </a:rPr>
              <a:t>strName</a:t>
            </a:r>
            <a:r>
              <a:rPr lang="en-US" altLang="en-US" sz="2800" dirty="0">
                <a:latin typeface="Times" panose="02020603050405020304" pitchFamily="18" charset="0"/>
              </a:rPr>
              <a:t> Array</a:t>
            </a:r>
          </a:p>
        </p:txBody>
      </p:sp>
      <p:grpSp>
        <p:nvGrpSpPr>
          <p:cNvPr id="48" name="Group 19">
            <a:extLst>
              <a:ext uri="{FF2B5EF4-FFF2-40B4-BE49-F238E27FC236}">
                <a16:creationId xmlns:a16="http://schemas.microsoft.com/office/drawing/2014/main" id="{314FDFEB-AAE6-9844-B2EF-322642E388F4}"/>
              </a:ext>
            </a:extLst>
          </p:cNvPr>
          <p:cNvGrpSpPr>
            <a:grpSpLocks/>
          </p:cNvGrpSpPr>
          <p:nvPr/>
        </p:nvGrpSpPr>
        <p:grpSpPr bwMode="auto">
          <a:xfrm>
            <a:off x="2900364" y="2103438"/>
            <a:ext cx="3524250" cy="3762375"/>
            <a:chOff x="1896" y="1325"/>
            <a:chExt cx="2151" cy="2370"/>
          </a:xfrm>
        </p:grpSpPr>
        <p:sp>
          <p:nvSpPr>
            <p:cNvPr id="49" name="Text Box 6">
              <a:extLst>
                <a:ext uri="{FF2B5EF4-FFF2-40B4-BE49-F238E27FC236}">
                  <a16:creationId xmlns:a16="http://schemas.microsoft.com/office/drawing/2014/main" id="{7B5E3F66-A56A-5B8A-F5D6-0D83C5B52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1337"/>
              <a:ext cx="513" cy="2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(0)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(1)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(2)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(3)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(4)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(5)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(6)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(7)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(8)</a:t>
              </a:r>
            </a:p>
            <a:p>
              <a:pPr algn="r"/>
              <a:r>
                <a:rPr lang="en-US" altLang="en-US" b="1" dirty="0">
                  <a:latin typeface="Times" panose="02020603050405020304" pitchFamily="18" charset="0"/>
                </a:rPr>
                <a:t>(9)</a:t>
              </a:r>
            </a:p>
          </p:txBody>
        </p:sp>
        <p:grpSp>
          <p:nvGrpSpPr>
            <p:cNvPr id="50" name="Group 17">
              <a:extLst>
                <a:ext uri="{FF2B5EF4-FFF2-40B4-BE49-F238E27FC236}">
                  <a16:creationId xmlns:a16="http://schemas.microsoft.com/office/drawing/2014/main" id="{5D31F11B-F9CF-3525-7291-8FA1F1DC2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1" y="1325"/>
              <a:ext cx="1516" cy="2366"/>
              <a:chOff x="2531" y="1325"/>
              <a:chExt cx="1516" cy="2366"/>
            </a:xfrm>
          </p:grpSpPr>
          <p:sp>
            <p:nvSpPr>
              <p:cNvPr id="51" name="Text Box 4">
                <a:extLst>
                  <a:ext uri="{FF2B5EF4-FFF2-40B4-BE49-F238E27FC236}">
                    <a16:creationId xmlns:a16="http://schemas.microsoft.com/office/drawing/2014/main" id="{DDACF31B-61A8-3C87-4A36-CA6B17B29ED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31" y="1325"/>
                <a:ext cx="1516" cy="2366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dirty="0">
                    <a:latin typeface="Times" panose="02020603050405020304" pitchFamily="18" charset="0"/>
                  </a:rPr>
                  <a:t>Janet Baker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George Lee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Sue Li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Samuel Hoosier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Sandra Weeks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William Macy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Andy Harrison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Ken Ford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Denny Franks</a:t>
                </a:r>
              </a:p>
              <a:p>
                <a:r>
                  <a:rPr lang="en-US" altLang="en-US" dirty="0">
                    <a:latin typeface="Times" panose="02020603050405020304" pitchFamily="18" charset="0"/>
                  </a:rPr>
                  <a:t>Shawn James</a:t>
                </a:r>
              </a:p>
            </p:txBody>
          </p:sp>
          <p:grpSp>
            <p:nvGrpSpPr>
              <p:cNvPr id="52" name="Group 16">
                <a:extLst>
                  <a:ext uri="{FF2B5EF4-FFF2-40B4-BE49-F238E27FC236}">
                    <a16:creationId xmlns:a16="http://schemas.microsoft.com/office/drawing/2014/main" id="{BC816FD1-0731-0D2C-6FFB-0F8E9E7B8A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1" y="1564"/>
                <a:ext cx="1516" cy="1869"/>
                <a:chOff x="2531" y="1564"/>
                <a:chExt cx="1516" cy="1869"/>
              </a:xfrm>
            </p:grpSpPr>
            <p:sp>
              <p:nvSpPr>
                <p:cNvPr id="53" name="Line 7">
                  <a:extLst>
                    <a:ext uri="{FF2B5EF4-FFF2-40B4-BE49-F238E27FC236}">
                      <a16:creationId xmlns:a16="http://schemas.microsoft.com/office/drawing/2014/main" id="{5961E559-1C97-C3D2-906E-F2DA9F2AAF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1564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8">
                  <a:extLst>
                    <a:ext uri="{FF2B5EF4-FFF2-40B4-BE49-F238E27FC236}">
                      <a16:creationId xmlns:a16="http://schemas.microsoft.com/office/drawing/2014/main" id="{0EDAA9B4-5354-033F-DE38-951C69A71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1797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9">
                  <a:extLst>
                    <a:ext uri="{FF2B5EF4-FFF2-40B4-BE49-F238E27FC236}">
                      <a16:creationId xmlns:a16="http://schemas.microsoft.com/office/drawing/2014/main" id="{B129D436-F208-5CCD-79AA-11369A01A7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2732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10">
                  <a:extLst>
                    <a:ext uri="{FF2B5EF4-FFF2-40B4-BE49-F238E27FC236}">
                      <a16:creationId xmlns:a16="http://schemas.microsoft.com/office/drawing/2014/main" id="{EBA2A570-9E29-7AAF-C43A-8A9F4E4B0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2031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11">
                  <a:extLst>
                    <a:ext uri="{FF2B5EF4-FFF2-40B4-BE49-F238E27FC236}">
                      <a16:creationId xmlns:a16="http://schemas.microsoft.com/office/drawing/2014/main" id="{963A0B23-8AAB-EB5D-631B-C3B430726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2264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12">
                  <a:extLst>
                    <a:ext uri="{FF2B5EF4-FFF2-40B4-BE49-F238E27FC236}">
                      <a16:creationId xmlns:a16="http://schemas.microsoft.com/office/drawing/2014/main" id="{2CDD2255-B0E3-A7B2-E1B9-FF9F1A823D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2498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13">
                  <a:extLst>
                    <a:ext uri="{FF2B5EF4-FFF2-40B4-BE49-F238E27FC236}">
                      <a16:creationId xmlns:a16="http://schemas.microsoft.com/office/drawing/2014/main" id="{6DF28766-E534-762E-1F9E-276D5BF7F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2965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14">
                  <a:extLst>
                    <a:ext uri="{FF2B5EF4-FFF2-40B4-BE49-F238E27FC236}">
                      <a16:creationId xmlns:a16="http://schemas.microsoft.com/office/drawing/2014/main" id="{67DFF0FC-2C36-8E4D-0D0D-ADB90DCC36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3199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15">
                  <a:extLst>
                    <a:ext uri="{FF2B5EF4-FFF2-40B4-BE49-F238E27FC236}">
                      <a16:creationId xmlns:a16="http://schemas.microsoft.com/office/drawing/2014/main" id="{5E03ACE4-4C38-BFA3-F124-AB2395205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1" y="3433"/>
                  <a:ext cx="15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5896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37BF425D-5779-ACD3-1AB7-C95E7F583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934200" cy="1371600"/>
          </a:xfrm>
        </p:spPr>
        <p:txBody>
          <a:bodyPr/>
          <a:lstStyle/>
          <a:p>
            <a:pPr eaLnBrk="1" hangingPunct="1"/>
            <a:r>
              <a:rPr lang="en-US" altLang="en-US"/>
              <a:t>Defining Arrays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919AE18-3522-DD10-94C3-1575794CD349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Use Dim statement to declare</a:t>
            </a:r>
          </a:p>
          <a:p>
            <a:r>
              <a:rPr lang="en-US" altLang="en-US"/>
              <a:t>Specify the number of elements in the array as the UpperSubscript</a:t>
            </a:r>
          </a:p>
          <a:p>
            <a:r>
              <a:rPr lang="en-US" altLang="en-US"/>
              <a:t>Each element of the array will be assigned a default value</a:t>
            </a:r>
          </a:p>
          <a:p>
            <a:pPr lvl="1"/>
            <a:r>
              <a:rPr lang="en-US" altLang="en-US"/>
              <a:t>Numeric ==&gt; 0</a:t>
            </a:r>
          </a:p>
          <a:p>
            <a:pPr lvl="1"/>
            <a:r>
              <a:rPr lang="en-US" altLang="en-US"/>
              <a:t>String ==&gt; empty string, 0 characters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213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9CB70F6-FE02-CAAE-7387-9D6B0501F93A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106904"/>
            <a:ext cx="6934200" cy="645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91A7C31C-FB65-C319-1EFB-5B3192EDB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934200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General Form Dim Statement for Arrays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087F257A-F64F-0A53-3D75-2C88F77E3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2538413"/>
            <a:ext cx="6934200" cy="254158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="1" dirty="0">
                <a:solidFill>
                  <a:schemeClr val="tx2"/>
                </a:solidFill>
              </a:rPr>
              <a:t>Dim</a:t>
            </a:r>
            <a:r>
              <a:rPr lang="en-US" altLang="en-US" sz="3200" dirty="0"/>
              <a:t> </a:t>
            </a:r>
            <a:r>
              <a:rPr lang="en-US" altLang="en-US" sz="3200" i="1" dirty="0" err="1"/>
              <a:t>ArrayName</a:t>
            </a:r>
            <a:r>
              <a:rPr lang="en-US" altLang="en-US" sz="3200" dirty="0"/>
              <a:t>(</a:t>
            </a:r>
            <a:r>
              <a:rPr lang="en-US" altLang="en-US" sz="3200" i="1" dirty="0" err="1"/>
              <a:t>UpperSubscript</a:t>
            </a:r>
            <a:r>
              <a:rPr lang="en-US" altLang="en-US" sz="3200" dirty="0"/>
              <a:t>) </a:t>
            </a:r>
            <a:r>
              <a:rPr lang="en-US" altLang="en-US" sz="3200" b="1" dirty="0">
                <a:solidFill>
                  <a:schemeClr val="tx2"/>
                </a:solidFill>
              </a:rPr>
              <a:t>as</a:t>
            </a:r>
            <a:r>
              <a:rPr lang="en-US" altLang="en-US" sz="3200" dirty="0"/>
              <a:t> 			</a:t>
            </a:r>
            <a:r>
              <a:rPr lang="en-US" altLang="en-US" sz="3200" i="1" dirty="0"/>
              <a:t>Datatype</a:t>
            </a:r>
          </a:p>
          <a:p>
            <a:endParaRPr lang="en-US" altLang="en-US" sz="3200" i="1" dirty="0"/>
          </a:p>
          <a:p>
            <a:r>
              <a:rPr lang="en-US" altLang="en-US" sz="3200" b="1" dirty="0">
                <a:solidFill>
                  <a:schemeClr val="tx2"/>
                </a:solidFill>
              </a:rPr>
              <a:t>Dim</a:t>
            </a:r>
            <a:r>
              <a:rPr lang="en-US" altLang="en-US" sz="3200" dirty="0"/>
              <a:t> </a:t>
            </a:r>
            <a:r>
              <a:rPr lang="en-US" altLang="en-US" sz="3200" i="1" dirty="0" err="1"/>
              <a:t>ArrayName</a:t>
            </a:r>
            <a:r>
              <a:rPr lang="en-US" altLang="en-US" sz="3200" dirty="0"/>
              <a:t>(</a:t>
            </a:r>
            <a:r>
              <a:rPr lang="en-US" altLang="en-US" sz="3200" i="1" dirty="0"/>
              <a:t> </a:t>
            </a:r>
            <a:r>
              <a:rPr lang="en-US" altLang="en-US" sz="3200" dirty="0"/>
              <a:t>) </a:t>
            </a:r>
            <a:r>
              <a:rPr lang="en-US" altLang="en-US" sz="3200" b="1" dirty="0">
                <a:solidFill>
                  <a:schemeClr val="tx2"/>
                </a:solidFill>
              </a:rPr>
              <a:t>as</a:t>
            </a:r>
            <a:r>
              <a:rPr lang="en-US" altLang="en-US" sz="3200" dirty="0"/>
              <a:t> 					</a:t>
            </a:r>
            <a:r>
              <a:rPr lang="en-US" altLang="en-US" sz="3200" i="1" dirty="0"/>
              <a:t>Datatype = {</a:t>
            </a:r>
            <a:r>
              <a:rPr lang="en-US" altLang="en-US" sz="3200" i="1" dirty="0" err="1"/>
              <a:t>InitialValueList</a:t>
            </a:r>
            <a:r>
              <a:rPr lang="en-US" altLang="en-US" sz="32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499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F48E-A725-41B7-B883-C94D482A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Dim Statement for Arrays Examples - Default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66FF-BCE4-A739-93CF-69E03CDE8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48" y="1600200"/>
            <a:ext cx="8325852" cy="4682613"/>
          </a:xfrm>
        </p:spPr>
        <p:txBody>
          <a:bodyPr/>
          <a:lstStyle/>
          <a:p>
            <a:pPr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Dim</a:t>
            </a:r>
            <a:r>
              <a:rPr lang="en-US" altLang="en-US" dirty="0"/>
              <a:t> </a:t>
            </a:r>
            <a:r>
              <a:rPr lang="en-US" altLang="en-US" i="1" dirty="0" err="1"/>
              <a:t>strName</a:t>
            </a:r>
            <a:r>
              <a:rPr lang="en-US" altLang="en-US" dirty="0"/>
              <a:t>(3) </a:t>
            </a:r>
            <a:r>
              <a:rPr lang="en-US" altLang="en-US" b="1" dirty="0">
                <a:solidFill>
                  <a:schemeClr val="tx2"/>
                </a:solidFill>
              </a:rPr>
              <a:t>as</a:t>
            </a:r>
            <a:r>
              <a:rPr lang="en-US" altLang="en-US" dirty="0"/>
              <a:t> String</a:t>
            </a:r>
          </a:p>
          <a:p>
            <a:pPr>
              <a:buNone/>
            </a:pPr>
            <a:r>
              <a:rPr lang="en-US" altLang="en-US" i="1" dirty="0"/>
              <a:t>	Results in an array of 4 elements: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i="1" dirty="0" err="1"/>
              <a:t>strName</a:t>
            </a:r>
            <a:r>
              <a:rPr lang="en-US" altLang="en-US" i="1" dirty="0"/>
              <a:t>(0), </a:t>
            </a:r>
            <a:r>
              <a:rPr lang="en-US" altLang="en-US" i="1" dirty="0" err="1"/>
              <a:t>strName</a:t>
            </a:r>
            <a:r>
              <a:rPr lang="en-US" altLang="en-US" i="1" dirty="0"/>
              <a:t>(1), </a:t>
            </a:r>
          </a:p>
          <a:p>
            <a:pPr>
              <a:buNone/>
            </a:pPr>
            <a:r>
              <a:rPr lang="en-US" altLang="en-US" i="1" dirty="0"/>
              <a:t>		</a:t>
            </a:r>
            <a:r>
              <a:rPr lang="en-US" altLang="en-US" i="1" dirty="0" err="1"/>
              <a:t>strName</a:t>
            </a:r>
            <a:r>
              <a:rPr lang="en-US" altLang="en-US" i="1" dirty="0"/>
              <a:t>(2), </a:t>
            </a:r>
            <a:r>
              <a:rPr lang="en-US" altLang="en-US" i="1" dirty="0" err="1"/>
              <a:t>strName</a:t>
            </a:r>
            <a:r>
              <a:rPr lang="en-US" altLang="en-US" i="1" dirty="0"/>
              <a:t>(3)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.Dim Statement for Arrays Examples - Assigned Values</a:t>
            </a:r>
          </a:p>
          <a:p>
            <a:pPr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Dim</a:t>
            </a:r>
            <a:r>
              <a:rPr lang="en-US" altLang="en-US" dirty="0"/>
              <a:t> </a:t>
            </a:r>
            <a:r>
              <a:rPr lang="en-US" altLang="en-US" i="1" dirty="0" err="1"/>
              <a:t>strDept</a:t>
            </a:r>
            <a:r>
              <a:rPr lang="en-US" altLang="en-US" dirty="0"/>
              <a:t>( ) </a:t>
            </a:r>
            <a:r>
              <a:rPr lang="en-US" altLang="en-US" b="1" dirty="0">
                <a:solidFill>
                  <a:schemeClr val="tx2"/>
                </a:solidFill>
              </a:rPr>
              <a:t>as</a:t>
            </a:r>
            <a:r>
              <a:rPr lang="en-US" altLang="en-US" dirty="0"/>
              <a:t> String = {"ACT", "MKT", "HR"}</a:t>
            </a:r>
          </a:p>
          <a:p>
            <a:pPr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Dim</a:t>
            </a:r>
            <a:r>
              <a:rPr lang="en-US" altLang="en-US" dirty="0"/>
              <a:t> </a:t>
            </a:r>
            <a:r>
              <a:rPr lang="en-US" altLang="en-US" i="1" dirty="0" err="1"/>
              <a:t>intActCode</a:t>
            </a:r>
            <a:r>
              <a:rPr lang="en-US" altLang="en-US" dirty="0"/>
              <a:t>( ) </a:t>
            </a:r>
            <a:r>
              <a:rPr lang="en-US" altLang="en-US" b="1" dirty="0">
                <a:solidFill>
                  <a:schemeClr val="tx2"/>
                </a:solidFill>
              </a:rPr>
              <a:t>as</a:t>
            </a:r>
            <a:r>
              <a:rPr lang="en-US" altLang="en-US" dirty="0"/>
              <a:t> Integer = {10, 20, 30, 40}</a:t>
            </a:r>
            <a:endParaRPr lang="en-US" altLang="en-US" i="1" dirty="0"/>
          </a:p>
          <a:p>
            <a:pPr>
              <a:buNone/>
            </a:pPr>
            <a:endParaRPr lang="en-US" altLang="en-US" i="1" dirty="0"/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444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Example (Numbers)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Marks of 5 students</a:t>
            </a:r>
          </a:p>
          <a:p>
            <a:r>
              <a:t>marks = [65, 70, 80, 90, 75]</a:t>
            </a:r>
          </a:p>
          <a:p>
            <a:r>
              <a:t>65 is at index 0, 70 is at index 1, and so 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an index to access array elements.</a:t>
            </a:r>
          </a:p>
          <a:p>
            <a:r>
              <a:t>Example: marks[0] gives 65</a:t>
            </a:r>
          </a:p>
          <a:p>
            <a:r>
              <a:t>Example: marks[3] gives 90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Example (Names)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= ["Ali", "Asha", "John", "Mary"]</a:t>
            </a:r>
          </a:p>
          <a:p>
            <a:r>
              <a:t>names[0] = Ali</a:t>
            </a:r>
          </a:p>
          <a:p>
            <a:r>
              <a:t>names[2] = John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One-Dimensional Array (1D)</a:t>
            </a:r>
          </a:p>
          <a:p>
            <a:r>
              <a:t>Two-Dimensional Array (2D)</a:t>
            </a:r>
          </a:p>
          <a:p>
            <a:r>
              <a:t>Three-Dimensional Array (3D)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One-Dimensional Array (1D)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0" dirty="0">
                <a:cs typeface="Times New Roman" pitchFamily="18" charset="0"/>
              </a:rPr>
              <a:t>A single dimension array is useful for storing and working with a single set of data, like a column or a row of data.</a:t>
            </a:r>
            <a:endParaRPr lang="en-US" dirty="0"/>
          </a:p>
          <a:p>
            <a:r>
              <a:rPr dirty="0"/>
              <a:t>Stores data in a single row.</a:t>
            </a:r>
          </a:p>
          <a:p>
            <a:r>
              <a:rPr dirty="0"/>
              <a:t>Example: ages = [10, 12, 14, 16]</a:t>
            </a:r>
          </a:p>
          <a:p>
            <a:r>
              <a:rPr dirty="0"/>
              <a:t>Used for simple lists of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C98D-DC42-325E-F58D-A0824E7E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>
                <a:solidFill>
                  <a:schemeClr val="tx2"/>
                </a:solidFill>
              </a:rPr>
              <a:t>Declaring a One-Dimensional Array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491DD-560D-1BE2-3CD5-69BDD80C2B0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668595" y="1927123"/>
            <a:ext cx="8018206" cy="4072041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•"/>
              <a:defRPr/>
            </a:pPr>
            <a:r>
              <a:rPr lang="en-US" altLang="en-US" sz="2800" b="1" dirty="0">
                <a:latin typeface="Courier New" panose="02070309020205020404" pitchFamily="49" charset="0"/>
              </a:rPr>
              <a:t>Dim </a:t>
            </a:r>
            <a:r>
              <a:rPr lang="en-US" altLang="en-US" sz="2800" b="1" i="1" dirty="0" err="1">
                <a:latin typeface="Courier New" panose="02070309020205020404" pitchFamily="49" charset="0"/>
              </a:rPr>
              <a:t>ArrayName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err="1">
                <a:latin typeface="Courier New" panose="02070309020205020404" pitchFamily="49" charset="0"/>
              </a:rPr>
              <a:t>UpperSubscript</a:t>
            </a:r>
            <a:r>
              <a:rPr lang="en-US" altLang="en-US" sz="2800" b="1" dirty="0">
                <a:latin typeface="Courier New" panose="02070309020205020404" pitchFamily="49" charset="0"/>
              </a:rPr>
              <a:t>) As </a:t>
            </a:r>
            <a:r>
              <a:rPr lang="en-US" altLang="en-US" sz="2800" b="1" i="1" dirty="0" err="1">
                <a:latin typeface="Courier New" panose="02070309020205020404" pitchFamily="49" charset="0"/>
              </a:rPr>
              <a:t>DataType</a:t>
            </a:r>
            <a:endParaRPr lang="en-US" altLang="en-US" sz="2800" b="1" dirty="0">
              <a:latin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US" sz="2800" kern="0" dirty="0"/>
              <a:t>              _Must be a positive whole number</a:t>
            </a:r>
          </a:p>
          <a:p>
            <a:pPr marL="0" indent="0" eaLnBrk="1" hangingPunct="1">
              <a:spcBef>
                <a:spcPct val="20000"/>
              </a:spcBef>
              <a:buNone/>
              <a:defRPr/>
            </a:pPr>
            <a:endParaRPr lang="en-US" sz="2800" b="1" i="1" kern="0" dirty="0">
              <a:latin typeface="Courier New" pitchFamily="49" charset="0"/>
            </a:endParaRP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800" b="1" i="1" kern="0" dirty="0" err="1">
                <a:latin typeface="Courier New" pitchFamily="49" charset="0"/>
              </a:rPr>
              <a:t>ArrayName</a:t>
            </a:r>
            <a:r>
              <a:rPr lang="en-US" sz="2800" kern="0" dirty="0">
                <a:latin typeface="+mn-lt"/>
              </a:rPr>
              <a:t> is the variable name of the array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800" b="1" i="1" kern="0" dirty="0" err="1">
                <a:latin typeface="Courier New" pitchFamily="49" charset="0"/>
              </a:rPr>
              <a:t>UpperSubscript</a:t>
            </a:r>
            <a:r>
              <a:rPr lang="en-US" sz="2800" kern="0" dirty="0">
                <a:latin typeface="+mn-lt"/>
              </a:rPr>
              <a:t> is the value of the array's highest subscript</a:t>
            </a:r>
            <a:endParaRPr lang="en-US" sz="2400" kern="0" dirty="0">
              <a:latin typeface="+mn-lt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sz="2800" b="1" i="1" kern="0" dirty="0" err="1">
                <a:latin typeface="Courier New" pitchFamily="49" charset="0"/>
              </a:rPr>
              <a:t>DataType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/>
              <a:t>is a classification which specify the kind of data a variable ca store and the operation can be performed on that data</a:t>
            </a:r>
            <a:endParaRPr lang="en-US" sz="28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149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Two-Dimensional Array (2D)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Looks like a table (rows and columns).</a:t>
            </a:r>
          </a:p>
          <a:p>
            <a:r>
              <a:rPr dirty="0"/>
              <a:t>Example: matrix = [[1,2,3],[4,5,6]]</a:t>
            </a:r>
          </a:p>
          <a:p>
            <a:r>
              <a:rPr dirty="0"/>
              <a:t>Used in tables, marks sheets, grids.</a:t>
            </a:r>
            <a:endParaRPr lang="en-US" dirty="0"/>
          </a:p>
          <a:p>
            <a:endParaRPr lang="en-US" dirty="0"/>
          </a:p>
          <a:p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Form Dim Statement for </a:t>
            </a:r>
            <a:r>
              <a:rPr lang="en-US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Two-Dimensional Arrays</a:t>
            </a:r>
          </a:p>
          <a:p>
            <a:r>
              <a:rPr lang="en-US" altLang="en-US" b="1" dirty="0">
                <a:solidFill>
                  <a:schemeClr val="tx2"/>
                </a:solidFill>
              </a:rPr>
              <a:t>Dim</a:t>
            </a:r>
            <a:r>
              <a:rPr lang="en-US" altLang="en-US" dirty="0"/>
              <a:t> </a:t>
            </a:r>
            <a:r>
              <a:rPr lang="en-US" altLang="en-US" i="1" dirty="0" err="1"/>
              <a:t>ArrayName</a:t>
            </a:r>
            <a:r>
              <a:rPr lang="en-US" altLang="en-US" dirty="0"/>
              <a:t>(</a:t>
            </a:r>
            <a:r>
              <a:rPr lang="en-US" altLang="en-US" i="1" dirty="0" err="1"/>
              <a:t>HighestSubscript</a:t>
            </a:r>
            <a:r>
              <a:rPr lang="en-US" altLang="en-US" i="1" dirty="0"/>
              <a:t>,</a:t>
            </a:r>
            <a:br>
              <a:rPr lang="en-US" altLang="en-US" i="1" dirty="0"/>
            </a:br>
            <a:r>
              <a:rPr lang="en-US" altLang="en-US" i="1" dirty="0"/>
              <a:t>	Highest Subscript</a:t>
            </a:r>
            <a:r>
              <a:rPr lang="en-US" altLang="en-US" dirty="0"/>
              <a:t>) </a:t>
            </a:r>
            <a:r>
              <a:rPr lang="en-US" altLang="en-US" b="1" dirty="0">
                <a:solidFill>
                  <a:schemeClr val="tx2"/>
                </a:solidFill>
              </a:rPr>
              <a:t>as</a:t>
            </a:r>
            <a:r>
              <a:rPr lang="en-US" altLang="en-US" dirty="0"/>
              <a:t> </a:t>
            </a:r>
            <a:r>
              <a:rPr lang="en-US" altLang="en-US" i="1" dirty="0"/>
              <a:t>Datatype</a:t>
            </a:r>
          </a:p>
          <a:p>
            <a:endParaRPr lang="en-US" altLang="en-US" i="1" dirty="0"/>
          </a:p>
          <a:p>
            <a:r>
              <a:rPr lang="en-US" altLang="en-US" b="1" dirty="0">
                <a:solidFill>
                  <a:schemeClr val="tx2"/>
                </a:solidFill>
              </a:rPr>
              <a:t>Dim</a:t>
            </a:r>
            <a:r>
              <a:rPr lang="en-US" altLang="en-US" dirty="0"/>
              <a:t> </a:t>
            </a:r>
            <a:r>
              <a:rPr lang="en-US" altLang="en-US" i="1" dirty="0" err="1"/>
              <a:t>ArrayName</a:t>
            </a:r>
            <a:r>
              <a:rPr lang="en-US" altLang="en-US" dirty="0"/>
              <a:t>(</a:t>
            </a:r>
            <a:r>
              <a:rPr lang="en-US" altLang="en-US" i="1" dirty="0"/>
              <a:t> , </a:t>
            </a:r>
            <a:r>
              <a:rPr lang="en-US" altLang="en-US" dirty="0"/>
              <a:t>) </a:t>
            </a:r>
            <a:r>
              <a:rPr lang="en-US" altLang="en-US" b="1" dirty="0">
                <a:solidFill>
                  <a:schemeClr val="tx2"/>
                </a:solidFill>
              </a:rPr>
              <a:t>as</a:t>
            </a:r>
            <a:r>
              <a:rPr lang="en-US" altLang="en-US" dirty="0"/>
              <a:t> 	</a:t>
            </a:r>
            <a:r>
              <a:rPr lang="en-US" altLang="en-US" i="1" dirty="0"/>
              <a:t>Datatype = {</a:t>
            </a:r>
            <a:r>
              <a:rPr lang="en-US" altLang="en-US" i="1" dirty="0" err="1"/>
              <a:t>ListOfValues</a:t>
            </a:r>
            <a:r>
              <a:rPr lang="en-US" altLang="en-US" i="1" dirty="0"/>
              <a:t>}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4482DB5-37C5-8AF1-9F82-9C863E0C0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381000"/>
            <a:ext cx="7408863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Dim Statement for Two Dimensional-Arrays Examples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45EE12-5550-2E85-F64D-7381B42C1D19}"/>
              </a:ext>
            </a:extLst>
          </p:cNvPr>
          <p:cNvSpPr txBox="1">
            <a:spLocks noChangeArrowheads="1"/>
          </p:cNvSpPr>
          <p:nvPr/>
        </p:nvSpPr>
        <p:spPr>
          <a:xfrm>
            <a:off x="265113" y="2122488"/>
            <a:ext cx="8610600" cy="351313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Dim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strName</a:t>
            </a:r>
            <a:r>
              <a:rPr lang="en-US" altLang="en-US" sz="2800" dirty="0"/>
              <a:t>(2, 3) </a:t>
            </a:r>
            <a:r>
              <a:rPr lang="en-US" altLang="en-US" sz="2800" b="1" dirty="0">
                <a:solidFill>
                  <a:schemeClr val="tx2"/>
                </a:solidFill>
              </a:rPr>
              <a:t>as</a:t>
            </a:r>
            <a:r>
              <a:rPr lang="en-US" altLang="en-US" sz="2800" dirty="0"/>
              <a:t> String</a:t>
            </a:r>
          </a:p>
          <a:p>
            <a:pPr>
              <a:buFontTx/>
              <a:buNone/>
            </a:pPr>
            <a:r>
              <a:rPr lang="en-US" altLang="en-US" sz="2400" i="1" dirty="0"/>
              <a:t>	Results in an array of 12 elements:</a:t>
            </a:r>
            <a:br>
              <a:rPr lang="en-US" altLang="en-US" sz="2400" i="1" dirty="0"/>
            </a:br>
            <a:r>
              <a:rPr lang="en-US" altLang="en-US" sz="2400" i="1" dirty="0"/>
              <a:t>	3 rows:         0, 1, 2, 3</a:t>
            </a:r>
          </a:p>
          <a:p>
            <a:pPr>
              <a:buFontTx/>
              <a:buNone/>
            </a:pPr>
            <a:r>
              <a:rPr lang="en-US" altLang="en-US" sz="2400" i="1" dirty="0"/>
              <a:t>		4 columns:   0, 1, 2, 3, 4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Dim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strName</a:t>
            </a:r>
            <a:r>
              <a:rPr lang="en-US" altLang="en-US" sz="2800" dirty="0"/>
              <a:t>( , ) </a:t>
            </a:r>
            <a:r>
              <a:rPr lang="en-US" altLang="en-US" sz="2800" b="1" dirty="0">
                <a:solidFill>
                  <a:schemeClr val="tx2"/>
                </a:solidFill>
              </a:rPr>
              <a:t>as</a:t>
            </a:r>
            <a:r>
              <a:rPr lang="en-US" altLang="en-US" sz="2800" dirty="0"/>
              <a:t> String = {</a:t>
            </a:r>
            <a:r>
              <a:rPr lang="en-US" altLang="en-US" sz="2400" dirty="0"/>
              <a:t>{"Jim", "Mary", "Sam", "Sean"}</a:t>
            </a:r>
            <a:r>
              <a:rPr lang="en-US" altLang="en-US" sz="2400" b="1" dirty="0"/>
              <a:t>,</a:t>
            </a:r>
            <a:r>
              <a:rPr lang="en-US" altLang="en-US" sz="2400" dirty="0"/>
              <a:t> {"Tom", "Sue", "Fred", "Paul"}</a:t>
            </a:r>
            <a:r>
              <a:rPr lang="en-US" altLang="en-US" sz="2400" b="1" dirty="0"/>
              <a:t>,</a:t>
            </a:r>
            <a:r>
              <a:rPr lang="en-US" altLang="en-US" sz="2400" dirty="0"/>
              <a:t> {"Tim", "Al", "Bob", "Pete"}</a:t>
            </a:r>
            <a:r>
              <a:rPr lang="en-US" altLang="en-US" sz="2400" b="1" dirty="0"/>
              <a:t>,</a:t>
            </a:r>
            <a:r>
              <a:rPr lang="en-US" altLang="en-US" sz="2400" dirty="0"/>
              <a:t> {"Joy", "Wes", "Kim", "Beth"}</a:t>
            </a:r>
            <a:r>
              <a:rPr lang="en-US" altLang="en-US" sz="2800" dirty="0"/>
              <a:t>}</a:t>
            </a:r>
          </a:p>
          <a:p>
            <a:pPr>
              <a:buFontTx/>
              <a:buNone/>
            </a:pPr>
            <a:r>
              <a:rPr lang="en-US" altLang="en-US" sz="2400" i="1" dirty="0"/>
              <a:t>	Results in same array as above with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614768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2F47E14-4FD3-CCDD-90AD-95D4669E1BC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03213"/>
            <a:ext cx="7743825" cy="992187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Two Dimensional Array Picture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0A240A03-DBCD-0730-CD88-A7D146DC0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0"/>
            <a:ext cx="7672388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692400" algn="l"/>
                <a:tab pos="4457700" algn="l"/>
                <a:tab pos="6286500" algn="l"/>
              </a:tabLs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altLang="en-US" sz="2000" dirty="0">
                <a:latin typeface="Times New Roman" panose="02020603050405020304" pitchFamily="18" charset="0"/>
              </a:rPr>
              <a:t>	Column 0	Column 1	Column 2	Column 3</a:t>
            </a:r>
          </a:p>
          <a:p>
            <a:endParaRPr lang="en-US" altLang="en-US" sz="2000" dirty="0">
              <a:latin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Row 0</a:t>
            </a:r>
          </a:p>
          <a:p>
            <a:endParaRPr lang="en-US" altLang="en-US" sz="2000" dirty="0">
              <a:latin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Row 1</a:t>
            </a:r>
          </a:p>
          <a:p>
            <a:endParaRPr lang="en-US" altLang="en-US" sz="2000" dirty="0">
              <a:latin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</a:rPr>
              <a:t>Row 2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E259985-AB12-5AC5-3BCF-0F2908A7D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67200"/>
            <a:ext cx="6705600" cy="1828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6658D3FE-F418-5F4A-8EC7-2704C1292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2672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20145CDB-7C16-E5FD-889B-903CBD6F4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2672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AD6EAAE8-FA4F-506F-D32B-281C13DBA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672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DC98AECF-D23A-9F9F-F4C5-09F2FD660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8768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8EE16D5-3D04-BB66-2627-78556DBAE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4864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8308EE7-862E-6016-837D-CA0E5789DFC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524000"/>
            <a:ext cx="8305800" cy="2133600"/>
          </a:xfrm>
          <a:prstGeom prst="rect">
            <a:avLst/>
          </a:prstGeom>
          <a:noFill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3200" kern="0" dirty="0">
                <a:latin typeface="+mn-lt"/>
              </a:rPr>
              <a:t>A two-dimensional array looks like a spreadsheet with rows and columns</a:t>
            </a:r>
          </a:p>
        </p:txBody>
      </p:sp>
    </p:spTree>
    <p:extLst>
      <p:ext uri="{BB962C8B-B14F-4D97-AF65-F5344CB8AC3E}">
        <p14:creationId xmlns:p14="http://schemas.microsoft.com/office/powerpoint/2010/main" val="39144639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52C8-DD52-45CC-9B21-54520F3E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Three-Dimensional Array?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0C96-78E8-4A60-A044-E8EEEE08C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three-dimensional array is an array that stores data in three directions:</a:t>
            </a:r>
          </a:p>
          <a:p>
            <a:endParaRPr lang="en-US" dirty="0"/>
          </a:p>
          <a:p>
            <a:r>
              <a:rPr lang="en-US" dirty="0"/>
              <a:t>- Rows</a:t>
            </a:r>
          </a:p>
          <a:p>
            <a:r>
              <a:rPr lang="en-US" dirty="0"/>
              <a:t>- Columns</a:t>
            </a:r>
          </a:p>
          <a:p>
            <a:r>
              <a:rPr lang="en-US" dirty="0"/>
              <a:t>- Depth (layers)</a:t>
            </a:r>
          </a:p>
          <a:p>
            <a:endParaRPr lang="en-US" dirty="0"/>
          </a:p>
          <a:p>
            <a:r>
              <a:rPr lang="en-US" dirty="0"/>
              <a:t>It is like multiple 2D arrays stacked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15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A0F9-770F-44D8-B1B2-4CACE11B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C0EFF-AB10-4F9D-BF38-A52FDA777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1st Dimension → Table number (Layer)</a:t>
            </a:r>
          </a:p>
          <a:p>
            <a:r>
              <a:rPr lang="en-US" dirty="0"/>
              <a:t>2nd Dimension → Row</a:t>
            </a:r>
          </a:p>
          <a:p>
            <a:r>
              <a:rPr lang="en-US" dirty="0"/>
              <a:t>3rd Dimension → Column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56641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0762-2D5F-461E-BF9A-8858AD6E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Three-Dimensional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AC94-FAF8-4075-88B0-549ABD364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form (C / C++):</a:t>
            </a:r>
          </a:p>
          <a:p>
            <a:endParaRPr lang="en-US" dirty="0"/>
          </a:p>
          <a:p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array_name</a:t>
            </a:r>
            <a:r>
              <a:rPr lang="en-US" dirty="0"/>
              <a:t>[x][y][z];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int marks[2][3][4];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D2CB-22AB-4AB5-9127-81C54963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7420-E9B7-4768-98CB-A201A7E9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marks[2][3][4] means:</a:t>
            </a:r>
          </a:p>
          <a:p>
            <a:endParaRPr lang="en-US" dirty="0"/>
          </a:p>
          <a:p>
            <a:r>
              <a:rPr lang="en-US" dirty="0"/>
              <a:t>- 2 classes</a:t>
            </a:r>
          </a:p>
          <a:p>
            <a:r>
              <a:rPr lang="en-US" dirty="0"/>
              <a:t>- 3 subjects</a:t>
            </a:r>
          </a:p>
          <a:p>
            <a:r>
              <a:rPr lang="en-US" dirty="0"/>
              <a:t>- 4 students in each subject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11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FFA7-3BA3-4446-964F-E910D708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14E0-22D8-4080-81D9-1524B4A5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marks[2][2][3] = {</a:t>
            </a:r>
          </a:p>
          <a:p>
            <a:r>
              <a:rPr lang="en-US" dirty="0"/>
              <a:t>  { {60, 70, 80}, {65, 75, 85} },</a:t>
            </a:r>
          </a:p>
          <a:p>
            <a:r>
              <a:rPr lang="en-US" dirty="0"/>
              <a:t>  { {55, 68, 72}, {70, 78, 88} }</a:t>
            </a:r>
          </a:p>
          <a:p>
            <a:r>
              <a:rPr lang="en-US" dirty="0"/>
              <a:t>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26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A118-D0FD-42B0-9C81-5AB3932F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BCF6-AF63-406A-B6FA-C815E4ABB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a value: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marks[0][1][2]</a:t>
            </a:r>
          </a:p>
          <a:p>
            <a:endParaRPr lang="en-US" dirty="0"/>
          </a:p>
          <a:p>
            <a:r>
              <a:rPr lang="en-US" dirty="0"/>
              <a:t>This gives the 3rd student’s marks</a:t>
            </a:r>
          </a:p>
          <a:p>
            <a:pPr marL="0" indent="0">
              <a:buNone/>
            </a:pPr>
            <a:r>
              <a:rPr lang="en-US" dirty="0"/>
              <a:t>      in 2nd subject of 1st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1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888A-0942-45E3-9E3D-067501BE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E8F66-ECFC-4E0F-9F65-000F9F8F5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Marks of students in 3 subjects for 2 classes</a:t>
            </a:r>
          </a:p>
          <a:p>
            <a:endParaRPr lang="en-US" dirty="0"/>
          </a:p>
          <a:p>
            <a:r>
              <a:rPr lang="en-US" dirty="0"/>
              <a:t>Class → Subject → Student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24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FC42-68D3-4E35-BB00-00C98780B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Three-Dimensional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06C9D-89D0-434F-9EC8-1EABB216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Storing marks for classes, subjects, students</a:t>
            </a:r>
          </a:p>
          <a:p>
            <a:r>
              <a:rPr lang="en-US" dirty="0"/>
              <a:t>- Image processing (RGB values)</a:t>
            </a:r>
          </a:p>
          <a:p>
            <a:r>
              <a:rPr lang="en-US" dirty="0"/>
              <a:t>- Scientific and engineering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69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Easy to store many values.</a:t>
            </a:r>
          </a:p>
          <a:p>
            <a:r>
              <a:rPr lang="en-US" dirty="0"/>
              <a:t>It store many values using one variable name.</a:t>
            </a:r>
          </a:p>
          <a:p>
            <a:r>
              <a:rPr lang="en-US" dirty="0"/>
              <a:t>It  make programs easier to manage and understand.</a:t>
            </a:r>
          </a:p>
          <a:p>
            <a:r>
              <a:rPr lang="en-US" dirty="0"/>
              <a:t>It allow fast access to data using indexes.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size (cannot grow easily).</a:t>
            </a:r>
          </a:p>
          <a:p>
            <a:r>
              <a:t>All elements must be same data type.</a:t>
            </a:r>
          </a:p>
          <a:p>
            <a:r>
              <a:t>Insertion and deletion can be difficult.</a:t>
            </a:r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Life Example of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of a row of lockers in a school.</a:t>
            </a:r>
          </a:p>
          <a:p>
            <a:r>
              <a:t>Each locker holds one item.</a:t>
            </a:r>
          </a:p>
          <a:p>
            <a:r>
              <a:t>Each locker has a number (index).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Arrays store multiple values in one variable.</a:t>
            </a:r>
          </a:p>
          <a:p>
            <a:r>
              <a:rPr dirty="0"/>
              <a:t>Elements are accessed using indexes.</a:t>
            </a:r>
          </a:p>
          <a:p>
            <a:r>
              <a:rPr dirty="0"/>
              <a:t>Arrays are widely used in programming.</a:t>
            </a:r>
            <a:endParaRPr lang="en-US" dirty="0"/>
          </a:p>
          <a:p>
            <a:r>
              <a:rPr lang="en-US" dirty="0"/>
              <a:t>Used in sorting and searching</a:t>
            </a:r>
          </a:p>
          <a:p>
            <a:r>
              <a:rPr lang="en-US" dirty="0"/>
              <a:t>Useful in matrix and tables</a:t>
            </a:r>
          </a:p>
          <a:p>
            <a:r>
              <a:rPr lang="en-US" dirty="0"/>
              <a:t>Foundation for other data structure such as queues and list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156</TotalTime>
  <Words>1271</Words>
  <Application>Microsoft Office PowerPoint</Application>
  <PresentationFormat>On-screen Show (4:3)</PresentationFormat>
  <Paragraphs>211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Corbel</vt:lpstr>
      <vt:lpstr>Courier New</vt:lpstr>
      <vt:lpstr>Times</vt:lpstr>
      <vt:lpstr>Times New Roman</vt:lpstr>
      <vt:lpstr>Parallax</vt:lpstr>
      <vt:lpstr>PowerPoint Presentation</vt:lpstr>
      <vt:lpstr>HDIT LEVEL 7-II GROUP NUMBER - 4 </vt:lpstr>
      <vt:lpstr>What is an Array?</vt:lpstr>
      <vt:lpstr>Array Terms</vt:lpstr>
      <vt:lpstr>Simple Array Example</vt:lpstr>
      <vt:lpstr>Defining Arrays </vt:lpstr>
      <vt:lpstr>General Form Dim Statement for Arrays</vt:lpstr>
      <vt:lpstr>Dim Statement for Arrays Examples - Default Values</vt:lpstr>
      <vt:lpstr>Array Example (Numbers)</vt:lpstr>
      <vt:lpstr>Accessing Array Elements</vt:lpstr>
      <vt:lpstr>Array Example (Names)</vt:lpstr>
      <vt:lpstr>Types of Arrays</vt:lpstr>
      <vt:lpstr>One-Dimensional Array (1D)</vt:lpstr>
      <vt:lpstr>Declaring a One-Dimensional Array</vt:lpstr>
      <vt:lpstr>Two-Dimensional Array (2D)</vt:lpstr>
      <vt:lpstr>Dim Statement for Two Dimensional-Arrays Examples</vt:lpstr>
      <vt:lpstr>PowerPoint Presentation</vt:lpstr>
      <vt:lpstr>What is a Three-Dimensional Array?</vt:lpstr>
      <vt:lpstr>Understanding the 3 Dimensions</vt:lpstr>
      <vt:lpstr>Syntax of Three-Dimensional Array</vt:lpstr>
      <vt:lpstr>Example Explanation</vt:lpstr>
      <vt:lpstr>Initialization Example</vt:lpstr>
      <vt:lpstr>Accessing Elements</vt:lpstr>
      <vt:lpstr>Real-Life Example</vt:lpstr>
      <vt:lpstr>Uses of Three-Dimensional Arrays</vt:lpstr>
      <vt:lpstr>Advantages of Arrays</vt:lpstr>
      <vt:lpstr>Disadvantages of Arrays</vt:lpstr>
      <vt:lpstr>Real Life Example of an Array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subject/>
  <dc:creator>Administrator</dc:creator>
  <cp:keywords/>
  <dc:description>generated using python-pptx</dc:description>
  <cp:lastModifiedBy>Abuu Omy</cp:lastModifiedBy>
  <cp:revision>10</cp:revision>
  <dcterms:created xsi:type="dcterms:W3CDTF">2013-01-27T09:14:16Z</dcterms:created>
  <dcterms:modified xsi:type="dcterms:W3CDTF">2025-12-26T13:38:10Z</dcterms:modified>
  <cp:category/>
</cp:coreProperties>
</file>